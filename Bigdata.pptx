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comments/comment4.xml" ContentType="application/vnd.openxmlformats-officedocument.presentationml.comments+xml"/>
  <Override PartName="/ppt/notesSlides/notesSlide5.xml" ContentType="application/vnd.openxmlformats-officedocument.presentationml.notesSlide+xml"/>
  <Override PartName="/ppt/comments/comment5.xml" ContentType="application/vnd.openxmlformats-officedocument.presentationml.comments+xml"/>
  <Override PartName="/ppt/notesSlides/notesSlide6.xml" ContentType="application/vnd.openxmlformats-officedocument.presentationml.notesSlide+xml"/>
  <Override PartName="/ppt/comments/comment6.xml" ContentType="application/vnd.openxmlformats-officedocument.presentationml.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comment7.xml" ContentType="application/vnd.openxmlformats-officedocument.presentationml.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comment8.xml" ContentType="application/vnd.openxmlformats-officedocument.presentationml.comments+xml"/>
  <Override PartName="/ppt/notesSlides/notesSlide18.xml" ContentType="application/vnd.openxmlformats-officedocument.presentationml.notesSlide+xml"/>
  <Override PartName="/ppt/comments/comment9.xml" ContentType="application/vnd.openxmlformats-officedocument.presentationml.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comment10.xml" ContentType="application/vnd.openxmlformats-officedocument.presentationml.comments+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5143500" cy="9144000"/>
  <p:embeddedFontLst>
    <p:embeddedFont>
      <p:font typeface="Outfit" panose="020B0604020202020204" charset="0"/>
      <p:regular r:id="rId27"/>
      <p:bold r:id="rId28"/>
    </p:embeddedFont>
    <p:embeddedFont>
      <p:font typeface="Roboto" panose="02000000000000000000"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jBaYMbVtSaMzbZFbp39YpwE6wqK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HOODA_" initials="" lastIdx="1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42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viewProps" Target="viewProps.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5-10-25T14:19:38.066" idx="2">
    <p:pos x="6000" y="100"/>
    <p:text>Merhaba arkadaşlar, benim adım Ahed Eisa, ben Sudanlıyım. Şu an elektronik mühendisliğinde yüksek lisans yapıyorum.</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tLhEg7g"/>
      </p:ext>
    </p:extLst>
  </p:cm>
  <p:cm authorId="0" dt="2025-10-25T14:24:13.633" idx="1">
    <p:pos x="6000" y="0"/>
    <p:text>Bugün yapay zekâ ile ilgili bir alandan, yani büyük dil modelleri (LLM) üzerine konuşacağım. Özellikle alan-özel uygulamalar için yerelleştirilmiş hafif yapay zekâ modellerinin tasarımından bahsedeceğim.</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tLhEg7k"/>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5-10-20T14:13:59.245" idx="3">
    <p:pos x="6000" y="0"/>
    <p:text>1- ilk olarak .... , buna bakalım
2- ardından ...., a geçelim 
3- Devam edelim .......konuşalım 
4- Bir diğer önemli konu .....
5- bunun yanı sıra ... Metodolojiyi inceyelim 
6- Son olarak .... anlatalım</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s-5c58w"/>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0" dt="2025-10-19T18:14:35.938" idx="4">
    <p:pos x="6000" y="0"/>
    <p:text>With the enhancement of LLMs, and with the motivation of talking to a machine with human natural language, ChatGPT was released
After release of ChatGPT 2022, 24% corporate press releases of LLM- assisted content 
Challenges :-
Data privacy 
domain accuracy</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tANDN-w"/>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0" dt="2025-10-19T18:14:07.917" idx="5">
    <p:pos x="6000" y="0"/>
    <p:text>Current LLM deployment poses risks to data privacy and efficiency. Many domain tasks don’t need massive models just focused, fast, and safe ones. This research tackles how to build such models locally.</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tANDN-s"/>
      </p:ext>
    </p:extLst>
  </p:cm>
  <p:cm authorId="0" dt="2025-10-25T14:46:11.139" idx="6">
    <p:pos x="6000" y="100"/>
    <p:text>Mevcut LLM dağıtımı, veri gizliliği ve verimlilik açısından riskler taşımaktadır. Birçok alan görevi, devasa modellere değil; odaklanmış, hızlı ve güvenli modellere ihtiyaç duyar. Bu araştırma, bu tür modellerin yerel olarak nasıl oluşturulabileceğini ele almaktadır.</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tLoDEu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0" dt="2025-10-19T18:11:51.091" idx="7">
    <p:pos x="2592" y="1360"/>
    <p:text>Aim: To develop scalable and privacy-aware localized lightweight LLMs.
✔ Address data privacy in enterprise LLM use.
✔ Reduce memory &amp; compute needs.</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tANDN-k"/>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0" dt="2025-10-25T15:11:03.626" idx="8">
    <p:pos x="6000" y="0"/>
    <p:text>Literatür Taramasında Hafif LLM’lerine göre optimize etmek üç yöntem var: birinci yöntem ....
(ilk aşamanda)
TrimLLM → Gereksiz katmanları kaldırarak modeli sıkıştırır ✂️
QLoRA → Verileri/ağırlıkları nicemleyerek (quantization) sıkıştırır 🔢
Edge LLM’ler → Modelin telefonlar veya sensörler gibi küçük cihazlarda çalışmasını sağlar 📱🤖</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tANDN-g"/>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0" dt="2025-11-02T15:54:40.074" idx="9">
    <p:pos x="6000" y="0"/>
    <p:text>5 aşamamız var
ilk aşama ...
ikinci aşama ...</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uos0o44"/>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0" dt="2025-10-19T17:24:29.021" idx="12">
    <p:pos x="6000" y="200"/>
    <p:text>“kedi” kelimesi genellikle “hayvan” kelimesinin yakınında geçiyor → yani anlamları birbirine bağlıdır.</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tANDN-I"/>
      </p:ext>
    </p:extLst>
  </p:cm>
  <p:cm authorId="0" dt="2025-10-19T17:30:18.149" idx="11">
    <p:pos x="6000" y="100"/>
    <p:text>eşanlamlı kelimeleri, ilişkili kelimeleri ve hatta bağlamsal ilişkileri bile yakalar.</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tANDN-M"/>
      </p:ext>
    </p:extLst>
  </p:cm>
  <p:cm authorId="0" dt="2025-10-28T05:30:52.075" idx="10">
    <p:pos x="6000" y="0"/>
    <p:text>sıfır nokta sekiz
hayvan  özellik olarak (0.8, 0.9) verilecek.
ve kedi yakın sayılar verilecek</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tQhKuZQ"/>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0" dt="2025-10-19T15:16:37.491" idx="14">
    <p:pos x="6000" y="100"/>
    <p:text>when we have big data, for example, 500GB, if we want to process it like filter some columns, we can use Hive because if we use normal tools, it will sometimes freeze or take a long time to read and write the data, not like using Hive.</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smeF83c"/>
      </p:ext>
    </p:extLst>
  </p:cm>
  <p:cm authorId="0" dt="2025-10-19T15:17:24.934" idx="13">
    <p:pos x="6000" y="0"/>
    <p:text>Büyük veriye (örneğin 500 GB) sahip olduğumuzda ve bu veriyi işlemek, örneğin bazı sütunları filtrelemek istediğimizde, Hive kullanabiliriz. Çünkü normal araçlar bu kadar büyük veriyi okuma ve yazma sırasında bazen donabilir veya çok uzun süre alabilir, ancak Hive kullanıldığında bu işlemler daha hızlı ve verimli şekilde gerçekleşir</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smeF83g"/>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0" dt="2025-10-28T05:08:49.013" idx="17">
    <p:pos x="6000" y="200"/>
    <p:text>implante edilebilir beyin-bilgisayar arayüzleri geliştiren bir Amerikan nöroteknoloji şirketi</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tQeQ5Tg"/>
      </p:ext>
    </p:extLst>
  </p:cm>
  <p:cm authorId="0" dt="2025-10-28T05:13:43.982" idx="16">
    <p:pos x="6000" y="100"/>
    <p:text>çeşitli çok modlu veri setini yönetirler</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tQhKuY8"/>
      </p:ext>
    </p:extLst>
  </p:cm>
  <p:cm authorId="0" dt="2025-10-28T05:17:16.016" idx="15">
    <p:pos x="6000" y="0"/>
    <p:text>özet katalog olarak çalışır</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tQhKuZM"/>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
        <p:cNvGrpSpPr/>
        <p:nvPr/>
      </p:nvGrpSpPr>
      <p:grpSpPr>
        <a:xfrm>
          <a:off x="0" y="0"/>
          <a:ext cx="0" cy="0"/>
          <a:chOff x="0" y="0"/>
          <a:chExt cx="0" cy="0"/>
        </a:xfrm>
      </p:grpSpPr>
      <p:sp>
        <p:nvSpPr>
          <p:cNvPr id="21" name="Google Shape;2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 name="Google Shape;2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 name="Google Shape;2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 name="Google Shape;4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 name="Google Shape;61;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 name="Google Shape;77;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 name="Google Shape;78;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ad127638c4_0_3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g3ad127638c4_0_3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g3ad127638c4_0_3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ad127638c4_0_3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g3ad127638c4_0_3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g3ad127638c4_0_3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ad127638c4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g3ad127638c4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g3ad127638c4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ad127638c4_1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g3ad127638c4_1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g3ad127638c4_1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ad127638c4_1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g3ad127638c4_1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g3ad127638c4_1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ad127638c4_1_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g3ad127638c4_1_1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g3ad127638c4_1_10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ad127638c4_1_1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g3ad127638c4_1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g3ad127638c4_1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ad127638c4_1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g3ad127638c4_1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g3ad127638c4_1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ad127638c4_1_1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3ad127638c4_1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g3ad127638c4_1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9b08b23871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g39b08b23871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g39b08b23871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9b0403c20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g39b0403c20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g39b0403c20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ad381497b3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3ad381497b3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g3ad381497b3_0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ad381497b3_0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g3ad381497b3_0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g3ad381497b3_0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9ad14173ec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g39ad14173ec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1" name="Google Shape;321;g39ad14173ec_0_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ad381497b3_0_1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ad381497b3_0_18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g3ad381497b3_0_18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comments" Target="../comments/commen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comments" Target="../comments/comment4.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hyperlink" Target="https://pexels.com/?utm_source=magicslides.app&amp;utm_medium=presentation" TargetMode="Externa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comments" Target="../comments/comment5.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comments" Target="../comments/comment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comments" Target="../comments/comment7.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hyperlink" Target="https://pexels.com/?utm_source=magicslides.app&amp;utm_medium=presentation" TargetMode="Externa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comments" Target="../comments/comment8.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comments" Target="../comments/comment9.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comments" Target="../comments/comment10.xml"/><Relationship Id="rId5" Type="http://schemas.openxmlformats.org/officeDocument/2006/relationships/image" Target="../media/image26.png"/><Relationship Id="rId4" Type="http://schemas.openxmlformats.org/officeDocument/2006/relationships/image" Target="../media/image25.gif"/></Relationships>
</file>

<file path=ppt/slides/_rels/slide24.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
        <p:cNvGrpSpPr/>
        <p:nvPr/>
      </p:nvGrpSpPr>
      <p:grpSpPr>
        <a:xfrm>
          <a:off x="0" y="0"/>
          <a:ext cx="0" cy="0"/>
          <a:chOff x="0" y="0"/>
          <a:chExt cx="0" cy="0"/>
        </a:xfrm>
      </p:grpSpPr>
      <p:sp>
        <p:nvSpPr>
          <p:cNvPr id="16" name="Google Shape;16;p1"/>
          <p:cNvSpPr/>
          <p:nvPr/>
        </p:nvSpPr>
        <p:spPr>
          <a:xfrm>
            <a:off x="3657600" y="0"/>
            <a:ext cx="91440" cy="154305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7" name="Google Shape;17;p1" title="llm.jpg"/>
          <p:cNvPicPr preferRelativeResize="0"/>
          <p:nvPr/>
        </p:nvPicPr>
        <p:blipFill rotWithShape="1">
          <a:blip r:embed="rId3">
            <a:alphaModFix/>
          </a:blip>
          <a:srcRect l="23333" r="23333"/>
          <a:stretch/>
        </p:blipFill>
        <p:spPr>
          <a:xfrm>
            <a:off x="48350" y="0"/>
            <a:ext cx="3657600" cy="5143500"/>
          </a:xfrm>
          <a:prstGeom prst="rect">
            <a:avLst/>
          </a:prstGeom>
          <a:noFill/>
          <a:ln>
            <a:noFill/>
          </a:ln>
        </p:spPr>
      </p:pic>
      <p:sp>
        <p:nvSpPr>
          <p:cNvPr id="18" name="Google Shape;18;p1"/>
          <p:cNvSpPr/>
          <p:nvPr/>
        </p:nvSpPr>
        <p:spPr>
          <a:xfrm>
            <a:off x="3705950" y="1026367"/>
            <a:ext cx="5438050" cy="3331029"/>
          </a:xfrm>
          <a:prstGeom prst="rect">
            <a:avLst/>
          </a:prstGeom>
          <a:noFill/>
          <a:ln>
            <a:noFill/>
          </a:ln>
        </p:spPr>
        <p:txBody>
          <a:bodyPr spcFirstLastPara="1" wrap="square" lIns="91425" tIns="45700" rIns="91425" bIns="45700" anchor="t" anchorCtr="0">
            <a:noAutofit/>
          </a:bodyPr>
          <a:lstStyle/>
          <a:p>
            <a:pPr marL="0" marR="0" lvl="0" indent="0" algn="l" rtl="0">
              <a:lnSpc>
                <a:spcPct val="46875"/>
              </a:lnSpc>
              <a:spcBef>
                <a:spcPts val="0"/>
              </a:spcBef>
              <a:spcAft>
                <a:spcPts val="0"/>
              </a:spcAft>
              <a:buClr>
                <a:srgbClr val="1A6847"/>
              </a:buClr>
              <a:buSzPts val="3200"/>
              <a:buFont typeface="Outfit"/>
              <a:buNone/>
            </a:pPr>
            <a:r>
              <a:rPr lang="en-US" sz="3200" b="1" dirty="0">
                <a:solidFill>
                  <a:srgbClr val="1A6847"/>
                </a:solidFill>
                <a:latin typeface="Outfit"/>
                <a:ea typeface="Outfit"/>
                <a:cs typeface="Outfit"/>
                <a:sym typeface="Outfit"/>
              </a:rPr>
              <a:t>Designing Localized</a:t>
            </a:r>
            <a:endParaRPr sz="3200" b="1" dirty="0">
              <a:solidFill>
                <a:srgbClr val="1A6847"/>
              </a:solidFill>
              <a:latin typeface="Outfit"/>
              <a:ea typeface="Outfit"/>
              <a:cs typeface="Outfit"/>
              <a:sym typeface="Outfit"/>
            </a:endParaRPr>
          </a:p>
          <a:p>
            <a:pPr marL="0" marR="0" lvl="0" indent="0" algn="l" rtl="0">
              <a:lnSpc>
                <a:spcPct val="46875"/>
              </a:lnSpc>
              <a:spcBef>
                <a:spcPts val="0"/>
              </a:spcBef>
              <a:spcAft>
                <a:spcPts val="0"/>
              </a:spcAft>
              <a:buClr>
                <a:srgbClr val="1A6847"/>
              </a:buClr>
              <a:buSzPts val="3200"/>
              <a:buFont typeface="Outfit"/>
              <a:buNone/>
            </a:pPr>
            <a:endParaRPr sz="3200" b="1" dirty="0">
              <a:solidFill>
                <a:srgbClr val="1A6847"/>
              </a:solidFill>
              <a:latin typeface="Outfit"/>
              <a:ea typeface="Outfit"/>
              <a:cs typeface="Outfit"/>
              <a:sym typeface="Outfit"/>
            </a:endParaRPr>
          </a:p>
          <a:p>
            <a:pPr marL="0" marR="0" lvl="0" indent="0" algn="l" rtl="0">
              <a:lnSpc>
                <a:spcPct val="46875"/>
              </a:lnSpc>
              <a:spcBef>
                <a:spcPts val="0"/>
              </a:spcBef>
              <a:spcAft>
                <a:spcPts val="0"/>
              </a:spcAft>
              <a:buClr>
                <a:srgbClr val="1A6847"/>
              </a:buClr>
              <a:buSzPts val="3200"/>
              <a:buFont typeface="Outfit"/>
              <a:buNone/>
            </a:pPr>
            <a:r>
              <a:rPr lang="en-US" sz="3200" b="1" dirty="0">
                <a:solidFill>
                  <a:srgbClr val="1A6847"/>
                </a:solidFill>
                <a:latin typeface="Outfit"/>
                <a:ea typeface="Outfit"/>
                <a:cs typeface="Outfit"/>
                <a:sym typeface="Outfit"/>
              </a:rPr>
              <a:t>Lightweight LLMs for </a:t>
            </a:r>
            <a:endParaRPr sz="3200" b="1" dirty="0">
              <a:solidFill>
                <a:srgbClr val="1A6847"/>
              </a:solidFill>
              <a:latin typeface="Outfit"/>
              <a:ea typeface="Outfit"/>
              <a:cs typeface="Outfit"/>
              <a:sym typeface="Outfit"/>
            </a:endParaRPr>
          </a:p>
          <a:p>
            <a:pPr marL="0" marR="0" lvl="0" indent="0" algn="l" rtl="0">
              <a:lnSpc>
                <a:spcPct val="46875"/>
              </a:lnSpc>
              <a:spcBef>
                <a:spcPts val="0"/>
              </a:spcBef>
              <a:spcAft>
                <a:spcPts val="0"/>
              </a:spcAft>
              <a:buClr>
                <a:srgbClr val="1A6847"/>
              </a:buClr>
              <a:buSzPts val="3200"/>
              <a:buFont typeface="Outfit"/>
              <a:buNone/>
            </a:pPr>
            <a:endParaRPr sz="3200" b="1" dirty="0">
              <a:solidFill>
                <a:srgbClr val="1A6847"/>
              </a:solidFill>
              <a:latin typeface="Outfit"/>
              <a:ea typeface="Outfit"/>
              <a:cs typeface="Outfit"/>
              <a:sym typeface="Outfit"/>
            </a:endParaRPr>
          </a:p>
          <a:p>
            <a:pPr marL="0" marR="0" lvl="0" indent="0" algn="l" rtl="0">
              <a:lnSpc>
                <a:spcPct val="46875"/>
              </a:lnSpc>
              <a:spcBef>
                <a:spcPts val="0"/>
              </a:spcBef>
              <a:spcAft>
                <a:spcPts val="0"/>
              </a:spcAft>
              <a:buClr>
                <a:srgbClr val="1A6847"/>
              </a:buClr>
              <a:buSzPts val="3200"/>
              <a:buFont typeface="Outfit"/>
              <a:buNone/>
            </a:pPr>
            <a:r>
              <a:rPr lang="en-US" sz="3200" b="1" dirty="0">
                <a:solidFill>
                  <a:srgbClr val="1A6847"/>
                </a:solidFill>
                <a:latin typeface="Outfit"/>
                <a:ea typeface="Outfit"/>
                <a:cs typeface="Outfit"/>
                <a:sym typeface="Outfit"/>
              </a:rPr>
              <a:t>Domain-Specific </a:t>
            </a:r>
            <a:endParaRPr sz="3200" b="1" dirty="0">
              <a:solidFill>
                <a:srgbClr val="1A6847"/>
              </a:solidFill>
              <a:latin typeface="Outfit"/>
              <a:ea typeface="Outfit"/>
              <a:cs typeface="Outfit"/>
              <a:sym typeface="Outfit"/>
            </a:endParaRPr>
          </a:p>
          <a:p>
            <a:pPr marL="0" marR="0" lvl="0" indent="0" algn="l" rtl="0">
              <a:lnSpc>
                <a:spcPct val="46875"/>
              </a:lnSpc>
              <a:spcBef>
                <a:spcPts val="0"/>
              </a:spcBef>
              <a:spcAft>
                <a:spcPts val="0"/>
              </a:spcAft>
              <a:buClr>
                <a:srgbClr val="1A6847"/>
              </a:buClr>
              <a:buSzPts val="3200"/>
              <a:buFont typeface="Outfit"/>
              <a:buNone/>
            </a:pPr>
            <a:endParaRPr sz="3200" b="1" dirty="0">
              <a:solidFill>
                <a:srgbClr val="1A6847"/>
              </a:solidFill>
              <a:latin typeface="Outfit"/>
              <a:ea typeface="Outfit"/>
              <a:cs typeface="Outfit"/>
              <a:sym typeface="Outfit"/>
            </a:endParaRPr>
          </a:p>
          <a:p>
            <a:pPr marL="0" marR="0" lvl="0" indent="0" algn="l" rtl="0">
              <a:lnSpc>
                <a:spcPct val="46875"/>
              </a:lnSpc>
              <a:spcBef>
                <a:spcPts val="0"/>
              </a:spcBef>
              <a:spcAft>
                <a:spcPts val="0"/>
              </a:spcAft>
              <a:buClr>
                <a:srgbClr val="1A6847"/>
              </a:buClr>
              <a:buSzPts val="3200"/>
              <a:buFont typeface="Outfit"/>
              <a:buNone/>
            </a:pPr>
            <a:r>
              <a:rPr lang="en-US" sz="3200" b="1" dirty="0">
                <a:solidFill>
                  <a:srgbClr val="1A6847"/>
                </a:solidFill>
                <a:latin typeface="Outfit"/>
                <a:ea typeface="Outfit"/>
                <a:cs typeface="Outfit"/>
                <a:sym typeface="Outfit"/>
              </a:rPr>
              <a:t>Applications: A Case Study </a:t>
            </a:r>
          </a:p>
          <a:p>
            <a:pPr marL="0" marR="0" lvl="0" indent="0" algn="l" rtl="0">
              <a:lnSpc>
                <a:spcPct val="46875"/>
              </a:lnSpc>
              <a:spcBef>
                <a:spcPts val="0"/>
              </a:spcBef>
              <a:spcAft>
                <a:spcPts val="0"/>
              </a:spcAft>
              <a:buClr>
                <a:srgbClr val="1A6847"/>
              </a:buClr>
              <a:buSzPts val="3200"/>
              <a:buFont typeface="Outfit"/>
              <a:buNone/>
            </a:pPr>
            <a:endParaRPr lang="en-US" sz="3200" b="1" dirty="0">
              <a:solidFill>
                <a:srgbClr val="1A6847"/>
              </a:solidFill>
              <a:latin typeface="Outfit"/>
              <a:ea typeface="Outfit"/>
              <a:cs typeface="Outfit"/>
              <a:sym typeface="Outfit"/>
            </a:endParaRPr>
          </a:p>
          <a:p>
            <a:pPr marL="0" marR="0" lvl="0" indent="0" algn="l" rtl="0">
              <a:lnSpc>
                <a:spcPct val="46875"/>
              </a:lnSpc>
              <a:spcBef>
                <a:spcPts val="0"/>
              </a:spcBef>
              <a:spcAft>
                <a:spcPts val="0"/>
              </a:spcAft>
              <a:buClr>
                <a:srgbClr val="1A6847"/>
              </a:buClr>
              <a:buSzPts val="3200"/>
              <a:buFont typeface="Outfit"/>
              <a:buNone/>
            </a:pPr>
            <a:r>
              <a:rPr lang="en-US" sz="3200" b="1" dirty="0">
                <a:solidFill>
                  <a:srgbClr val="1A6847"/>
                </a:solidFill>
                <a:latin typeface="Outfit"/>
                <a:ea typeface="Outfit"/>
                <a:cs typeface="Outfit"/>
                <a:sym typeface="Outfit"/>
              </a:rPr>
              <a:t>Of Hospital Management</a:t>
            </a:r>
            <a:endParaRPr sz="3200" b="0" i="0" u="none" strike="noStrike" cap="none" dirty="0">
              <a:solidFill>
                <a:schemeClr val="dk1"/>
              </a:solidFill>
              <a:latin typeface="Calibri"/>
              <a:ea typeface="Calibri"/>
              <a:cs typeface="Calibri"/>
              <a:sym typeface="Calibri"/>
            </a:endParaRPr>
          </a:p>
        </p:txBody>
      </p:sp>
      <p:sp>
        <p:nvSpPr>
          <p:cNvPr id="19" name="Google Shape;19;p1"/>
          <p:cNvSpPr txBox="1"/>
          <p:nvPr/>
        </p:nvSpPr>
        <p:spPr>
          <a:xfrm>
            <a:off x="5679900" y="3925200"/>
            <a:ext cx="3375300" cy="67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Outfit"/>
                <a:ea typeface="Outfit"/>
                <a:cs typeface="Outfit"/>
                <a:sym typeface="Outfit"/>
              </a:rPr>
              <a:t>Ahed Eisa  | </a:t>
            </a:r>
            <a:r>
              <a:rPr lang="en-US" sz="1600" b="1">
                <a:solidFill>
                  <a:schemeClr val="dk1"/>
                </a:solidFill>
                <a:latin typeface="Outfit"/>
                <a:ea typeface="Outfit"/>
                <a:cs typeface="Outfit"/>
                <a:sym typeface="Outfit"/>
              </a:rPr>
              <a:t>Department of Electronic Engineering</a:t>
            </a:r>
            <a:r>
              <a:rPr lang="en-US" sz="1600" b="1" i="0" u="none" strike="noStrike" cap="none">
                <a:solidFill>
                  <a:schemeClr val="dk1"/>
                </a:solidFill>
                <a:latin typeface="Outfit"/>
                <a:ea typeface="Outfit"/>
                <a:cs typeface="Outfit"/>
                <a:sym typeface="Outfit"/>
              </a:rPr>
              <a:t>    </a:t>
            </a:r>
            <a:endParaRPr sz="16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Google Shape;25;p2"/>
          <p:cNvSpPr/>
          <p:nvPr/>
        </p:nvSpPr>
        <p:spPr>
          <a:xfrm>
            <a:off x="0" y="0"/>
            <a:ext cx="32004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2"/>
          <p:cNvSpPr/>
          <p:nvPr/>
        </p:nvSpPr>
        <p:spPr>
          <a:xfrm>
            <a:off x="691000" y="330250"/>
            <a:ext cx="2687100" cy="914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1A6847"/>
              </a:buClr>
              <a:buSzPts val="2800"/>
              <a:buFont typeface="Outfit"/>
              <a:buNone/>
            </a:pPr>
            <a:r>
              <a:rPr lang="en-US" sz="2800" b="1">
                <a:solidFill>
                  <a:srgbClr val="1A6847"/>
                </a:solidFill>
                <a:latin typeface="Outfit"/>
                <a:ea typeface="Outfit"/>
                <a:cs typeface="Outfit"/>
                <a:sym typeface="Outfit"/>
              </a:rPr>
              <a:t>Table Contents</a:t>
            </a:r>
            <a:endParaRPr sz="2800" b="0" i="0" u="none" strike="noStrike" cap="none">
              <a:solidFill>
                <a:schemeClr val="dk1"/>
              </a:solidFill>
              <a:latin typeface="Calibri"/>
              <a:ea typeface="Calibri"/>
              <a:cs typeface="Calibri"/>
              <a:sym typeface="Calibri"/>
            </a:endParaRPr>
          </a:p>
        </p:txBody>
      </p:sp>
      <p:sp>
        <p:nvSpPr>
          <p:cNvPr id="27" name="Google Shape;27;p2"/>
          <p:cNvSpPr/>
          <p:nvPr/>
        </p:nvSpPr>
        <p:spPr>
          <a:xfrm>
            <a:off x="4101640" y="1094460"/>
            <a:ext cx="640200" cy="36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Outfit"/>
              <a:buNone/>
            </a:pPr>
            <a:r>
              <a:rPr lang="en-US" sz="1200" b="0" i="0" u="none" strike="noStrike" cap="none">
                <a:solidFill>
                  <a:srgbClr val="000000"/>
                </a:solidFill>
                <a:latin typeface="Outfit"/>
                <a:ea typeface="Outfit"/>
                <a:cs typeface="Outfit"/>
                <a:sym typeface="Outfit"/>
              </a:rPr>
              <a:t>01</a:t>
            </a:r>
            <a:endParaRPr sz="1200" b="0" i="0" u="none" strike="noStrike" cap="none">
              <a:solidFill>
                <a:schemeClr val="dk1"/>
              </a:solidFill>
              <a:latin typeface="Calibri"/>
              <a:ea typeface="Calibri"/>
              <a:cs typeface="Calibri"/>
              <a:sym typeface="Calibri"/>
            </a:endParaRPr>
          </a:p>
        </p:txBody>
      </p:sp>
      <p:sp>
        <p:nvSpPr>
          <p:cNvPr id="28" name="Google Shape;28;p2"/>
          <p:cNvSpPr/>
          <p:nvPr/>
        </p:nvSpPr>
        <p:spPr>
          <a:xfrm>
            <a:off x="4558840" y="1094460"/>
            <a:ext cx="4114800" cy="36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200"/>
              <a:buFont typeface="Outfit"/>
              <a:buNone/>
            </a:pPr>
            <a:r>
              <a:rPr lang="en-US" sz="1200">
                <a:solidFill>
                  <a:schemeClr val="dk1"/>
                </a:solidFill>
                <a:latin typeface="Outfit"/>
                <a:ea typeface="Outfit"/>
                <a:cs typeface="Outfit"/>
                <a:sym typeface="Outfit"/>
              </a:rPr>
              <a:t>Background and Motivation</a:t>
            </a:r>
            <a:endParaRPr sz="1200" b="0" i="0" u="none" strike="noStrike" cap="none">
              <a:solidFill>
                <a:srgbClr val="000000"/>
              </a:solidFill>
              <a:latin typeface="Outfit"/>
              <a:ea typeface="Outfit"/>
              <a:cs typeface="Outfit"/>
              <a:sym typeface="Outfit"/>
            </a:endParaRPr>
          </a:p>
        </p:txBody>
      </p:sp>
      <p:sp>
        <p:nvSpPr>
          <p:cNvPr id="29" name="Google Shape;29;p2"/>
          <p:cNvSpPr/>
          <p:nvPr/>
        </p:nvSpPr>
        <p:spPr>
          <a:xfrm>
            <a:off x="4101640" y="1460220"/>
            <a:ext cx="640200" cy="36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Outfit"/>
              <a:buNone/>
            </a:pPr>
            <a:r>
              <a:rPr lang="en-US" sz="1200" b="0" i="0" u="none" strike="noStrike" cap="none">
                <a:solidFill>
                  <a:srgbClr val="000000"/>
                </a:solidFill>
                <a:latin typeface="Outfit"/>
                <a:ea typeface="Outfit"/>
                <a:cs typeface="Outfit"/>
                <a:sym typeface="Outfit"/>
              </a:rPr>
              <a:t>02</a:t>
            </a:r>
            <a:endParaRPr sz="1200" b="0" i="0" u="none" strike="noStrike" cap="none">
              <a:solidFill>
                <a:schemeClr val="dk1"/>
              </a:solidFill>
              <a:latin typeface="Calibri"/>
              <a:ea typeface="Calibri"/>
              <a:cs typeface="Calibri"/>
              <a:sym typeface="Calibri"/>
            </a:endParaRPr>
          </a:p>
        </p:txBody>
      </p:sp>
      <p:sp>
        <p:nvSpPr>
          <p:cNvPr id="30" name="Google Shape;30;p2"/>
          <p:cNvSpPr/>
          <p:nvPr/>
        </p:nvSpPr>
        <p:spPr>
          <a:xfrm>
            <a:off x="4558840" y="1460220"/>
            <a:ext cx="4114800" cy="36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200"/>
              <a:buFont typeface="Outfit"/>
              <a:buNone/>
            </a:pPr>
            <a:r>
              <a:rPr lang="en-US" sz="1200">
                <a:solidFill>
                  <a:schemeClr val="dk1"/>
                </a:solidFill>
                <a:latin typeface="Outfit"/>
                <a:ea typeface="Outfit"/>
                <a:cs typeface="Outfit"/>
                <a:sym typeface="Outfit"/>
              </a:rPr>
              <a:t>Problem Definition</a:t>
            </a:r>
            <a:endParaRPr sz="1200" b="0" i="0" u="none" strike="noStrike" cap="none">
              <a:solidFill>
                <a:srgbClr val="000000"/>
              </a:solidFill>
              <a:latin typeface="Outfit"/>
              <a:ea typeface="Outfit"/>
              <a:cs typeface="Outfit"/>
              <a:sym typeface="Outfit"/>
            </a:endParaRPr>
          </a:p>
        </p:txBody>
      </p:sp>
      <p:sp>
        <p:nvSpPr>
          <p:cNvPr id="31" name="Google Shape;31;p2"/>
          <p:cNvSpPr/>
          <p:nvPr/>
        </p:nvSpPr>
        <p:spPr>
          <a:xfrm>
            <a:off x="4101640" y="1825980"/>
            <a:ext cx="640200" cy="36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Outfit"/>
              <a:buNone/>
            </a:pPr>
            <a:r>
              <a:rPr lang="en-US" sz="1200" b="0" i="0" u="none" strike="noStrike" cap="none">
                <a:solidFill>
                  <a:srgbClr val="000000"/>
                </a:solidFill>
                <a:latin typeface="Outfit"/>
                <a:ea typeface="Outfit"/>
                <a:cs typeface="Outfit"/>
                <a:sym typeface="Outfit"/>
              </a:rPr>
              <a:t>03</a:t>
            </a:r>
            <a:endParaRPr sz="1200" b="0" i="0" u="none" strike="noStrike" cap="none">
              <a:solidFill>
                <a:schemeClr val="dk1"/>
              </a:solidFill>
              <a:latin typeface="Calibri"/>
              <a:ea typeface="Calibri"/>
              <a:cs typeface="Calibri"/>
              <a:sym typeface="Calibri"/>
            </a:endParaRPr>
          </a:p>
        </p:txBody>
      </p:sp>
      <p:sp>
        <p:nvSpPr>
          <p:cNvPr id="32" name="Google Shape;32;p2"/>
          <p:cNvSpPr/>
          <p:nvPr/>
        </p:nvSpPr>
        <p:spPr>
          <a:xfrm>
            <a:off x="4558840" y="1825980"/>
            <a:ext cx="4114800" cy="360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US" sz="1200">
                <a:solidFill>
                  <a:schemeClr val="dk1"/>
                </a:solidFill>
                <a:latin typeface="Outfit"/>
                <a:ea typeface="Outfit"/>
                <a:cs typeface="Outfit"/>
                <a:sym typeface="Outfit"/>
              </a:rPr>
              <a:t>Purpose and Objectives</a:t>
            </a:r>
            <a:endParaRPr sz="1200">
              <a:solidFill>
                <a:schemeClr val="dk1"/>
              </a:solidFill>
              <a:latin typeface="Outfit"/>
              <a:ea typeface="Outfit"/>
              <a:cs typeface="Outfit"/>
              <a:sym typeface="Outfit"/>
            </a:endParaRPr>
          </a:p>
        </p:txBody>
      </p:sp>
      <p:sp>
        <p:nvSpPr>
          <p:cNvPr id="33" name="Google Shape;33;p2"/>
          <p:cNvSpPr/>
          <p:nvPr/>
        </p:nvSpPr>
        <p:spPr>
          <a:xfrm>
            <a:off x="4101640" y="2191740"/>
            <a:ext cx="640200" cy="36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Outfit"/>
              <a:buNone/>
            </a:pPr>
            <a:r>
              <a:rPr lang="en-US" sz="1200" b="0" i="0" u="none" strike="noStrike" cap="none">
                <a:solidFill>
                  <a:srgbClr val="000000"/>
                </a:solidFill>
                <a:latin typeface="Outfit"/>
                <a:ea typeface="Outfit"/>
                <a:cs typeface="Outfit"/>
                <a:sym typeface="Outfit"/>
              </a:rPr>
              <a:t>04</a:t>
            </a:r>
            <a:endParaRPr sz="1200" b="0" i="0" u="none" strike="noStrike" cap="none">
              <a:solidFill>
                <a:schemeClr val="dk1"/>
              </a:solidFill>
              <a:latin typeface="Calibri"/>
              <a:ea typeface="Calibri"/>
              <a:cs typeface="Calibri"/>
              <a:sym typeface="Calibri"/>
            </a:endParaRPr>
          </a:p>
        </p:txBody>
      </p:sp>
      <p:sp>
        <p:nvSpPr>
          <p:cNvPr id="34" name="Google Shape;34;p2"/>
          <p:cNvSpPr/>
          <p:nvPr/>
        </p:nvSpPr>
        <p:spPr>
          <a:xfrm>
            <a:off x="4558840" y="2191740"/>
            <a:ext cx="4114800" cy="360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US" sz="1200">
                <a:solidFill>
                  <a:schemeClr val="dk1"/>
                </a:solidFill>
                <a:latin typeface="Outfit"/>
                <a:ea typeface="Outfit"/>
                <a:cs typeface="Outfit"/>
                <a:sym typeface="Outfit"/>
              </a:rPr>
              <a:t>Literature Review</a:t>
            </a:r>
            <a:endParaRPr sz="1200">
              <a:solidFill>
                <a:schemeClr val="dk1"/>
              </a:solidFill>
              <a:latin typeface="Outfit"/>
              <a:ea typeface="Outfit"/>
              <a:cs typeface="Outfit"/>
              <a:sym typeface="Outfit"/>
            </a:endParaRPr>
          </a:p>
        </p:txBody>
      </p:sp>
      <p:sp>
        <p:nvSpPr>
          <p:cNvPr id="35" name="Google Shape;35;p2"/>
          <p:cNvSpPr/>
          <p:nvPr/>
        </p:nvSpPr>
        <p:spPr>
          <a:xfrm>
            <a:off x="4101640" y="2557500"/>
            <a:ext cx="640200" cy="36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Outfit"/>
              <a:buNone/>
            </a:pPr>
            <a:r>
              <a:rPr lang="en-US" sz="1200" b="0" i="0" u="none" strike="noStrike" cap="none">
                <a:solidFill>
                  <a:srgbClr val="000000"/>
                </a:solidFill>
                <a:latin typeface="Outfit"/>
                <a:ea typeface="Outfit"/>
                <a:cs typeface="Outfit"/>
                <a:sym typeface="Outfit"/>
              </a:rPr>
              <a:t>05</a:t>
            </a:r>
            <a:endParaRPr sz="1200" b="0" i="0" u="none" strike="noStrike" cap="none">
              <a:solidFill>
                <a:schemeClr val="dk1"/>
              </a:solidFill>
              <a:latin typeface="Calibri"/>
              <a:ea typeface="Calibri"/>
              <a:cs typeface="Calibri"/>
              <a:sym typeface="Calibri"/>
            </a:endParaRPr>
          </a:p>
        </p:txBody>
      </p:sp>
      <p:sp>
        <p:nvSpPr>
          <p:cNvPr id="36" name="Google Shape;36;p2"/>
          <p:cNvSpPr/>
          <p:nvPr/>
        </p:nvSpPr>
        <p:spPr>
          <a:xfrm>
            <a:off x="4558840" y="2557500"/>
            <a:ext cx="4114800" cy="36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Outfit"/>
              <a:buNone/>
            </a:pPr>
            <a:r>
              <a:rPr lang="en-US" sz="1200">
                <a:latin typeface="Outfit"/>
                <a:ea typeface="Outfit"/>
                <a:cs typeface="Outfit"/>
                <a:sym typeface="Outfit"/>
              </a:rPr>
              <a:t>Methodology</a:t>
            </a:r>
            <a:endParaRPr sz="1200" b="0" i="0" u="none" strike="noStrike" cap="none">
              <a:solidFill>
                <a:schemeClr val="dk1"/>
              </a:solidFill>
              <a:latin typeface="Calibri"/>
              <a:ea typeface="Calibri"/>
              <a:cs typeface="Calibri"/>
              <a:sym typeface="Calibri"/>
            </a:endParaRPr>
          </a:p>
        </p:txBody>
      </p:sp>
      <p:sp>
        <p:nvSpPr>
          <p:cNvPr id="37" name="Google Shape;37;p2"/>
          <p:cNvSpPr/>
          <p:nvPr/>
        </p:nvSpPr>
        <p:spPr>
          <a:xfrm>
            <a:off x="4101640" y="2923260"/>
            <a:ext cx="640200" cy="36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Outfit"/>
              <a:buNone/>
            </a:pPr>
            <a:r>
              <a:rPr lang="en-US" sz="1200" b="0" i="0" u="none" strike="noStrike" cap="none">
                <a:solidFill>
                  <a:srgbClr val="000000"/>
                </a:solidFill>
                <a:latin typeface="Outfit"/>
                <a:ea typeface="Outfit"/>
                <a:cs typeface="Outfit"/>
                <a:sym typeface="Outfit"/>
              </a:rPr>
              <a:t>06</a:t>
            </a:r>
            <a:endParaRPr sz="1200" b="0" i="0" u="none" strike="noStrike" cap="none">
              <a:solidFill>
                <a:schemeClr val="dk1"/>
              </a:solidFill>
              <a:latin typeface="Calibri"/>
              <a:ea typeface="Calibri"/>
              <a:cs typeface="Calibri"/>
              <a:sym typeface="Calibri"/>
            </a:endParaRPr>
          </a:p>
        </p:txBody>
      </p:sp>
      <p:sp>
        <p:nvSpPr>
          <p:cNvPr id="38" name="Google Shape;38;p2"/>
          <p:cNvSpPr/>
          <p:nvPr/>
        </p:nvSpPr>
        <p:spPr>
          <a:xfrm>
            <a:off x="4558840" y="2923260"/>
            <a:ext cx="4114800" cy="360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200"/>
              <a:buFont typeface="Outfit"/>
              <a:buNone/>
            </a:pPr>
            <a:r>
              <a:rPr lang="en-US" sz="1200">
                <a:solidFill>
                  <a:schemeClr val="dk1"/>
                </a:solidFill>
                <a:latin typeface="Outfit"/>
                <a:ea typeface="Outfit"/>
                <a:cs typeface="Outfit"/>
                <a:sym typeface="Outfit"/>
              </a:rPr>
              <a:t>Results</a:t>
            </a:r>
            <a:endParaRPr sz="1200">
              <a:latin typeface="Outfit"/>
              <a:ea typeface="Outfit"/>
              <a:cs typeface="Outfit"/>
              <a:sym typeface="Outfit"/>
            </a:endParaRPr>
          </a:p>
        </p:txBody>
      </p:sp>
      <p:sp>
        <p:nvSpPr>
          <p:cNvPr id="39" name="Google Shape;39;p2"/>
          <p:cNvSpPr/>
          <p:nvPr/>
        </p:nvSpPr>
        <p:spPr>
          <a:xfrm>
            <a:off x="4101640" y="3289020"/>
            <a:ext cx="640200" cy="36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Outfit"/>
              <a:buNone/>
            </a:pPr>
            <a:r>
              <a:rPr lang="en-US" sz="1200" b="0" i="0" u="none" strike="noStrike" cap="none">
                <a:solidFill>
                  <a:srgbClr val="000000"/>
                </a:solidFill>
                <a:latin typeface="Outfit"/>
                <a:ea typeface="Outfit"/>
                <a:cs typeface="Outfit"/>
                <a:sym typeface="Outfit"/>
              </a:rPr>
              <a:t>07</a:t>
            </a:r>
            <a:endParaRPr sz="1200" b="0" i="0" u="none" strike="noStrike" cap="none">
              <a:solidFill>
                <a:schemeClr val="dk1"/>
              </a:solidFill>
              <a:latin typeface="Calibri"/>
              <a:ea typeface="Calibri"/>
              <a:cs typeface="Calibri"/>
              <a:sym typeface="Calibri"/>
            </a:endParaRPr>
          </a:p>
        </p:txBody>
      </p:sp>
      <p:sp>
        <p:nvSpPr>
          <p:cNvPr id="40" name="Google Shape;40;p2"/>
          <p:cNvSpPr/>
          <p:nvPr/>
        </p:nvSpPr>
        <p:spPr>
          <a:xfrm>
            <a:off x="4558840" y="3289020"/>
            <a:ext cx="4114800" cy="360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US" sz="1200">
                <a:solidFill>
                  <a:schemeClr val="dk1"/>
                </a:solidFill>
                <a:latin typeface="Outfit"/>
                <a:ea typeface="Outfit"/>
                <a:cs typeface="Outfit"/>
                <a:sym typeface="Outfit"/>
              </a:rPr>
              <a:t>Future Work</a:t>
            </a:r>
            <a:endParaRPr sz="1200">
              <a:solidFill>
                <a:schemeClr val="dk1"/>
              </a:solidFill>
              <a:latin typeface="Outfit"/>
              <a:ea typeface="Outfit"/>
              <a:cs typeface="Outfit"/>
              <a:sym typeface="Outfit"/>
            </a:endParaRPr>
          </a:p>
        </p:txBody>
      </p:sp>
      <p:sp>
        <p:nvSpPr>
          <p:cNvPr id="41" name="Google Shape;41;p2"/>
          <p:cNvSpPr/>
          <p:nvPr/>
        </p:nvSpPr>
        <p:spPr>
          <a:xfrm>
            <a:off x="4558840" y="3654780"/>
            <a:ext cx="4114800" cy="36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Outfit"/>
              <a:buNone/>
            </a:pPr>
            <a:endParaRPr sz="1200" b="0" i="0" u="none" strike="noStrike" cap="none">
              <a:solidFill>
                <a:schemeClr val="dk1"/>
              </a:solidFill>
              <a:latin typeface="Calibri"/>
              <a:ea typeface="Calibri"/>
              <a:cs typeface="Calibri"/>
              <a:sym typeface="Calibri"/>
            </a:endParaRPr>
          </a:p>
        </p:txBody>
      </p:sp>
      <p:sp>
        <p:nvSpPr>
          <p:cNvPr id="42" name="Google Shape;42;p2"/>
          <p:cNvSpPr/>
          <p:nvPr/>
        </p:nvSpPr>
        <p:spPr>
          <a:xfrm>
            <a:off x="4101640" y="3654795"/>
            <a:ext cx="640200" cy="36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Outfit"/>
              <a:buNone/>
            </a:pPr>
            <a:endParaRPr sz="1200" b="0" i="0" u="none" strike="noStrike" cap="none">
              <a:solidFill>
                <a:schemeClr val="dk1"/>
              </a:solidFill>
              <a:latin typeface="Calibri"/>
              <a:ea typeface="Calibri"/>
              <a:cs typeface="Calibri"/>
              <a:sym typeface="Calibri"/>
            </a:endParaRPr>
          </a:p>
        </p:txBody>
      </p:sp>
      <p:sp>
        <p:nvSpPr>
          <p:cNvPr id="43" name="Google Shape;43;p2"/>
          <p:cNvSpPr/>
          <p:nvPr/>
        </p:nvSpPr>
        <p:spPr>
          <a:xfrm>
            <a:off x="4558840" y="3654795"/>
            <a:ext cx="4114800" cy="36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Outfit"/>
              <a:buNone/>
            </a:pPr>
            <a:endParaRPr sz="1200" b="0" i="0" u="none" strike="noStrike" cap="none">
              <a:solidFill>
                <a:srgbClr val="000000"/>
              </a:solidFill>
              <a:latin typeface="Outfit"/>
              <a:ea typeface="Outfit"/>
              <a:cs typeface="Outfit"/>
              <a:sym typeface="Outfit"/>
            </a:endParaRPr>
          </a:p>
        </p:txBody>
      </p:sp>
      <p:sp>
        <p:nvSpPr>
          <p:cNvPr id="44" name="Google Shape;44;p2"/>
          <p:cNvSpPr/>
          <p:nvPr/>
        </p:nvSpPr>
        <p:spPr>
          <a:xfrm>
            <a:off x="4558840" y="4020555"/>
            <a:ext cx="4114800" cy="36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Outfit"/>
              <a:buNone/>
            </a:pP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657600" y="0"/>
            <a:ext cx="91440" cy="154305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1" name="Google Shape;51;p3" descr="New Year Resolution Goal List 2020 - Business office desk with notebook written in handwriting about plan listing of new year goals and resolutions setting. (provided by Getty Images)"/>
          <p:cNvPicPr preferRelativeResize="0"/>
          <p:nvPr/>
        </p:nvPicPr>
        <p:blipFill rotWithShape="1">
          <a:blip r:embed="rId3">
            <a:alphaModFix/>
          </a:blip>
          <a:srcRect l="28361" r="28356"/>
          <a:stretch/>
        </p:blipFill>
        <p:spPr>
          <a:xfrm>
            <a:off x="320040" y="0"/>
            <a:ext cx="3337559" cy="5143499"/>
          </a:xfrm>
          <a:prstGeom prst="rect">
            <a:avLst/>
          </a:prstGeom>
          <a:noFill/>
          <a:ln>
            <a:noFill/>
          </a:ln>
        </p:spPr>
      </p:pic>
      <p:pic>
        <p:nvPicPr>
          <p:cNvPr id="52" name="Google Shape;52;p3" descr="https://djgurnpwsdoqjscwqbsj.supabase.co/storage/v1/object/public/users_file_magicslides_io/grayscale_image.png"/>
          <p:cNvPicPr preferRelativeResize="0"/>
          <p:nvPr/>
        </p:nvPicPr>
        <p:blipFill rotWithShape="1">
          <a:blip r:embed="rId4">
            <a:alphaModFix/>
          </a:blip>
          <a:srcRect/>
          <a:stretch/>
        </p:blipFill>
        <p:spPr>
          <a:xfrm>
            <a:off x="4206240" y="1800225"/>
            <a:ext cx="365760" cy="365760"/>
          </a:xfrm>
          <a:prstGeom prst="rect">
            <a:avLst/>
          </a:prstGeom>
          <a:noFill/>
          <a:ln>
            <a:noFill/>
          </a:ln>
        </p:spPr>
      </p:pic>
      <p:sp>
        <p:nvSpPr>
          <p:cNvPr id="53" name="Google Shape;53;p3"/>
          <p:cNvSpPr/>
          <p:nvPr/>
        </p:nvSpPr>
        <p:spPr>
          <a:xfrm>
            <a:off x="0" y="0"/>
            <a:ext cx="32004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3"/>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3"/>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i="0" u="none" strike="noStrike" cap="none">
                <a:solidFill>
                  <a:srgbClr val="FFD600"/>
                </a:solidFill>
                <a:latin typeface="Outfit"/>
                <a:ea typeface="Outfit"/>
                <a:cs typeface="Outfit"/>
                <a:sym typeface="Outfit"/>
              </a:rPr>
              <a:t>1</a:t>
            </a:r>
            <a:endParaRPr sz="1800" b="0" i="0" u="none" strike="noStrike" cap="none">
              <a:solidFill>
                <a:schemeClr val="dk1"/>
              </a:solidFill>
              <a:latin typeface="Calibri"/>
              <a:ea typeface="Calibri"/>
              <a:cs typeface="Calibri"/>
              <a:sym typeface="Calibri"/>
            </a:endParaRPr>
          </a:p>
        </p:txBody>
      </p:sp>
      <p:sp>
        <p:nvSpPr>
          <p:cNvPr id="56" name="Google Shape;56;p3"/>
          <p:cNvSpPr/>
          <p:nvPr/>
        </p:nvSpPr>
        <p:spPr>
          <a:xfrm>
            <a:off x="4114800" y="925825"/>
            <a:ext cx="48822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1200"/>
              </a:spcBef>
              <a:spcAft>
                <a:spcPts val="1200"/>
              </a:spcAft>
              <a:buClr>
                <a:schemeClr val="dk1"/>
              </a:buClr>
              <a:buSzPts val="1100"/>
              <a:buFont typeface="Arial"/>
              <a:buNone/>
            </a:pPr>
            <a:r>
              <a:rPr lang="en-US" sz="2800" b="1">
                <a:solidFill>
                  <a:srgbClr val="1A6847"/>
                </a:solidFill>
                <a:latin typeface="Outfit"/>
                <a:ea typeface="Outfit"/>
                <a:cs typeface="Outfit"/>
                <a:sym typeface="Outfit"/>
              </a:rPr>
              <a:t>Background and Motivation </a:t>
            </a:r>
            <a:endParaRPr sz="2800" b="1" i="0" u="none" strike="noStrike" cap="none">
              <a:solidFill>
                <a:srgbClr val="1A6847"/>
              </a:solidFill>
              <a:latin typeface="Outfit"/>
              <a:ea typeface="Outfit"/>
              <a:cs typeface="Outfit"/>
              <a:sym typeface="Outfit"/>
            </a:endParaRPr>
          </a:p>
        </p:txBody>
      </p:sp>
      <p:sp>
        <p:nvSpPr>
          <p:cNvPr id="57" name="Google Shape;57;p3"/>
          <p:cNvSpPr/>
          <p:nvPr/>
        </p:nvSpPr>
        <p:spPr>
          <a:xfrm>
            <a:off x="4114850" y="1761695"/>
            <a:ext cx="4389000" cy="2314500"/>
          </a:xfrm>
          <a:prstGeom prst="rect">
            <a:avLst/>
          </a:prstGeom>
          <a:noFill/>
          <a:ln>
            <a:noFill/>
          </a:ln>
        </p:spPr>
        <p:txBody>
          <a:bodyPr spcFirstLastPara="1" wrap="square" lIns="91425" tIns="45700" rIns="91425" bIns="45700" anchor="t" anchorCtr="0">
            <a:noAutofit/>
          </a:bodyPr>
          <a:lstStyle/>
          <a:p>
            <a:pPr marL="457200" lvl="0" indent="-304800" algn="l" rtl="0">
              <a:lnSpc>
                <a:spcPct val="115000"/>
              </a:lnSpc>
              <a:spcBef>
                <a:spcPts val="1200"/>
              </a:spcBef>
              <a:spcAft>
                <a:spcPts val="0"/>
              </a:spcAft>
              <a:buSzPts val="1200"/>
              <a:buFont typeface="Outfit"/>
              <a:buChar char="●"/>
            </a:pPr>
            <a:r>
              <a:rPr lang="en-US" sz="1200">
                <a:latin typeface="Outfit"/>
                <a:ea typeface="Outfit"/>
                <a:cs typeface="Outfit"/>
                <a:sym typeface="Outfit"/>
              </a:rPr>
              <a:t>With the enhancement of LLMs, and with the motivation of talking to a machine with human natural language, ChatGPT was released</a:t>
            </a:r>
            <a:endParaRPr sz="1200">
              <a:latin typeface="Outfit"/>
              <a:ea typeface="Outfit"/>
              <a:cs typeface="Outfit"/>
              <a:sym typeface="Outfit"/>
            </a:endParaRPr>
          </a:p>
          <a:p>
            <a:pPr marL="457200" marR="0" lvl="0" indent="-304800" algn="l" rtl="0">
              <a:lnSpc>
                <a:spcPct val="115000"/>
              </a:lnSpc>
              <a:spcBef>
                <a:spcPts val="1200"/>
              </a:spcBef>
              <a:spcAft>
                <a:spcPts val="0"/>
              </a:spcAft>
              <a:buClr>
                <a:srgbClr val="000000"/>
              </a:buClr>
              <a:buSzPts val="1200"/>
              <a:buFont typeface="Outfit"/>
              <a:buChar char="●"/>
            </a:pPr>
            <a:r>
              <a:rPr lang="en-US" sz="1200">
                <a:latin typeface="Outfit"/>
                <a:ea typeface="Outfit"/>
                <a:cs typeface="Outfit"/>
                <a:sym typeface="Outfit"/>
              </a:rPr>
              <a:t>After release of ChatGPT 2022, 24% businesses press releases of LLM- assisted content </a:t>
            </a:r>
            <a:endParaRPr sz="1200">
              <a:latin typeface="Outfit"/>
              <a:ea typeface="Outfit"/>
              <a:cs typeface="Outfit"/>
              <a:sym typeface="Outfit"/>
            </a:endParaRPr>
          </a:p>
          <a:p>
            <a:pPr marL="457200" marR="0" lvl="0" indent="-304800" algn="l" rtl="0">
              <a:lnSpc>
                <a:spcPct val="115000"/>
              </a:lnSpc>
              <a:spcBef>
                <a:spcPts val="0"/>
              </a:spcBef>
              <a:spcAft>
                <a:spcPts val="0"/>
              </a:spcAft>
              <a:buClr>
                <a:srgbClr val="000000"/>
              </a:buClr>
              <a:buSzPts val="1200"/>
              <a:buFont typeface="Outfit"/>
              <a:buChar char="●"/>
            </a:pPr>
            <a:r>
              <a:rPr lang="en-US" sz="1200">
                <a:latin typeface="Outfit"/>
                <a:ea typeface="Outfit"/>
                <a:cs typeface="Outfit"/>
                <a:sym typeface="Outfit"/>
              </a:rPr>
              <a:t>Challenges </a:t>
            </a:r>
            <a:r>
              <a:rPr lang="en-US" sz="1200" b="0" i="0" u="none" strike="noStrike" cap="none">
                <a:solidFill>
                  <a:srgbClr val="000000"/>
                </a:solidFill>
                <a:latin typeface="Outfit"/>
                <a:ea typeface="Outfit"/>
                <a:cs typeface="Outfit"/>
                <a:sym typeface="Outfit"/>
              </a:rPr>
              <a:t>:</a:t>
            </a:r>
            <a:endParaRPr sz="1200" b="0" i="0" u="none" strike="noStrike" cap="none">
              <a:solidFill>
                <a:srgbClr val="000000"/>
              </a:solidFill>
              <a:latin typeface="Outfit"/>
              <a:ea typeface="Outfit"/>
              <a:cs typeface="Outfit"/>
              <a:sym typeface="Outfit"/>
            </a:endParaRPr>
          </a:p>
          <a:p>
            <a:pPr marL="914400" marR="0" lvl="0" indent="-304800" algn="l" rtl="0">
              <a:lnSpc>
                <a:spcPct val="115000"/>
              </a:lnSpc>
              <a:spcBef>
                <a:spcPts val="0"/>
              </a:spcBef>
              <a:spcAft>
                <a:spcPts val="0"/>
              </a:spcAft>
              <a:buClr>
                <a:srgbClr val="000000"/>
              </a:buClr>
              <a:buSzPts val="1200"/>
              <a:buFont typeface="Outfit"/>
              <a:buChar char="-"/>
            </a:pPr>
            <a:r>
              <a:rPr lang="en-US" sz="1200">
                <a:latin typeface="Outfit"/>
                <a:ea typeface="Outfit"/>
                <a:cs typeface="Outfit"/>
                <a:sym typeface="Outfit"/>
              </a:rPr>
              <a:t>Data privacy </a:t>
            </a:r>
            <a:endParaRPr sz="1200" b="0" i="0" u="none" strike="noStrike" cap="none">
              <a:solidFill>
                <a:srgbClr val="000000"/>
              </a:solidFill>
              <a:latin typeface="Outfit"/>
              <a:ea typeface="Outfit"/>
              <a:cs typeface="Outfit"/>
              <a:sym typeface="Outfit"/>
            </a:endParaRPr>
          </a:p>
          <a:p>
            <a:pPr marL="914400" marR="0" lvl="0" indent="-304800" algn="l" rtl="0">
              <a:lnSpc>
                <a:spcPct val="115000"/>
              </a:lnSpc>
              <a:spcBef>
                <a:spcPts val="0"/>
              </a:spcBef>
              <a:spcAft>
                <a:spcPts val="0"/>
              </a:spcAft>
              <a:buClr>
                <a:srgbClr val="000000"/>
              </a:buClr>
              <a:buSzPts val="1200"/>
              <a:buFont typeface="Outfit"/>
              <a:buChar char="-"/>
            </a:pPr>
            <a:r>
              <a:rPr lang="en-US" sz="1200" b="0" i="0" u="none" strike="noStrike" cap="none">
                <a:solidFill>
                  <a:srgbClr val="000000"/>
                </a:solidFill>
                <a:latin typeface="Outfit"/>
                <a:ea typeface="Outfit"/>
                <a:cs typeface="Outfit"/>
                <a:sym typeface="Outfit"/>
              </a:rPr>
              <a:t>domain accuracy</a:t>
            </a:r>
            <a:endParaRPr sz="1200" b="0" i="0" u="none" strike="noStrike" cap="none">
              <a:solidFill>
                <a:srgbClr val="000000"/>
              </a:solidFill>
              <a:latin typeface="Outfit"/>
              <a:ea typeface="Outfit"/>
              <a:cs typeface="Outfit"/>
              <a:sym typeface="Outfit"/>
            </a:endParaRPr>
          </a:p>
          <a:p>
            <a:pPr marL="0" marR="0" lvl="0" indent="0" algn="just" rtl="0">
              <a:lnSpc>
                <a:spcPct val="166666"/>
              </a:lnSpc>
              <a:spcBef>
                <a:spcPts val="1200"/>
              </a:spcBef>
              <a:spcAft>
                <a:spcPts val="0"/>
              </a:spcAft>
              <a:buClr>
                <a:srgbClr val="000000"/>
              </a:buClr>
              <a:buSzPts val="1200"/>
              <a:buFont typeface="Outfit"/>
              <a:buNone/>
            </a:pPr>
            <a:endParaRPr sz="1200" b="0" i="0" u="none" strike="noStrike" cap="none">
              <a:solidFill>
                <a:srgbClr val="000000"/>
              </a:solidFill>
              <a:latin typeface="Outfit"/>
              <a:ea typeface="Outfit"/>
              <a:cs typeface="Outfit"/>
              <a:sym typeface="Outfi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p:nvPr/>
        </p:nvSpPr>
        <p:spPr>
          <a:xfrm>
            <a:off x="3657600" y="0"/>
            <a:ext cx="91440" cy="154305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4" name="Google Shape;64;p4" descr="Data protection abstract concept vector illustration. (provided by Getty Images)"/>
          <p:cNvPicPr preferRelativeResize="0"/>
          <p:nvPr/>
        </p:nvPicPr>
        <p:blipFill rotWithShape="1">
          <a:blip r:embed="rId3">
            <a:alphaModFix/>
          </a:blip>
          <a:srcRect l="17551" r="17558"/>
          <a:stretch/>
        </p:blipFill>
        <p:spPr>
          <a:xfrm>
            <a:off x="320040" y="0"/>
            <a:ext cx="3337559" cy="5143501"/>
          </a:xfrm>
          <a:prstGeom prst="rect">
            <a:avLst/>
          </a:prstGeom>
          <a:noFill/>
          <a:ln>
            <a:noFill/>
          </a:ln>
        </p:spPr>
      </p:pic>
      <p:pic>
        <p:nvPicPr>
          <p:cNvPr id="65" name="Google Shape;65;p4" descr="https://djgurnpwsdoqjscwqbsj.supabase.co/storage/v1/object/public/users_file_magicslides_io/grayscale_image.png"/>
          <p:cNvPicPr preferRelativeResize="0"/>
          <p:nvPr/>
        </p:nvPicPr>
        <p:blipFill rotWithShape="1">
          <a:blip r:embed="rId4">
            <a:alphaModFix/>
          </a:blip>
          <a:srcRect/>
          <a:stretch/>
        </p:blipFill>
        <p:spPr>
          <a:xfrm>
            <a:off x="4206240" y="1800225"/>
            <a:ext cx="365760" cy="365760"/>
          </a:xfrm>
          <a:prstGeom prst="rect">
            <a:avLst/>
          </a:prstGeom>
          <a:noFill/>
          <a:ln>
            <a:noFill/>
          </a:ln>
        </p:spPr>
      </p:pic>
      <p:sp>
        <p:nvSpPr>
          <p:cNvPr id="66" name="Google Shape;66;p4"/>
          <p:cNvSpPr/>
          <p:nvPr/>
        </p:nvSpPr>
        <p:spPr>
          <a:xfrm>
            <a:off x="0" y="0"/>
            <a:ext cx="32004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4"/>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4"/>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i="0" u="none" strike="noStrike" cap="none">
                <a:solidFill>
                  <a:srgbClr val="FFD600"/>
                </a:solidFill>
                <a:latin typeface="Outfit"/>
                <a:ea typeface="Outfit"/>
                <a:cs typeface="Outfit"/>
                <a:sym typeface="Outfit"/>
              </a:rPr>
              <a:t>2</a:t>
            </a:r>
            <a:endParaRPr sz="1800" b="0" i="0" u="none" strike="noStrike" cap="none">
              <a:solidFill>
                <a:schemeClr val="dk1"/>
              </a:solidFill>
              <a:latin typeface="Calibri"/>
              <a:ea typeface="Calibri"/>
              <a:cs typeface="Calibri"/>
              <a:sym typeface="Calibri"/>
            </a:endParaRPr>
          </a:p>
        </p:txBody>
      </p:sp>
      <p:sp>
        <p:nvSpPr>
          <p:cNvPr id="69" name="Google Shape;69;p4"/>
          <p:cNvSpPr/>
          <p:nvPr/>
        </p:nvSpPr>
        <p:spPr>
          <a:xfrm>
            <a:off x="4114800" y="925830"/>
            <a:ext cx="4389120" cy="5143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6847"/>
              </a:buClr>
              <a:buSzPts val="2800"/>
              <a:buFont typeface="Outfit"/>
              <a:buNone/>
            </a:pPr>
            <a:r>
              <a:rPr lang="en-US" sz="2800" b="1">
                <a:solidFill>
                  <a:srgbClr val="1A6847"/>
                </a:solidFill>
                <a:latin typeface="Outfit"/>
                <a:ea typeface="Outfit"/>
                <a:cs typeface="Outfit"/>
                <a:sym typeface="Outfit"/>
              </a:rPr>
              <a:t>Problem Definition </a:t>
            </a:r>
            <a:endParaRPr sz="2800" b="1" i="0" u="none" strike="noStrike" cap="none">
              <a:solidFill>
                <a:srgbClr val="1A6847"/>
              </a:solidFill>
              <a:latin typeface="Outfit"/>
              <a:ea typeface="Outfit"/>
              <a:cs typeface="Outfit"/>
              <a:sym typeface="Outfit"/>
            </a:endParaRPr>
          </a:p>
        </p:txBody>
      </p:sp>
      <p:sp>
        <p:nvSpPr>
          <p:cNvPr id="70" name="Google Shape;70;p4"/>
          <p:cNvSpPr/>
          <p:nvPr/>
        </p:nvSpPr>
        <p:spPr>
          <a:xfrm>
            <a:off x="4572000" y="1697355"/>
            <a:ext cx="3749040" cy="5143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alibri"/>
              <a:ea typeface="Calibri"/>
              <a:cs typeface="Calibri"/>
              <a:sym typeface="Calibri"/>
            </a:endParaRPr>
          </a:p>
        </p:txBody>
      </p:sp>
      <p:sp>
        <p:nvSpPr>
          <p:cNvPr id="71" name="Google Shape;71;p4"/>
          <p:cNvSpPr/>
          <p:nvPr/>
        </p:nvSpPr>
        <p:spPr>
          <a:xfrm>
            <a:off x="4114800" y="2160270"/>
            <a:ext cx="4389120" cy="2314575"/>
          </a:xfrm>
          <a:prstGeom prst="rect">
            <a:avLst/>
          </a:prstGeom>
          <a:noFill/>
          <a:ln>
            <a:noFill/>
          </a:ln>
        </p:spPr>
        <p:txBody>
          <a:bodyPr spcFirstLastPara="1" wrap="square" lIns="91425" tIns="45700" rIns="91425" bIns="45700" anchor="t" anchorCtr="0">
            <a:noAutofit/>
          </a:bodyPr>
          <a:lstStyle/>
          <a:p>
            <a:pPr marL="0" marR="0" lvl="0" indent="0" algn="just" rtl="0">
              <a:lnSpc>
                <a:spcPct val="166666"/>
              </a:lnSpc>
              <a:spcBef>
                <a:spcPts val="0"/>
              </a:spcBef>
              <a:spcAft>
                <a:spcPts val="0"/>
              </a:spcAft>
              <a:buClr>
                <a:schemeClr val="dk1"/>
              </a:buClr>
              <a:buSzPts val="1200"/>
              <a:buFont typeface="Outfit"/>
              <a:buNone/>
            </a:pPr>
            <a:endParaRPr sz="1200" b="0" i="0" u="none" strike="noStrike" cap="none">
              <a:solidFill>
                <a:schemeClr val="dk1"/>
              </a:solidFill>
              <a:latin typeface="Outfit"/>
              <a:ea typeface="Outfit"/>
              <a:cs typeface="Outfit"/>
              <a:sym typeface="Outfit"/>
            </a:endParaRPr>
          </a:p>
        </p:txBody>
      </p:sp>
      <p:sp>
        <p:nvSpPr>
          <p:cNvPr id="72" name="Google Shape;72;p4"/>
          <p:cNvSpPr/>
          <p:nvPr/>
        </p:nvSpPr>
        <p:spPr>
          <a:xfrm>
            <a:off x="2743200" y="4754880"/>
            <a:ext cx="18288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800"/>
              <a:buFont typeface="Calibri"/>
              <a:buNone/>
            </a:pPr>
            <a:r>
              <a:rPr lang="en-US" sz="800" b="0" i="0" u="sng" strike="noStrike" cap="none">
                <a:solidFill>
                  <a:srgbClr val="FFFFFF"/>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Photo by Pexels</a:t>
            </a:r>
            <a:endParaRPr sz="800" b="0" i="0" u="none" strike="noStrike" cap="none">
              <a:solidFill>
                <a:schemeClr val="dk1"/>
              </a:solidFill>
              <a:latin typeface="Calibri"/>
              <a:ea typeface="Calibri"/>
              <a:cs typeface="Calibri"/>
              <a:sym typeface="Calibri"/>
            </a:endParaRPr>
          </a:p>
        </p:txBody>
      </p:sp>
      <p:pic>
        <p:nvPicPr>
          <p:cNvPr id="73" name="Google Shape;73;p4" descr="Fotoğraf : Taramak, bilgisayar, veri, antivirus, kontrol etme ..."/>
          <p:cNvPicPr preferRelativeResize="0"/>
          <p:nvPr/>
        </p:nvPicPr>
        <p:blipFill rotWithShape="1">
          <a:blip r:embed="rId6">
            <a:alphaModFix/>
          </a:blip>
          <a:srcRect/>
          <a:stretch/>
        </p:blipFill>
        <p:spPr>
          <a:xfrm>
            <a:off x="4738250" y="1800225"/>
            <a:ext cx="4073252" cy="2440351"/>
          </a:xfrm>
          <a:prstGeom prst="rect">
            <a:avLst/>
          </a:prstGeom>
          <a:noFill/>
          <a:ln>
            <a:noFill/>
          </a:ln>
        </p:spPr>
      </p:pic>
      <p:sp>
        <p:nvSpPr>
          <p:cNvPr id="74" name="Google Shape;74;p4"/>
          <p:cNvSpPr txBox="1"/>
          <p:nvPr/>
        </p:nvSpPr>
        <p:spPr>
          <a:xfrm>
            <a:off x="5818900" y="4507350"/>
            <a:ext cx="1875000" cy="415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a:t>Data Privacy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5"/>
          <p:cNvSpPr/>
          <p:nvPr/>
        </p:nvSpPr>
        <p:spPr>
          <a:xfrm>
            <a:off x="3657600" y="0"/>
            <a:ext cx="91500" cy="154320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81" name="Google Shape;81;p5" descr="Business people teamwork engaged to achieve a target goals. marketing concept. (provided by Getty Images)"/>
          <p:cNvPicPr preferRelativeResize="0"/>
          <p:nvPr/>
        </p:nvPicPr>
        <p:blipFill rotWithShape="1">
          <a:blip r:embed="rId3">
            <a:alphaModFix/>
          </a:blip>
          <a:srcRect l="28374" r="28375"/>
          <a:stretch/>
        </p:blipFill>
        <p:spPr>
          <a:xfrm>
            <a:off x="320040" y="0"/>
            <a:ext cx="3337559" cy="5143497"/>
          </a:xfrm>
          <a:prstGeom prst="rect">
            <a:avLst/>
          </a:prstGeom>
          <a:noFill/>
          <a:ln>
            <a:noFill/>
          </a:ln>
        </p:spPr>
      </p:pic>
      <p:pic>
        <p:nvPicPr>
          <p:cNvPr id="82" name="Google Shape;82;p5" descr="https://djgurnpwsdoqjscwqbsj.supabase.co/storage/v1/object/public/users_file_magicslides_io/grayscale_image.png"/>
          <p:cNvPicPr preferRelativeResize="0"/>
          <p:nvPr/>
        </p:nvPicPr>
        <p:blipFill rotWithShape="1">
          <a:blip r:embed="rId4">
            <a:alphaModFix/>
          </a:blip>
          <a:srcRect/>
          <a:stretch/>
        </p:blipFill>
        <p:spPr>
          <a:xfrm>
            <a:off x="4206240" y="1800225"/>
            <a:ext cx="365760" cy="365760"/>
          </a:xfrm>
          <a:prstGeom prst="rect">
            <a:avLst/>
          </a:prstGeom>
          <a:noFill/>
          <a:ln>
            <a:noFill/>
          </a:ln>
        </p:spPr>
      </p:pic>
      <p:sp>
        <p:nvSpPr>
          <p:cNvPr id="83" name="Google Shape;83;p5"/>
          <p:cNvSpPr/>
          <p:nvPr/>
        </p:nvSpPr>
        <p:spPr>
          <a:xfrm>
            <a:off x="0" y="0"/>
            <a:ext cx="32010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5"/>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5"/>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i="0" u="none" strike="noStrike" cap="none">
                <a:solidFill>
                  <a:srgbClr val="FFD600"/>
                </a:solidFill>
                <a:latin typeface="Outfit"/>
                <a:ea typeface="Outfit"/>
                <a:cs typeface="Outfit"/>
                <a:sym typeface="Outfit"/>
              </a:rPr>
              <a:t>3</a:t>
            </a:r>
            <a:endParaRPr sz="1800" b="0" i="0" u="none" strike="noStrike" cap="none">
              <a:solidFill>
                <a:schemeClr val="dk1"/>
              </a:solidFill>
              <a:latin typeface="Calibri"/>
              <a:ea typeface="Calibri"/>
              <a:cs typeface="Calibri"/>
              <a:sym typeface="Calibri"/>
            </a:endParaRPr>
          </a:p>
        </p:txBody>
      </p:sp>
      <p:sp>
        <p:nvSpPr>
          <p:cNvPr id="86" name="Google Shape;86;p5"/>
          <p:cNvSpPr/>
          <p:nvPr/>
        </p:nvSpPr>
        <p:spPr>
          <a:xfrm>
            <a:off x="4114800" y="925830"/>
            <a:ext cx="43890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6847"/>
              </a:buClr>
              <a:buSzPts val="2800"/>
              <a:buFont typeface="Outfit"/>
              <a:buNone/>
            </a:pPr>
            <a:r>
              <a:rPr lang="en-US" sz="2800" b="1">
                <a:solidFill>
                  <a:srgbClr val="1A6847"/>
                </a:solidFill>
                <a:latin typeface="Outfit"/>
                <a:ea typeface="Outfit"/>
                <a:cs typeface="Outfit"/>
                <a:sym typeface="Outfit"/>
              </a:rPr>
              <a:t>Purpose and Objectives</a:t>
            </a:r>
            <a:endParaRPr sz="2800" b="1" i="0" u="none" strike="noStrike" cap="none">
              <a:solidFill>
                <a:srgbClr val="1A6847"/>
              </a:solidFill>
              <a:latin typeface="Outfit"/>
              <a:ea typeface="Outfit"/>
              <a:cs typeface="Outfit"/>
              <a:sym typeface="Outfit"/>
            </a:endParaRPr>
          </a:p>
        </p:txBody>
      </p:sp>
      <p:sp>
        <p:nvSpPr>
          <p:cNvPr id="87" name="Google Shape;87;p5"/>
          <p:cNvSpPr/>
          <p:nvPr/>
        </p:nvSpPr>
        <p:spPr>
          <a:xfrm>
            <a:off x="4572000" y="1697355"/>
            <a:ext cx="37491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alibri"/>
              <a:ea typeface="Calibri"/>
              <a:cs typeface="Calibri"/>
              <a:sym typeface="Calibri"/>
            </a:endParaRPr>
          </a:p>
        </p:txBody>
      </p:sp>
      <p:sp>
        <p:nvSpPr>
          <p:cNvPr id="88" name="Google Shape;88;p5"/>
          <p:cNvSpPr/>
          <p:nvPr/>
        </p:nvSpPr>
        <p:spPr>
          <a:xfrm>
            <a:off x="4114800" y="2160270"/>
            <a:ext cx="4389000" cy="2314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1200"/>
              </a:spcBef>
              <a:spcAft>
                <a:spcPts val="0"/>
              </a:spcAft>
              <a:buClr>
                <a:schemeClr val="dk1"/>
              </a:buClr>
              <a:buSzPts val="1100"/>
              <a:buFont typeface="Arial"/>
              <a:buNone/>
            </a:pPr>
            <a:r>
              <a:rPr lang="en-US" sz="1200" b="1">
                <a:solidFill>
                  <a:schemeClr val="dk1"/>
                </a:solidFill>
                <a:latin typeface="Outfit"/>
                <a:ea typeface="Outfit"/>
                <a:cs typeface="Outfit"/>
                <a:sym typeface="Outfit"/>
              </a:rPr>
              <a:t>Aim</a:t>
            </a:r>
            <a:r>
              <a:rPr lang="en-US" sz="1200">
                <a:solidFill>
                  <a:schemeClr val="dk1"/>
                </a:solidFill>
                <a:latin typeface="Outfit"/>
                <a:ea typeface="Outfit"/>
                <a:cs typeface="Outfit"/>
                <a:sym typeface="Outfit"/>
              </a:rPr>
              <a:t>: To develop scalable and privacy-aware localized lightweight LLMs.</a:t>
            </a:r>
            <a:endParaRPr sz="1200">
              <a:solidFill>
                <a:schemeClr val="dk1"/>
              </a:solidFill>
              <a:latin typeface="Outfit"/>
              <a:ea typeface="Outfit"/>
              <a:cs typeface="Outfit"/>
              <a:sym typeface="Outfit"/>
            </a:endParaRPr>
          </a:p>
          <a:p>
            <a:pPr marL="0" lvl="0" indent="0" algn="l" rtl="0">
              <a:lnSpc>
                <a:spcPct val="115000"/>
              </a:lnSpc>
              <a:spcBef>
                <a:spcPts val="1200"/>
              </a:spcBef>
              <a:spcAft>
                <a:spcPts val="0"/>
              </a:spcAft>
              <a:buClr>
                <a:schemeClr val="dk1"/>
              </a:buClr>
              <a:buSzPts val="1100"/>
              <a:buFont typeface="Arial"/>
              <a:buNone/>
            </a:pPr>
            <a:r>
              <a:rPr lang="en-US" sz="1200">
                <a:solidFill>
                  <a:schemeClr val="dk1"/>
                </a:solidFill>
                <a:latin typeface="Outfit"/>
                <a:ea typeface="Outfit"/>
                <a:cs typeface="Outfit"/>
                <a:sym typeface="Outfit"/>
              </a:rPr>
              <a:t>✔ Address data privacy in enterprise LLM use.</a:t>
            </a:r>
            <a:endParaRPr sz="1200">
              <a:solidFill>
                <a:schemeClr val="dk1"/>
              </a:solidFill>
              <a:latin typeface="Outfit"/>
              <a:ea typeface="Outfit"/>
              <a:cs typeface="Outfit"/>
              <a:sym typeface="Outfit"/>
            </a:endParaRPr>
          </a:p>
          <a:p>
            <a:pPr marL="0" marR="0" lvl="0" indent="0" algn="l" rtl="0">
              <a:lnSpc>
                <a:spcPct val="115000"/>
              </a:lnSpc>
              <a:spcBef>
                <a:spcPts val="1200"/>
              </a:spcBef>
              <a:spcAft>
                <a:spcPts val="0"/>
              </a:spcAft>
              <a:buClr>
                <a:schemeClr val="dk1"/>
              </a:buClr>
              <a:buSzPts val="1100"/>
              <a:buFont typeface="Arial"/>
              <a:buNone/>
            </a:pPr>
            <a:r>
              <a:rPr lang="en-US" sz="1200">
                <a:solidFill>
                  <a:schemeClr val="dk1"/>
                </a:solidFill>
                <a:latin typeface="Outfit"/>
                <a:ea typeface="Outfit"/>
                <a:cs typeface="Outfit"/>
                <a:sym typeface="Outfit"/>
              </a:rPr>
              <a:t>✔ Reduce memory &amp; compute needs.</a:t>
            </a:r>
            <a:endParaRPr sz="1200">
              <a:solidFill>
                <a:schemeClr val="dk1"/>
              </a:solidFill>
              <a:latin typeface="Outfit"/>
              <a:ea typeface="Outfit"/>
              <a:cs typeface="Outfit"/>
              <a:sym typeface="Outfit"/>
            </a:endParaRPr>
          </a:p>
          <a:p>
            <a:pPr marL="0" marR="0" lvl="0" indent="0" algn="just" rtl="0">
              <a:lnSpc>
                <a:spcPct val="166666"/>
              </a:lnSpc>
              <a:spcBef>
                <a:spcPts val="1200"/>
              </a:spcBef>
              <a:spcAft>
                <a:spcPts val="0"/>
              </a:spcAft>
              <a:buClr>
                <a:schemeClr val="dk1"/>
              </a:buClr>
              <a:buSzPts val="1200"/>
              <a:buFont typeface="Outfit"/>
              <a:buNone/>
            </a:pPr>
            <a:endParaRPr sz="1200" b="0" i="0" u="none" strike="noStrike" cap="none">
              <a:solidFill>
                <a:schemeClr val="dk1"/>
              </a:solidFill>
              <a:latin typeface="Outfit"/>
              <a:ea typeface="Outfit"/>
              <a:cs typeface="Outfit"/>
              <a:sym typeface="Outfit"/>
            </a:endParaRPr>
          </a:p>
          <a:p>
            <a:pPr marL="0" marR="0" lvl="0" indent="0" algn="just" rtl="0">
              <a:lnSpc>
                <a:spcPct val="166666"/>
              </a:lnSpc>
              <a:spcBef>
                <a:spcPts val="0"/>
              </a:spcBef>
              <a:spcAft>
                <a:spcPts val="0"/>
              </a:spcAft>
              <a:buClr>
                <a:srgbClr val="000000"/>
              </a:buClr>
              <a:buSzPts val="1200"/>
              <a:buFont typeface="Outfit"/>
              <a:buNone/>
            </a:pPr>
            <a:endParaRPr sz="1200" b="0" i="0" u="none" strike="noStrike" cap="none">
              <a:solidFill>
                <a:srgbClr val="000000"/>
              </a:solidFill>
              <a:latin typeface="Outfit"/>
              <a:ea typeface="Outfit"/>
              <a:cs typeface="Outfit"/>
              <a:sym typeface="Outfi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6"/>
          <p:cNvSpPr/>
          <p:nvPr/>
        </p:nvSpPr>
        <p:spPr>
          <a:xfrm>
            <a:off x="3657600" y="0"/>
            <a:ext cx="91440" cy="154305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5" name="Google Shape;95;p6" descr="Opened the Holy Bible close up prayer time on eyeglasses (provided by Getty Images)"/>
          <p:cNvPicPr preferRelativeResize="0"/>
          <p:nvPr/>
        </p:nvPicPr>
        <p:blipFill rotWithShape="1">
          <a:blip r:embed="rId3">
            <a:alphaModFix/>
          </a:blip>
          <a:srcRect l="28374" r="28375"/>
          <a:stretch/>
        </p:blipFill>
        <p:spPr>
          <a:xfrm>
            <a:off x="320040" y="0"/>
            <a:ext cx="3337559" cy="5143501"/>
          </a:xfrm>
          <a:prstGeom prst="rect">
            <a:avLst/>
          </a:prstGeom>
          <a:noFill/>
          <a:ln>
            <a:noFill/>
          </a:ln>
        </p:spPr>
      </p:pic>
      <p:pic>
        <p:nvPicPr>
          <p:cNvPr id="96" name="Google Shape;96;p6" descr="https://djgurnpwsdoqjscwqbsj.supabase.co/storage/v1/object/public/users_file_magicslides_io/grayscale_image.png"/>
          <p:cNvPicPr preferRelativeResize="0"/>
          <p:nvPr/>
        </p:nvPicPr>
        <p:blipFill rotWithShape="1">
          <a:blip r:embed="rId4">
            <a:alphaModFix/>
          </a:blip>
          <a:srcRect/>
          <a:stretch/>
        </p:blipFill>
        <p:spPr>
          <a:xfrm>
            <a:off x="4206240" y="1800225"/>
            <a:ext cx="365760" cy="365760"/>
          </a:xfrm>
          <a:prstGeom prst="rect">
            <a:avLst/>
          </a:prstGeom>
          <a:noFill/>
          <a:ln>
            <a:noFill/>
          </a:ln>
        </p:spPr>
      </p:pic>
      <p:sp>
        <p:nvSpPr>
          <p:cNvPr id="97" name="Google Shape;97;p6"/>
          <p:cNvSpPr/>
          <p:nvPr/>
        </p:nvSpPr>
        <p:spPr>
          <a:xfrm>
            <a:off x="0" y="0"/>
            <a:ext cx="32004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6"/>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6"/>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i="0" u="none" strike="noStrike" cap="none">
                <a:solidFill>
                  <a:srgbClr val="FFD600"/>
                </a:solidFill>
                <a:latin typeface="Outfit"/>
                <a:ea typeface="Outfit"/>
                <a:cs typeface="Outfit"/>
                <a:sym typeface="Outfit"/>
              </a:rPr>
              <a:t>4</a:t>
            </a:r>
            <a:endParaRPr sz="1800" b="0" i="0" u="none" strike="noStrike" cap="none">
              <a:solidFill>
                <a:schemeClr val="dk1"/>
              </a:solidFill>
              <a:latin typeface="Calibri"/>
              <a:ea typeface="Calibri"/>
              <a:cs typeface="Calibri"/>
              <a:sym typeface="Calibri"/>
            </a:endParaRPr>
          </a:p>
        </p:txBody>
      </p:sp>
      <p:sp>
        <p:nvSpPr>
          <p:cNvPr id="100" name="Google Shape;100;p6"/>
          <p:cNvSpPr/>
          <p:nvPr/>
        </p:nvSpPr>
        <p:spPr>
          <a:xfrm>
            <a:off x="4114800" y="925830"/>
            <a:ext cx="4389120" cy="51435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1200"/>
              </a:spcBef>
              <a:spcAft>
                <a:spcPts val="1200"/>
              </a:spcAft>
              <a:buClr>
                <a:schemeClr val="dk1"/>
              </a:buClr>
              <a:buSzPts val="1100"/>
              <a:buFont typeface="Arial"/>
              <a:buNone/>
            </a:pPr>
            <a:r>
              <a:rPr lang="en-US" sz="2800" b="1">
                <a:solidFill>
                  <a:srgbClr val="1A6847"/>
                </a:solidFill>
                <a:latin typeface="Outfit"/>
                <a:ea typeface="Outfit"/>
                <a:cs typeface="Outfit"/>
                <a:sym typeface="Outfit"/>
              </a:rPr>
              <a:t>Literature Review</a:t>
            </a:r>
            <a:endParaRPr sz="2800" b="1" i="0" u="none" strike="noStrike" cap="none">
              <a:solidFill>
                <a:srgbClr val="1A6847"/>
              </a:solidFill>
              <a:latin typeface="Outfit"/>
              <a:ea typeface="Outfit"/>
              <a:cs typeface="Outfit"/>
              <a:sym typeface="Outfit"/>
            </a:endParaRPr>
          </a:p>
        </p:txBody>
      </p:sp>
      <p:sp>
        <p:nvSpPr>
          <p:cNvPr id="101" name="Google Shape;101;p6"/>
          <p:cNvSpPr/>
          <p:nvPr/>
        </p:nvSpPr>
        <p:spPr>
          <a:xfrm>
            <a:off x="4572000" y="1697355"/>
            <a:ext cx="3749040" cy="5143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alibri"/>
              <a:ea typeface="Calibri"/>
              <a:cs typeface="Calibri"/>
              <a:sym typeface="Calibri"/>
            </a:endParaRPr>
          </a:p>
        </p:txBody>
      </p:sp>
      <p:sp>
        <p:nvSpPr>
          <p:cNvPr id="102" name="Google Shape;102;p6"/>
          <p:cNvSpPr/>
          <p:nvPr/>
        </p:nvSpPr>
        <p:spPr>
          <a:xfrm>
            <a:off x="4084125" y="1626345"/>
            <a:ext cx="4389000" cy="2314500"/>
          </a:xfrm>
          <a:prstGeom prst="rect">
            <a:avLst/>
          </a:prstGeom>
          <a:noFill/>
          <a:ln>
            <a:noFill/>
          </a:ln>
        </p:spPr>
        <p:txBody>
          <a:bodyPr spcFirstLastPara="1" wrap="square" lIns="91425" tIns="45700" rIns="91425" bIns="45700" anchor="t" anchorCtr="0">
            <a:noAutofit/>
          </a:bodyPr>
          <a:lstStyle/>
          <a:p>
            <a:pPr marL="0" marR="0" lvl="0" indent="0" algn="just" rtl="0">
              <a:lnSpc>
                <a:spcPct val="166666"/>
              </a:lnSpc>
              <a:spcBef>
                <a:spcPts val="0"/>
              </a:spcBef>
              <a:spcAft>
                <a:spcPts val="0"/>
              </a:spcAft>
              <a:buNone/>
            </a:pPr>
            <a:endParaRPr sz="1200">
              <a:solidFill>
                <a:schemeClr val="dk1"/>
              </a:solidFill>
              <a:latin typeface="Outfit"/>
              <a:ea typeface="Outfit"/>
              <a:cs typeface="Outfit"/>
              <a:sym typeface="Outfit"/>
            </a:endParaRPr>
          </a:p>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Most studies follow a similar sequence when applying Apache Spark to healthcare:</a:t>
            </a:r>
            <a:endParaRPr sz="13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US" sz="1100" b="1">
                <a:solidFill>
                  <a:schemeClr val="dk1"/>
                </a:solidFill>
              </a:rPr>
              <a:t>Data Collection</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US" sz="1100" b="1">
                <a:solidFill>
                  <a:schemeClr val="dk1"/>
                </a:solidFill>
              </a:rPr>
              <a:t>Data Preprocessing:</a:t>
            </a:r>
            <a:r>
              <a:rPr lang="en-US" sz="1100">
                <a:solidFill>
                  <a:schemeClr val="dk1"/>
                </a:solidFill>
              </a:rPr>
              <a:t> Clean data, handle missing values, normalize or encode features, and remove inconsistencies.</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US" sz="1100" b="1">
                <a:solidFill>
                  <a:schemeClr val="dk1"/>
                </a:solidFill>
              </a:rPr>
              <a:t>Feature Engineering / Selection:</a:t>
            </a:r>
            <a:r>
              <a:rPr lang="en-US" sz="1100">
                <a:solidFill>
                  <a:schemeClr val="dk1"/>
                </a:solidFill>
              </a:rPr>
              <a:t> Extract relevant features.</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US" sz="1100" b="1">
                <a:solidFill>
                  <a:schemeClr val="dk1"/>
                </a:solidFill>
              </a:rPr>
              <a:t>Modeling:</a:t>
            </a:r>
            <a:r>
              <a:rPr lang="en-US" sz="1100">
                <a:solidFill>
                  <a:schemeClr val="dk1"/>
                </a:solidFill>
              </a:rPr>
              <a:t> Train models using Spark MLlib or deep learning frameworks (e.g., Random Forest, Gradient Boosting, TCN).</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US" sz="1100" b="1">
                <a:solidFill>
                  <a:schemeClr val="dk1"/>
                </a:solidFill>
              </a:rPr>
              <a:t>Evaluation:</a:t>
            </a:r>
            <a:r>
              <a:rPr lang="en-US" sz="1100">
                <a:solidFill>
                  <a:schemeClr val="dk1"/>
                </a:solidFill>
              </a:rPr>
              <a:t> Validate models using metrics: Accuracy, AUC (</a:t>
            </a:r>
            <a:r>
              <a:rPr lang="en-US" sz="1100" b="1">
                <a:solidFill>
                  <a:schemeClr val="dk1"/>
                </a:solidFill>
              </a:rPr>
              <a:t>AUC (Area Under the Curve)</a:t>
            </a:r>
            <a:r>
              <a:rPr lang="en-US" sz="1100">
                <a:solidFill>
                  <a:schemeClr val="dk1"/>
                </a:solidFill>
              </a:rPr>
              <a:t> is a way to measure how good a model is at </a:t>
            </a:r>
            <a:r>
              <a:rPr lang="en-US" sz="1100" b="1">
                <a:solidFill>
                  <a:schemeClr val="dk1"/>
                </a:solidFill>
              </a:rPr>
              <a:t>telling two groups apart</a:t>
            </a:r>
            <a:r>
              <a:rPr lang="en-US" sz="1100">
                <a:solidFill>
                  <a:schemeClr val="dk1"/>
                </a:solidFill>
              </a:rPr>
              <a:t>), RMSE (Root Mean Squared Error), MAE (Mean Absolute Error) and real-time performance like Throughput, Latency.</a:t>
            </a:r>
            <a:endParaRPr sz="1100">
              <a:solidFill>
                <a:schemeClr val="dk1"/>
              </a:solidFill>
            </a:endParaRPr>
          </a:p>
          <a:p>
            <a:pPr marL="0" marR="0" lvl="0" indent="0" algn="just" rtl="0">
              <a:lnSpc>
                <a:spcPct val="166666"/>
              </a:lnSpc>
              <a:spcBef>
                <a:spcPts val="1200"/>
              </a:spcBef>
              <a:spcAft>
                <a:spcPts val="0"/>
              </a:spcAft>
              <a:buNone/>
            </a:pPr>
            <a:endParaRPr sz="1200">
              <a:solidFill>
                <a:schemeClr val="dk1"/>
              </a:solidFill>
              <a:latin typeface="Outfit"/>
              <a:ea typeface="Outfit"/>
              <a:cs typeface="Outfit"/>
              <a:sym typeface="Outfi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3ad127638c4_0_355"/>
          <p:cNvSpPr/>
          <p:nvPr/>
        </p:nvSpPr>
        <p:spPr>
          <a:xfrm>
            <a:off x="3657600" y="0"/>
            <a:ext cx="91500" cy="154320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9" name="Google Shape;109;g3ad127638c4_0_355" descr="Opened the Holy Bible close up prayer time on eyeglasses (provided by Getty Images)"/>
          <p:cNvPicPr preferRelativeResize="0"/>
          <p:nvPr/>
        </p:nvPicPr>
        <p:blipFill rotWithShape="1">
          <a:blip r:embed="rId3">
            <a:alphaModFix/>
          </a:blip>
          <a:srcRect l="28376" r="28372"/>
          <a:stretch/>
        </p:blipFill>
        <p:spPr>
          <a:xfrm>
            <a:off x="320050" y="0"/>
            <a:ext cx="1870950" cy="1891149"/>
          </a:xfrm>
          <a:prstGeom prst="rect">
            <a:avLst/>
          </a:prstGeom>
          <a:noFill/>
          <a:ln>
            <a:noFill/>
          </a:ln>
        </p:spPr>
      </p:pic>
      <p:pic>
        <p:nvPicPr>
          <p:cNvPr id="110" name="Google Shape;110;g3ad127638c4_0_355" descr="https://djgurnpwsdoqjscwqbsj.supabase.co/storage/v1/object/public/users_file_magicslides_io/grayscale_image.png"/>
          <p:cNvPicPr preferRelativeResize="0"/>
          <p:nvPr/>
        </p:nvPicPr>
        <p:blipFill rotWithShape="1">
          <a:blip r:embed="rId4">
            <a:alphaModFix/>
          </a:blip>
          <a:srcRect/>
          <a:stretch/>
        </p:blipFill>
        <p:spPr>
          <a:xfrm>
            <a:off x="4206240" y="1800225"/>
            <a:ext cx="365760" cy="365760"/>
          </a:xfrm>
          <a:prstGeom prst="rect">
            <a:avLst/>
          </a:prstGeom>
          <a:noFill/>
          <a:ln>
            <a:noFill/>
          </a:ln>
        </p:spPr>
      </p:pic>
      <p:sp>
        <p:nvSpPr>
          <p:cNvPr id="111" name="Google Shape;111;g3ad127638c4_0_355"/>
          <p:cNvSpPr/>
          <p:nvPr/>
        </p:nvSpPr>
        <p:spPr>
          <a:xfrm>
            <a:off x="0" y="0"/>
            <a:ext cx="32010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g3ad127638c4_0_355"/>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g3ad127638c4_0_355"/>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5</a:t>
            </a:r>
            <a:endParaRPr sz="1800" b="0" i="0" u="none" strike="noStrike" cap="none">
              <a:solidFill>
                <a:schemeClr val="dk1"/>
              </a:solidFill>
              <a:latin typeface="Calibri"/>
              <a:ea typeface="Calibri"/>
              <a:cs typeface="Calibri"/>
              <a:sym typeface="Calibri"/>
            </a:endParaRPr>
          </a:p>
        </p:txBody>
      </p:sp>
      <p:sp>
        <p:nvSpPr>
          <p:cNvPr id="114" name="Google Shape;114;g3ad127638c4_0_355"/>
          <p:cNvSpPr/>
          <p:nvPr/>
        </p:nvSpPr>
        <p:spPr>
          <a:xfrm>
            <a:off x="4114800" y="575792"/>
            <a:ext cx="43890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1200"/>
              </a:spcBef>
              <a:spcAft>
                <a:spcPts val="1200"/>
              </a:spcAft>
              <a:buClr>
                <a:schemeClr val="dk1"/>
              </a:buClr>
              <a:buSzPts val="1100"/>
              <a:buFont typeface="Arial"/>
              <a:buNone/>
            </a:pPr>
            <a:r>
              <a:rPr lang="en-US" sz="2800" b="1">
                <a:solidFill>
                  <a:srgbClr val="1A6847"/>
                </a:solidFill>
                <a:latin typeface="Outfit"/>
                <a:ea typeface="Outfit"/>
                <a:cs typeface="Outfit"/>
                <a:sym typeface="Outfit"/>
              </a:rPr>
              <a:t>Literature Review</a:t>
            </a:r>
            <a:endParaRPr sz="2800" b="1" i="0" u="none" strike="noStrike" cap="none">
              <a:solidFill>
                <a:srgbClr val="1A6847"/>
              </a:solidFill>
              <a:latin typeface="Outfit"/>
              <a:ea typeface="Outfit"/>
              <a:cs typeface="Outfit"/>
              <a:sym typeface="Outfit"/>
            </a:endParaRPr>
          </a:p>
        </p:txBody>
      </p:sp>
      <p:sp>
        <p:nvSpPr>
          <p:cNvPr id="115" name="Google Shape;115;g3ad127638c4_0_355"/>
          <p:cNvSpPr/>
          <p:nvPr/>
        </p:nvSpPr>
        <p:spPr>
          <a:xfrm>
            <a:off x="4572000" y="1697355"/>
            <a:ext cx="37491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alibri"/>
              <a:ea typeface="Calibri"/>
              <a:cs typeface="Calibri"/>
              <a:sym typeface="Calibri"/>
            </a:endParaRPr>
          </a:p>
        </p:txBody>
      </p:sp>
      <p:sp>
        <p:nvSpPr>
          <p:cNvPr id="116" name="Google Shape;116;g3ad127638c4_0_355"/>
          <p:cNvSpPr/>
          <p:nvPr/>
        </p:nvSpPr>
        <p:spPr>
          <a:xfrm>
            <a:off x="4006025" y="1135445"/>
            <a:ext cx="4389000" cy="2314500"/>
          </a:xfrm>
          <a:prstGeom prst="rect">
            <a:avLst/>
          </a:prstGeom>
          <a:noFill/>
          <a:ln>
            <a:noFill/>
          </a:ln>
        </p:spPr>
        <p:txBody>
          <a:bodyPr spcFirstLastPara="1" wrap="square" lIns="91425" tIns="45700" rIns="91425" bIns="45700" anchor="t" anchorCtr="0">
            <a:noAutofit/>
          </a:bodyPr>
          <a:lstStyle/>
          <a:p>
            <a:pPr marL="457200" marR="0" lvl="0" indent="-311150" algn="just" rtl="0">
              <a:lnSpc>
                <a:spcPct val="166666"/>
              </a:lnSpc>
              <a:spcBef>
                <a:spcPts val="0"/>
              </a:spcBef>
              <a:spcAft>
                <a:spcPts val="0"/>
              </a:spcAft>
              <a:buClr>
                <a:schemeClr val="dk1"/>
              </a:buClr>
              <a:buSzPts val="1300"/>
              <a:buFont typeface="Outfit"/>
              <a:buAutoNum type="arabicPeriod"/>
            </a:pPr>
            <a:r>
              <a:rPr lang="en-US" sz="1300" b="1">
                <a:solidFill>
                  <a:schemeClr val="dk1"/>
                </a:solidFill>
                <a:latin typeface="Outfit"/>
                <a:ea typeface="Outfit"/>
                <a:cs typeface="Outfit"/>
                <a:sym typeface="Outfit"/>
              </a:rPr>
              <a:t>Predictors of Outpatients’ No-show</a:t>
            </a:r>
            <a:endParaRPr sz="1300" b="1">
              <a:solidFill>
                <a:schemeClr val="dk1"/>
              </a:solidFill>
              <a:latin typeface="Outfit"/>
              <a:ea typeface="Outfit"/>
              <a:cs typeface="Outfit"/>
              <a:sym typeface="Outfit"/>
            </a:endParaRPr>
          </a:p>
          <a:p>
            <a:pPr marL="457200" marR="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Goal</a:t>
            </a:r>
            <a:r>
              <a:rPr lang="en-US" sz="1200">
                <a:solidFill>
                  <a:schemeClr val="dk1"/>
                </a:solidFill>
                <a:latin typeface="Outfit"/>
                <a:ea typeface="Outfit"/>
                <a:cs typeface="Outfit"/>
                <a:sym typeface="Outfit"/>
              </a:rPr>
              <a:t>:  Identify why patients miss appointments.</a:t>
            </a:r>
            <a:endParaRPr sz="1200">
              <a:solidFill>
                <a:schemeClr val="dk1"/>
              </a:solidFill>
              <a:latin typeface="Outfit"/>
              <a:ea typeface="Outfit"/>
              <a:cs typeface="Outfit"/>
              <a:sym typeface="Outfit"/>
            </a:endParaRPr>
          </a:p>
          <a:p>
            <a:pPr marL="457200" marR="0" lvl="0" indent="-304800" algn="just" rtl="0">
              <a:lnSpc>
                <a:spcPct val="115000"/>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Method: </a:t>
            </a:r>
            <a:r>
              <a:rPr lang="en-US" sz="1200">
                <a:solidFill>
                  <a:schemeClr val="dk1"/>
                </a:solidFill>
                <a:latin typeface="Outfit"/>
                <a:ea typeface="Outfit"/>
                <a:cs typeface="Outfit"/>
                <a:sym typeface="Outfit"/>
              </a:rPr>
              <a:t>Predictive modeling using large-scale appointment data.</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Data :</a:t>
            </a:r>
            <a:r>
              <a:rPr lang="en-US" sz="1100">
                <a:solidFill>
                  <a:schemeClr val="dk1"/>
                </a:solidFill>
              </a:rPr>
              <a:t>2M+ outpatient records from hospital EMRs.</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Data Preprocessing:</a:t>
            </a:r>
            <a:r>
              <a:rPr lang="en-US" sz="1100">
                <a:solidFill>
                  <a:schemeClr val="dk1"/>
                </a:solidFill>
              </a:rPr>
              <a:t>Cleaned records, handled missing values, normalized features.</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Feature Engineering / Selection: </a:t>
            </a:r>
            <a:r>
              <a:rPr lang="en-US" sz="1100">
                <a:solidFill>
                  <a:schemeClr val="dk1"/>
                </a:solidFill>
              </a:rPr>
              <a:t>using information gain, which measures how much a feature reduces prediction uncertainty when used to split the data.</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Modeling: </a:t>
            </a:r>
            <a:r>
              <a:rPr lang="en-US" sz="1100">
                <a:solidFill>
                  <a:schemeClr val="dk1"/>
                </a:solidFill>
              </a:rPr>
              <a:t>Random Forest, Gradient Boosting, Logistic Regression, SVM, MLP using Spark MLlib.</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Evaluation:</a:t>
            </a:r>
            <a:r>
              <a:rPr lang="en-US" sz="1100">
                <a:solidFill>
                  <a:schemeClr val="dk1"/>
                </a:solidFill>
              </a:rPr>
              <a:t> Accuracy,  AUC, cross-validation.</a:t>
            </a:r>
            <a:endParaRPr sz="1200">
              <a:solidFill>
                <a:schemeClr val="dk1"/>
              </a:solidFill>
              <a:latin typeface="Outfit"/>
              <a:ea typeface="Outfit"/>
              <a:cs typeface="Outfit"/>
              <a:sym typeface="Outfit"/>
            </a:endParaRPr>
          </a:p>
          <a:p>
            <a:pPr marL="457200" marR="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Technologies</a:t>
            </a:r>
            <a:r>
              <a:rPr lang="en-US" sz="1200">
                <a:solidFill>
                  <a:schemeClr val="dk1"/>
                </a:solidFill>
                <a:latin typeface="Outfit"/>
                <a:ea typeface="Outfit"/>
                <a:cs typeface="Outfit"/>
                <a:sym typeface="Outfit"/>
              </a:rPr>
              <a:t>: Apache Spark, Spark MLlib.</a:t>
            </a:r>
            <a:endParaRPr sz="1100" b="1">
              <a:solidFill>
                <a:schemeClr val="dk1"/>
              </a:solidFill>
            </a:endParaRPr>
          </a:p>
          <a:p>
            <a:pPr marL="0" marR="0" lvl="0" indent="0" algn="just" rtl="0">
              <a:lnSpc>
                <a:spcPct val="166666"/>
              </a:lnSpc>
              <a:spcBef>
                <a:spcPts val="0"/>
              </a:spcBef>
              <a:spcAft>
                <a:spcPts val="0"/>
              </a:spcAft>
              <a:buNone/>
            </a:pPr>
            <a:endParaRPr sz="1200">
              <a:solidFill>
                <a:schemeClr val="dk1"/>
              </a:solidFill>
              <a:latin typeface="Outfit"/>
              <a:ea typeface="Outfit"/>
              <a:cs typeface="Outfit"/>
              <a:sym typeface="Outfit"/>
            </a:endParaRPr>
          </a:p>
        </p:txBody>
      </p:sp>
      <p:sp>
        <p:nvSpPr>
          <p:cNvPr id="117" name="Google Shape;117;g3ad127638c4_0_355"/>
          <p:cNvSpPr txBox="1"/>
          <p:nvPr/>
        </p:nvSpPr>
        <p:spPr>
          <a:xfrm>
            <a:off x="389100" y="1973450"/>
            <a:ext cx="3749100" cy="3123900"/>
          </a:xfrm>
          <a:prstGeom prst="rect">
            <a:avLst/>
          </a:prstGeom>
          <a:noFill/>
          <a:ln>
            <a:noFill/>
          </a:ln>
        </p:spPr>
        <p:txBody>
          <a:bodyPr spcFirstLastPara="1" wrap="square" lIns="91425" tIns="91425" rIns="91425" bIns="91425" anchor="t" anchorCtr="0">
            <a:noAutofit/>
          </a:bodyPr>
          <a:lstStyle/>
          <a:p>
            <a:pPr marL="45720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key Findings</a:t>
            </a:r>
            <a:r>
              <a:rPr lang="en-US" sz="1200">
                <a:solidFill>
                  <a:schemeClr val="dk1"/>
                </a:solidFill>
                <a:latin typeface="Outfit"/>
                <a:ea typeface="Outfit"/>
                <a:cs typeface="Outfit"/>
                <a:sym typeface="Outfit"/>
              </a:rPr>
              <a:t>:  Gradient Boosting performed best (79% accuracy, 0.81 AUC)</a:t>
            </a:r>
            <a:endParaRPr sz="1200">
              <a:solidFill>
                <a:schemeClr val="dk1"/>
              </a:solidFill>
              <a:latin typeface="Outfit"/>
              <a:ea typeface="Outfit"/>
              <a:cs typeface="Outfit"/>
              <a:sym typeface="Outfit"/>
            </a:endParaRPr>
          </a:p>
          <a:p>
            <a:pPr marL="45720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Future suggestions</a:t>
            </a:r>
            <a:r>
              <a:rPr lang="en-US" sz="1200">
                <a:solidFill>
                  <a:schemeClr val="dk1"/>
                </a:solidFill>
                <a:latin typeface="Outfit"/>
                <a:ea typeface="Outfit"/>
                <a:cs typeface="Outfit"/>
                <a:sym typeface="Outfit"/>
              </a:rPr>
              <a:t> : </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Real-time prediction. </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Include more behavioral/contextual factors. </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To test across multiple hospitals.</a:t>
            </a:r>
            <a:endParaRPr sz="1200">
              <a:solidFill>
                <a:schemeClr val="dk1"/>
              </a:solidFill>
              <a:latin typeface="Outfit"/>
              <a:ea typeface="Outfit"/>
              <a:cs typeface="Outfit"/>
              <a:sym typeface="Outfit"/>
            </a:endParaRPr>
          </a:p>
          <a:p>
            <a:pPr marL="0" lvl="0" indent="0" algn="l" rtl="0">
              <a:lnSpc>
                <a:spcPct val="115000"/>
              </a:lnSpc>
              <a:spcBef>
                <a:spcPts val="1200"/>
              </a:spcBef>
              <a:spcAft>
                <a:spcPts val="1200"/>
              </a:spcAft>
              <a:buNone/>
            </a:pPr>
            <a:endParaRPr sz="1200">
              <a:solidFill>
                <a:schemeClr val="dk1"/>
              </a:solidFill>
              <a:latin typeface="Outfit"/>
              <a:ea typeface="Outfit"/>
              <a:cs typeface="Outfit"/>
              <a:sym typeface="Outfi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g3ad127638c4_0_391"/>
          <p:cNvSpPr/>
          <p:nvPr/>
        </p:nvSpPr>
        <p:spPr>
          <a:xfrm>
            <a:off x="3657600" y="0"/>
            <a:ext cx="91500" cy="154320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Google Shape;124;g3ad127638c4_0_391" descr="Opened the Holy Bible close up prayer time on eyeglasses (provided by Getty Images)"/>
          <p:cNvPicPr preferRelativeResize="0"/>
          <p:nvPr/>
        </p:nvPicPr>
        <p:blipFill rotWithShape="1">
          <a:blip r:embed="rId3">
            <a:alphaModFix/>
          </a:blip>
          <a:srcRect l="28376" r="28372"/>
          <a:stretch/>
        </p:blipFill>
        <p:spPr>
          <a:xfrm>
            <a:off x="320050" y="0"/>
            <a:ext cx="1870950" cy="1891149"/>
          </a:xfrm>
          <a:prstGeom prst="rect">
            <a:avLst/>
          </a:prstGeom>
          <a:noFill/>
          <a:ln>
            <a:noFill/>
          </a:ln>
        </p:spPr>
      </p:pic>
      <p:pic>
        <p:nvPicPr>
          <p:cNvPr id="125" name="Google Shape;125;g3ad127638c4_0_391" descr="https://djgurnpwsdoqjscwqbsj.supabase.co/storage/v1/object/public/users_file_magicslides_io/grayscale_image.png"/>
          <p:cNvPicPr preferRelativeResize="0"/>
          <p:nvPr/>
        </p:nvPicPr>
        <p:blipFill rotWithShape="1">
          <a:blip r:embed="rId4">
            <a:alphaModFix/>
          </a:blip>
          <a:srcRect/>
          <a:stretch/>
        </p:blipFill>
        <p:spPr>
          <a:xfrm>
            <a:off x="4206240" y="1800225"/>
            <a:ext cx="365760" cy="365760"/>
          </a:xfrm>
          <a:prstGeom prst="rect">
            <a:avLst/>
          </a:prstGeom>
          <a:noFill/>
          <a:ln>
            <a:noFill/>
          </a:ln>
        </p:spPr>
      </p:pic>
      <p:sp>
        <p:nvSpPr>
          <p:cNvPr id="126" name="Google Shape;126;g3ad127638c4_0_391"/>
          <p:cNvSpPr/>
          <p:nvPr/>
        </p:nvSpPr>
        <p:spPr>
          <a:xfrm>
            <a:off x="0" y="0"/>
            <a:ext cx="32010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g3ad127638c4_0_391"/>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g3ad127638c4_0_391"/>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6</a:t>
            </a:r>
            <a:endParaRPr sz="1800" b="0" i="0" u="none" strike="noStrike" cap="none">
              <a:solidFill>
                <a:schemeClr val="dk1"/>
              </a:solidFill>
              <a:latin typeface="Calibri"/>
              <a:ea typeface="Calibri"/>
              <a:cs typeface="Calibri"/>
              <a:sym typeface="Calibri"/>
            </a:endParaRPr>
          </a:p>
        </p:txBody>
      </p:sp>
      <p:sp>
        <p:nvSpPr>
          <p:cNvPr id="129" name="Google Shape;129;g3ad127638c4_0_391"/>
          <p:cNvSpPr/>
          <p:nvPr/>
        </p:nvSpPr>
        <p:spPr>
          <a:xfrm>
            <a:off x="4114800" y="575792"/>
            <a:ext cx="43890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1200"/>
              </a:spcBef>
              <a:spcAft>
                <a:spcPts val="1200"/>
              </a:spcAft>
              <a:buClr>
                <a:schemeClr val="dk1"/>
              </a:buClr>
              <a:buSzPts val="1100"/>
              <a:buFont typeface="Arial"/>
              <a:buNone/>
            </a:pPr>
            <a:r>
              <a:rPr lang="en-US" sz="2800" b="1">
                <a:solidFill>
                  <a:srgbClr val="1A6847"/>
                </a:solidFill>
                <a:latin typeface="Outfit"/>
                <a:ea typeface="Outfit"/>
                <a:cs typeface="Outfit"/>
                <a:sym typeface="Outfit"/>
              </a:rPr>
              <a:t>Literature Review</a:t>
            </a:r>
            <a:endParaRPr sz="2800" b="1" i="0" u="none" strike="noStrike" cap="none">
              <a:solidFill>
                <a:srgbClr val="1A6847"/>
              </a:solidFill>
              <a:latin typeface="Outfit"/>
              <a:ea typeface="Outfit"/>
              <a:cs typeface="Outfit"/>
              <a:sym typeface="Outfit"/>
            </a:endParaRPr>
          </a:p>
        </p:txBody>
      </p:sp>
      <p:sp>
        <p:nvSpPr>
          <p:cNvPr id="130" name="Google Shape;130;g3ad127638c4_0_391"/>
          <p:cNvSpPr/>
          <p:nvPr/>
        </p:nvSpPr>
        <p:spPr>
          <a:xfrm>
            <a:off x="4572000" y="1697355"/>
            <a:ext cx="37491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alibri"/>
              <a:ea typeface="Calibri"/>
              <a:cs typeface="Calibri"/>
              <a:sym typeface="Calibri"/>
            </a:endParaRPr>
          </a:p>
        </p:txBody>
      </p:sp>
      <p:sp>
        <p:nvSpPr>
          <p:cNvPr id="131" name="Google Shape;131;g3ad127638c4_0_391"/>
          <p:cNvSpPr/>
          <p:nvPr/>
        </p:nvSpPr>
        <p:spPr>
          <a:xfrm>
            <a:off x="4006025" y="1135445"/>
            <a:ext cx="4389000" cy="2314500"/>
          </a:xfrm>
          <a:prstGeom prst="rect">
            <a:avLst/>
          </a:prstGeom>
          <a:noFill/>
          <a:ln>
            <a:noFill/>
          </a:ln>
        </p:spPr>
        <p:txBody>
          <a:bodyPr spcFirstLastPara="1" wrap="square" lIns="91425" tIns="45700" rIns="91425" bIns="45700" anchor="t" anchorCtr="0">
            <a:noAutofit/>
          </a:bodyPr>
          <a:lstStyle/>
          <a:p>
            <a:pPr marL="0" marR="0" lvl="0" indent="0" algn="just" rtl="0">
              <a:lnSpc>
                <a:spcPct val="166666"/>
              </a:lnSpc>
              <a:spcBef>
                <a:spcPts val="0"/>
              </a:spcBef>
              <a:spcAft>
                <a:spcPts val="0"/>
              </a:spcAft>
              <a:buNone/>
            </a:pPr>
            <a:r>
              <a:rPr lang="en-US" sz="1300" b="1">
                <a:solidFill>
                  <a:schemeClr val="dk1"/>
                </a:solidFill>
                <a:latin typeface="Outfit"/>
                <a:ea typeface="Outfit"/>
                <a:cs typeface="Outfit"/>
                <a:sym typeface="Outfit"/>
              </a:rPr>
              <a:t>  2.  	Real-time Health Status Prediction</a:t>
            </a:r>
            <a:endParaRPr sz="1300" b="1">
              <a:solidFill>
                <a:schemeClr val="dk1"/>
              </a:solidFill>
              <a:latin typeface="Outfit"/>
              <a:ea typeface="Outfit"/>
              <a:cs typeface="Outfit"/>
              <a:sym typeface="Outfit"/>
            </a:endParaRPr>
          </a:p>
          <a:p>
            <a:pPr marL="457200" marR="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Goal</a:t>
            </a:r>
            <a:r>
              <a:rPr lang="en-US" sz="1200">
                <a:solidFill>
                  <a:schemeClr val="dk1"/>
                </a:solidFill>
                <a:latin typeface="Outfit"/>
                <a:ea typeface="Outfit"/>
                <a:cs typeface="Outfit"/>
                <a:sym typeface="Outfit"/>
              </a:rPr>
              <a:t>:  Predict patient health risks in real-time.</a:t>
            </a:r>
            <a:endParaRPr sz="1200">
              <a:solidFill>
                <a:schemeClr val="dk1"/>
              </a:solidFill>
              <a:latin typeface="Outfit"/>
              <a:ea typeface="Outfit"/>
              <a:cs typeface="Outfit"/>
              <a:sym typeface="Outfit"/>
            </a:endParaRPr>
          </a:p>
          <a:p>
            <a:pPr marL="457200" marR="0" lvl="0" indent="-304800" algn="just" rtl="0">
              <a:lnSpc>
                <a:spcPct val="115000"/>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Method:  </a:t>
            </a:r>
            <a:r>
              <a:rPr lang="en-US" sz="1200">
                <a:solidFill>
                  <a:schemeClr val="dk1"/>
                </a:solidFill>
                <a:latin typeface="Outfit"/>
                <a:ea typeface="Outfit"/>
                <a:cs typeface="Outfit"/>
                <a:sym typeface="Outfit"/>
              </a:rPr>
              <a:t>ML on streaming + historical data.</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Data :</a:t>
            </a:r>
            <a:r>
              <a:rPr lang="en-US" sz="1100">
                <a:solidFill>
                  <a:schemeClr val="dk1"/>
                </a:solidFill>
              </a:rPr>
              <a:t>IoT sensor streams + historical health records.</a:t>
            </a:r>
            <a:endParaRPr sz="1100">
              <a:solidFill>
                <a:schemeClr val="dk1"/>
              </a:solidFill>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Data Preprocessing:</a:t>
            </a:r>
            <a:r>
              <a:rPr lang="en-US" sz="1100">
                <a:solidFill>
                  <a:schemeClr val="dk1"/>
                </a:solidFill>
              </a:rPr>
              <a:t>Cleaned sensor data, handled missing/noisy values, normalized streams.</a:t>
            </a:r>
            <a:endParaRPr sz="1100">
              <a:solidFill>
                <a:schemeClr val="dk1"/>
              </a:solidFill>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Feature Engineering / Selection: </a:t>
            </a:r>
            <a:r>
              <a:rPr lang="en-US" sz="1100">
                <a:solidFill>
                  <a:schemeClr val="dk1"/>
                </a:solidFill>
              </a:rPr>
              <a:t>Using information gain, which measures how much a feature reduces prediction uncertainty when used to split the data.</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Modeling: </a:t>
            </a:r>
            <a:r>
              <a:rPr lang="en-US" sz="1100">
                <a:solidFill>
                  <a:schemeClr val="dk1"/>
                </a:solidFill>
              </a:rPr>
              <a:t>Decision Tree, Random Forest, Gradient Boosting (on Spark Streaming pipeline).</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Evaluation:</a:t>
            </a:r>
            <a:r>
              <a:rPr lang="en-US" sz="1100">
                <a:solidFill>
                  <a:schemeClr val="dk1"/>
                </a:solidFill>
              </a:rPr>
              <a:t> Accuracy, Precision, Recall, F1-score.</a:t>
            </a:r>
            <a:endParaRPr sz="1100">
              <a:solidFill>
                <a:schemeClr val="dk1"/>
              </a:solidFill>
            </a:endParaRPr>
          </a:p>
          <a:p>
            <a:pPr marL="457200" marR="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Technologies</a:t>
            </a:r>
            <a:r>
              <a:rPr lang="en-US" sz="1200">
                <a:solidFill>
                  <a:schemeClr val="dk1"/>
                </a:solidFill>
                <a:latin typeface="Outfit"/>
                <a:ea typeface="Outfit"/>
                <a:cs typeface="Outfit"/>
                <a:sym typeface="Outfit"/>
              </a:rPr>
              <a:t>: Apache Spark (batch + streaming), IoT sensors.</a:t>
            </a:r>
            <a:endParaRPr sz="1100" b="1">
              <a:solidFill>
                <a:schemeClr val="dk1"/>
              </a:solidFill>
            </a:endParaRPr>
          </a:p>
          <a:p>
            <a:pPr marL="0" marR="0" lvl="0" indent="0" algn="just" rtl="0">
              <a:lnSpc>
                <a:spcPct val="166666"/>
              </a:lnSpc>
              <a:spcBef>
                <a:spcPts val="0"/>
              </a:spcBef>
              <a:spcAft>
                <a:spcPts val="0"/>
              </a:spcAft>
              <a:buNone/>
            </a:pPr>
            <a:endParaRPr sz="1200">
              <a:solidFill>
                <a:schemeClr val="dk1"/>
              </a:solidFill>
              <a:latin typeface="Outfit"/>
              <a:ea typeface="Outfit"/>
              <a:cs typeface="Outfit"/>
              <a:sym typeface="Outfit"/>
            </a:endParaRPr>
          </a:p>
        </p:txBody>
      </p:sp>
      <p:sp>
        <p:nvSpPr>
          <p:cNvPr id="132" name="Google Shape;132;g3ad127638c4_0_391"/>
          <p:cNvSpPr txBox="1"/>
          <p:nvPr/>
        </p:nvSpPr>
        <p:spPr>
          <a:xfrm>
            <a:off x="389100" y="1973450"/>
            <a:ext cx="3749100" cy="3123900"/>
          </a:xfrm>
          <a:prstGeom prst="rect">
            <a:avLst/>
          </a:prstGeom>
          <a:noFill/>
          <a:ln>
            <a:noFill/>
          </a:ln>
        </p:spPr>
        <p:txBody>
          <a:bodyPr spcFirstLastPara="1" wrap="square" lIns="91425" tIns="91425" rIns="91425" bIns="91425" anchor="t" anchorCtr="0">
            <a:noAutofit/>
          </a:bodyPr>
          <a:lstStyle/>
          <a:p>
            <a:pPr marL="45720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key Findings</a:t>
            </a:r>
            <a:r>
              <a:rPr lang="en-US" sz="1200">
                <a:solidFill>
                  <a:schemeClr val="dk1"/>
                </a:solidFill>
                <a:latin typeface="Outfit"/>
                <a:ea typeface="Outfit"/>
                <a:cs typeface="Outfit"/>
                <a:sym typeface="Outfit"/>
              </a:rPr>
              <a:t>:  accuracy improved when historical + streaming data combined. ( 78%)</a:t>
            </a:r>
            <a:endParaRPr sz="1200">
              <a:solidFill>
                <a:schemeClr val="dk1"/>
              </a:solidFill>
              <a:latin typeface="Outfit"/>
              <a:ea typeface="Outfit"/>
              <a:cs typeface="Outfit"/>
              <a:sym typeface="Outfit"/>
            </a:endParaRPr>
          </a:p>
          <a:p>
            <a:pPr marL="45720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Future suggestions</a:t>
            </a:r>
            <a:r>
              <a:rPr lang="en-US" sz="1200">
                <a:solidFill>
                  <a:schemeClr val="dk1"/>
                </a:solidFill>
                <a:latin typeface="Outfit"/>
                <a:ea typeface="Outfit"/>
                <a:cs typeface="Outfit"/>
                <a:sym typeface="Outfit"/>
              </a:rPr>
              <a:t> : </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Add more health indicators (features) for broader prediction.</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Scale to larger IoT networks.</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Multi-institution validation.</a:t>
            </a:r>
            <a:endParaRPr sz="1200">
              <a:solidFill>
                <a:schemeClr val="dk1"/>
              </a:solidFill>
              <a:latin typeface="Outfit"/>
              <a:ea typeface="Outfit"/>
              <a:cs typeface="Outfit"/>
              <a:sym typeface="Outfi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g3ad127638c4_1_17"/>
          <p:cNvSpPr/>
          <p:nvPr/>
        </p:nvSpPr>
        <p:spPr>
          <a:xfrm>
            <a:off x="3657600" y="0"/>
            <a:ext cx="91500" cy="154320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9" name="Google Shape;139;g3ad127638c4_1_17" descr="Opened the Holy Bible close up prayer time on eyeglasses (provided by Getty Images)"/>
          <p:cNvPicPr preferRelativeResize="0"/>
          <p:nvPr/>
        </p:nvPicPr>
        <p:blipFill rotWithShape="1">
          <a:blip r:embed="rId3">
            <a:alphaModFix/>
          </a:blip>
          <a:srcRect l="28376" r="28372"/>
          <a:stretch/>
        </p:blipFill>
        <p:spPr>
          <a:xfrm>
            <a:off x="320050" y="0"/>
            <a:ext cx="1870950" cy="1891149"/>
          </a:xfrm>
          <a:prstGeom prst="rect">
            <a:avLst/>
          </a:prstGeom>
          <a:noFill/>
          <a:ln>
            <a:noFill/>
          </a:ln>
        </p:spPr>
      </p:pic>
      <p:pic>
        <p:nvPicPr>
          <p:cNvPr id="140" name="Google Shape;140;g3ad127638c4_1_17" descr="https://djgurnpwsdoqjscwqbsj.supabase.co/storage/v1/object/public/users_file_magicslides_io/grayscale_image.png"/>
          <p:cNvPicPr preferRelativeResize="0"/>
          <p:nvPr/>
        </p:nvPicPr>
        <p:blipFill rotWithShape="1">
          <a:blip r:embed="rId4">
            <a:alphaModFix/>
          </a:blip>
          <a:srcRect/>
          <a:stretch/>
        </p:blipFill>
        <p:spPr>
          <a:xfrm>
            <a:off x="4206240" y="1800225"/>
            <a:ext cx="365760" cy="365760"/>
          </a:xfrm>
          <a:prstGeom prst="rect">
            <a:avLst/>
          </a:prstGeom>
          <a:noFill/>
          <a:ln>
            <a:noFill/>
          </a:ln>
        </p:spPr>
      </p:pic>
      <p:sp>
        <p:nvSpPr>
          <p:cNvPr id="141" name="Google Shape;141;g3ad127638c4_1_17"/>
          <p:cNvSpPr/>
          <p:nvPr/>
        </p:nvSpPr>
        <p:spPr>
          <a:xfrm>
            <a:off x="0" y="0"/>
            <a:ext cx="32010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g3ad127638c4_1_17"/>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g3ad127638c4_1_17"/>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7</a:t>
            </a:r>
            <a:endParaRPr sz="1800" b="0" i="0" u="none" strike="noStrike" cap="none">
              <a:solidFill>
                <a:schemeClr val="dk1"/>
              </a:solidFill>
              <a:latin typeface="Calibri"/>
              <a:ea typeface="Calibri"/>
              <a:cs typeface="Calibri"/>
              <a:sym typeface="Calibri"/>
            </a:endParaRPr>
          </a:p>
        </p:txBody>
      </p:sp>
      <p:sp>
        <p:nvSpPr>
          <p:cNvPr id="144" name="Google Shape;144;g3ad127638c4_1_17"/>
          <p:cNvSpPr/>
          <p:nvPr/>
        </p:nvSpPr>
        <p:spPr>
          <a:xfrm>
            <a:off x="4114800" y="575792"/>
            <a:ext cx="43890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1200"/>
              </a:spcBef>
              <a:spcAft>
                <a:spcPts val="1200"/>
              </a:spcAft>
              <a:buClr>
                <a:schemeClr val="dk1"/>
              </a:buClr>
              <a:buSzPts val="1100"/>
              <a:buFont typeface="Arial"/>
              <a:buNone/>
            </a:pPr>
            <a:r>
              <a:rPr lang="en-US" sz="2800" b="1">
                <a:solidFill>
                  <a:srgbClr val="1A6847"/>
                </a:solidFill>
                <a:latin typeface="Outfit"/>
                <a:ea typeface="Outfit"/>
                <a:cs typeface="Outfit"/>
                <a:sym typeface="Outfit"/>
              </a:rPr>
              <a:t>Literature Review</a:t>
            </a:r>
            <a:endParaRPr sz="2800" b="1" i="0" u="none" strike="noStrike" cap="none">
              <a:solidFill>
                <a:srgbClr val="1A6847"/>
              </a:solidFill>
              <a:latin typeface="Outfit"/>
              <a:ea typeface="Outfit"/>
              <a:cs typeface="Outfit"/>
              <a:sym typeface="Outfit"/>
            </a:endParaRPr>
          </a:p>
        </p:txBody>
      </p:sp>
      <p:sp>
        <p:nvSpPr>
          <p:cNvPr id="145" name="Google Shape;145;g3ad127638c4_1_17"/>
          <p:cNvSpPr/>
          <p:nvPr/>
        </p:nvSpPr>
        <p:spPr>
          <a:xfrm>
            <a:off x="4572000" y="1697355"/>
            <a:ext cx="37491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alibri"/>
              <a:ea typeface="Calibri"/>
              <a:cs typeface="Calibri"/>
              <a:sym typeface="Calibri"/>
            </a:endParaRPr>
          </a:p>
        </p:txBody>
      </p:sp>
      <p:sp>
        <p:nvSpPr>
          <p:cNvPr id="146" name="Google Shape;146;g3ad127638c4_1_17"/>
          <p:cNvSpPr/>
          <p:nvPr/>
        </p:nvSpPr>
        <p:spPr>
          <a:xfrm>
            <a:off x="4006025" y="1135445"/>
            <a:ext cx="4389000" cy="2314500"/>
          </a:xfrm>
          <a:prstGeom prst="rect">
            <a:avLst/>
          </a:prstGeom>
          <a:noFill/>
          <a:ln>
            <a:noFill/>
          </a:ln>
        </p:spPr>
        <p:txBody>
          <a:bodyPr spcFirstLastPara="1" wrap="square" lIns="91425" tIns="45700" rIns="91425" bIns="45700" anchor="t" anchorCtr="0">
            <a:noAutofit/>
          </a:bodyPr>
          <a:lstStyle/>
          <a:p>
            <a:pPr marL="0" lvl="0" indent="0" algn="just" rtl="0">
              <a:lnSpc>
                <a:spcPct val="166666"/>
              </a:lnSpc>
              <a:spcBef>
                <a:spcPts val="0"/>
              </a:spcBef>
              <a:spcAft>
                <a:spcPts val="0"/>
              </a:spcAft>
              <a:buNone/>
            </a:pPr>
            <a:r>
              <a:rPr lang="en-US" sz="1300" b="1">
                <a:solidFill>
                  <a:schemeClr val="dk1"/>
                </a:solidFill>
                <a:latin typeface="Outfit"/>
                <a:ea typeface="Outfit"/>
                <a:cs typeface="Outfit"/>
                <a:sym typeface="Outfit"/>
              </a:rPr>
              <a:t>  3.  	EHR Analysis for Diabetes Management</a:t>
            </a:r>
            <a:endParaRPr sz="1300" b="1">
              <a:solidFill>
                <a:schemeClr val="dk1"/>
              </a:solidFill>
              <a:latin typeface="Outfit"/>
              <a:ea typeface="Outfit"/>
              <a:cs typeface="Outfit"/>
              <a:sym typeface="Outfit"/>
            </a:endParaRPr>
          </a:p>
          <a:p>
            <a:pPr marL="0" lvl="0" indent="0" algn="just" rtl="0">
              <a:lnSpc>
                <a:spcPct val="166666"/>
              </a:lnSpc>
              <a:spcBef>
                <a:spcPts val="0"/>
              </a:spcBef>
              <a:spcAft>
                <a:spcPts val="0"/>
              </a:spcAft>
              <a:buNone/>
            </a:pPr>
            <a:r>
              <a:rPr lang="en-US" sz="1300" b="1">
                <a:solidFill>
                  <a:schemeClr val="dk1"/>
                </a:solidFill>
                <a:latin typeface="Outfit"/>
                <a:ea typeface="Outfit"/>
                <a:cs typeface="Outfit"/>
                <a:sym typeface="Outfit"/>
              </a:rPr>
              <a:t>Real-time Health Status Prediction</a:t>
            </a:r>
            <a:endParaRPr sz="1300" b="1">
              <a:solidFill>
                <a:schemeClr val="dk1"/>
              </a:solidFill>
              <a:latin typeface="Outfit"/>
              <a:ea typeface="Outfit"/>
              <a:cs typeface="Outfit"/>
              <a:sym typeface="Outfit"/>
            </a:endParaRPr>
          </a:p>
          <a:p>
            <a:pPr marL="45720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Goal</a:t>
            </a:r>
            <a:r>
              <a:rPr lang="en-US" sz="1200">
                <a:solidFill>
                  <a:schemeClr val="dk1"/>
                </a:solidFill>
                <a:latin typeface="Outfit"/>
                <a:ea typeface="Outfit"/>
                <a:cs typeface="Outfit"/>
                <a:sym typeface="Outfit"/>
              </a:rPr>
              <a:t>:  Improve diabetes prediction and management.</a:t>
            </a:r>
            <a:endParaRPr sz="1200">
              <a:solidFill>
                <a:schemeClr val="dk1"/>
              </a:solidFill>
              <a:latin typeface="Outfit"/>
              <a:ea typeface="Outfit"/>
              <a:cs typeface="Outfit"/>
              <a:sym typeface="Outfit"/>
            </a:endParaRPr>
          </a:p>
          <a:p>
            <a:pPr marL="457200" lvl="0" indent="-304800" algn="just" rtl="0">
              <a:lnSpc>
                <a:spcPct val="115000"/>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Method:  </a:t>
            </a:r>
            <a:r>
              <a:rPr lang="en-US" sz="1200">
                <a:solidFill>
                  <a:schemeClr val="dk1"/>
                </a:solidFill>
                <a:latin typeface="Outfit"/>
                <a:ea typeface="Outfit"/>
                <a:cs typeface="Outfit"/>
                <a:sym typeface="Outfit"/>
              </a:rPr>
              <a:t>ML on large-scale EHR data.</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Data: </a:t>
            </a:r>
            <a:r>
              <a:rPr lang="en-US" sz="1100">
                <a:solidFill>
                  <a:schemeClr val="dk1"/>
                </a:solidFill>
              </a:rPr>
              <a:t>EHR datasets across hospitals.</a:t>
            </a:r>
            <a:endParaRPr sz="1100">
              <a:solidFill>
                <a:schemeClr val="dk1"/>
              </a:solidFill>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Data Preprocessing: </a:t>
            </a:r>
            <a:r>
              <a:rPr lang="en-US" sz="1100">
                <a:solidFill>
                  <a:schemeClr val="dk1"/>
                </a:solidFill>
              </a:rPr>
              <a:t>Cleaned records, handled missing/inconsistent values, normalized numerical features.</a:t>
            </a:r>
            <a:endParaRPr sz="1100">
              <a:solidFill>
                <a:schemeClr val="dk1"/>
              </a:solidFill>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Feature Engineering / Selection: </a:t>
            </a:r>
            <a:r>
              <a:rPr lang="en-US" sz="1100">
                <a:solidFill>
                  <a:schemeClr val="dk1"/>
                </a:solidFill>
              </a:rPr>
              <a:t>Extracted clinical and demographic features; used ranking/selection methods to choose predictive features.</a:t>
            </a:r>
            <a:endParaRPr sz="1100">
              <a:solidFill>
                <a:schemeClr val="dk1"/>
              </a:solidFill>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Modeling: </a:t>
            </a:r>
            <a:r>
              <a:rPr lang="en-US" sz="1100">
                <a:solidFill>
                  <a:schemeClr val="dk1"/>
                </a:solidFill>
              </a:rPr>
              <a:t>Random Forest, Logistic Regression, Gradient Boosting (Spark MLlib).</a:t>
            </a:r>
            <a:endParaRPr sz="1100" b="1">
              <a:solidFill>
                <a:schemeClr val="dk1"/>
              </a:solidFill>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Evaluation: </a:t>
            </a:r>
            <a:r>
              <a:rPr lang="en-US" sz="1100">
                <a:solidFill>
                  <a:schemeClr val="dk1"/>
                </a:solidFill>
              </a:rPr>
              <a:t>Accuracy, Precision, Recall, F1-score.</a:t>
            </a:r>
            <a:endParaRPr sz="1100">
              <a:solidFill>
                <a:schemeClr val="dk1"/>
              </a:solidFill>
            </a:endParaRPr>
          </a:p>
          <a:p>
            <a:pPr marL="45720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Technologies</a:t>
            </a:r>
            <a:r>
              <a:rPr lang="en-US" sz="1200">
                <a:solidFill>
                  <a:schemeClr val="dk1"/>
                </a:solidFill>
                <a:latin typeface="Outfit"/>
                <a:ea typeface="Outfit"/>
                <a:cs typeface="Outfit"/>
                <a:sym typeface="Outfit"/>
              </a:rPr>
              <a:t>: Apache Spark, ML modules</a:t>
            </a:r>
            <a:endParaRPr sz="1200">
              <a:solidFill>
                <a:schemeClr val="dk1"/>
              </a:solidFill>
              <a:latin typeface="Outfit"/>
              <a:ea typeface="Outfit"/>
              <a:cs typeface="Outfit"/>
              <a:sym typeface="Outfit"/>
            </a:endParaRPr>
          </a:p>
          <a:p>
            <a:pPr marL="0" lvl="0" indent="0" algn="just" rtl="0">
              <a:lnSpc>
                <a:spcPct val="166666"/>
              </a:lnSpc>
              <a:spcBef>
                <a:spcPts val="0"/>
              </a:spcBef>
              <a:spcAft>
                <a:spcPts val="0"/>
              </a:spcAft>
              <a:buNone/>
            </a:pPr>
            <a:endParaRPr sz="1200">
              <a:solidFill>
                <a:schemeClr val="dk1"/>
              </a:solidFill>
              <a:latin typeface="Outfit"/>
              <a:ea typeface="Outfit"/>
              <a:cs typeface="Outfit"/>
              <a:sym typeface="Outfit"/>
            </a:endParaRPr>
          </a:p>
          <a:p>
            <a:pPr marL="0" lvl="0" indent="0" algn="just" rtl="0">
              <a:lnSpc>
                <a:spcPct val="166666"/>
              </a:lnSpc>
              <a:spcBef>
                <a:spcPts val="0"/>
              </a:spcBef>
              <a:spcAft>
                <a:spcPts val="0"/>
              </a:spcAft>
              <a:buNone/>
            </a:pPr>
            <a:endParaRPr sz="1200">
              <a:solidFill>
                <a:schemeClr val="dk1"/>
              </a:solidFill>
              <a:latin typeface="Outfit"/>
              <a:ea typeface="Outfit"/>
              <a:cs typeface="Outfit"/>
              <a:sym typeface="Outfit"/>
            </a:endParaRPr>
          </a:p>
          <a:p>
            <a:pPr marL="0" marR="0" lvl="0" indent="0" algn="just" rtl="0">
              <a:lnSpc>
                <a:spcPct val="166666"/>
              </a:lnSpc>
              <a:spcBef>
                <a:spcPts val="0"/>
              </a:spcBef>
              <a:spcAft>
                <a:spcPts val="0"/>
              </a:spcAft>
              <a:buNone/>
            </a:pPr>
            <a:endParaRPr sz="1300" b="1">
              <a:solidFill>
                <a:schemeClr val="dk1"/>
              </a:solidFill>
              <a:latin typeface="Outfit"/>
              <a:ea typeface="Outfit"/>
              <a:cs typeface="Outfit"/>
              <a:sym typeface="Outfit"/>
            </a:endParaRPr>
          </a:p>
        </p:txBody>
      </p:sp>
      <p:sp>
        <p:nvSpPr>
          <p:cNvPr id="147" name="Google Shape;147;g3ad127638c4_1_17"/>
          <p:cNvSpPr txBox="1"/>
          <p:nvPr/>
        </p:nvSpPr>
        <p:spPr>
          <a:xfrm>
            <a:off x="389100" y="1973450"/>
            <a:ext cx="3749100" cy="3123900"/>
          </a:xfrm>
          <a:prstGeom prst="rect">
            <a:avLst/>
          </a:prstGeom>
          <a:noFill/>
          <a:ln>
            <a:noFill/>
          </a:ln>
        </p:spPr>
        <p:txBody>
          <a:bodyPr spcFirstLastPara="1" wrap="square" lIns="91425" tIns="91425" rIns="91425" bIns="91425" anchor="t" anchorCtr="0">
            <a:noAutofit/>
          </a:bodyPr>
          <a:lstStyle/>
          <a:p>
            <a:pPr marL="45720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key Findings</a:t>
            </a:r>
            <a:r>
              <a:rPr lang="en-US" sz="1200">
                <a:solidFill>
                  <a:schemeClr val="dk1"/>
                </a:solidFill>
                <a:latin typeface="Outfit"/>
                <a:ea typeface="Outfit"/>
                <a:cs typeface="Outfit"/>
                <a:sym typeface="Outfit"/>
              </a:rPr>
              <a:t>:  scalable analytics enabled effective diabetes prediction. (85%)</a:t>
            </a:r>
            <a:endParaRPr sz="1200">
              <a:solidFill>
                <a:schemeClr val="dk1"/>
              </a:solidFill>
              <a:latin typeface="Outfit"/>
              <a:ea typeface="Outfit"/>
              <a:cs typeface="Outfit"/>
              <a:sym typeface="Outfit"/>
            </a:endParaRPr>
          </a:p>
          <a:p>
            <a:pPr marL="45720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Future suggestions</a:t>
            </a:r>
            <a:r>
              <a:rPr lang="en-US" sz="1200">
                <a:solidFill>
                  <a:schemeClr val="dk1"/>
                </a:solidFill>
                <a:latin typeface="Outfit"/>
                <a:ea typeface="Outfit"/>
                <a:cs typeface="Outfit"/>
                <a:sym typeface="Outfit"/>
              </a:rPr>
              <a:t> : </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Data integration.</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Privacy improvements. </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Expand datasets and improve interpretability (</a:t>
            </a:r>
            <a:r>
              <a:rPr lang="en-US" sz="1100">
                <a:solidFill>
                  <a:schemeClr val="dk1"/>
                </a:solidFill>
              </a:rPr>
              <a:t>Understandability</a:t>
            </a:r>
            <a:r>
              <a:rPr lang="en-US" sz="1200">
                <a:solidFill>
                  <a:schemeClr val="dk1"/>
                </a:solidFill>
                <a:latin typeface="Outfit"/>
                <a:ea typeface="Outfit"/>
                <a:cs typeface="Outfit"/>
                <a:sym typeface="Outfit"/>
              </a:rPr>
              <a:t>).</a:t>
            </a:r>
            <a:endParaRPr sz="1200">
              <a:solidFill>
                <a:schemeClr val="dk1"/>
              </a:solidFill>
              <a:latin typeface="Outfit"/>
              <a:ea typeface="Outfit"/>
              <a:cs typeface="Outfit"/>
              <a:sym typeface="Outfi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ad127638c4_1_31"/>
          <p:cNvSpPr/>
          <p:nvPr/>
        </p:nvSpPr>
        <p:spPr>
          <a:xfrm>
            <a:off x="3657600" y="0"/>
            <a:ext cx="91500" cy="154320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54" name="Google Shape;154;g3ad127638c4_1_31" descr="Opened the Holy Bible close up prayer time on eyeglasses (provided by Getty Images)"/>
          <p:cNvPicPr preferRelativeResize="0"/>
          <p:nvPr/>
        </p:nvPicPr>
        <p:blipFill rotWithShape="1">
          <a:blip r:embed="rId3">
            <a:alphaModFix/>
          </a:blip>
          <a:srcRect l="28376" r="28372"/>
          <a:stretch/>
        </p:blipFill>
        <p:spPr>
          <a:xfrm>
            <a:off x="320050" y="0"/>
            <a:ext cx="1870950" cy="1891149"/>
          </a:xfrm>
          <a:prstGeom prst="rect">
            <a:avLst/>
          </a:prstGeom>
          <a:noFill/>
          <a:ln>
            <a:noFill/>
          </a:ln>
        </p:spPr>
      </p:pic>
      <p:pic>
        <p:nvPicPr>
          <p:cNvPr id="155" name="Google Shape;155;g3ad127638c4_1_31" descr="https://djgurnpwsdoqjscwqbsj.supabase.co/storage/v1/object/public/users_file_magicslides_io/grayscale_image.png"/>
          <p:cNvPicPr preferRelativeResize="0"/>
          <p:nvPr/>
        </p:nvPicPr>
        <p:blipFill rotWithShape="1">
          <a:blip r:embed="rId4">
            <a:alphaModFix/>
          </a:blip>
          <a:srcRect/>
          <a:stretch/>
        </p:blipFill>
        <p:spPr>
          <a:xfrm>
            <a:off x="4206240" y="1800225"/>
            <a:ext cx="365760" cy="365760"/>
          </a:xfrm>
          <a:prstGeom prst="rect">
            <a:avLst/>
          </a:prstGeom>
          <a:noFill/>
          <a:ln>
            <a:noFill/>
          </a:ln>
        </p:spPr>
      </p:pic>
      <p:sp>
        <p:nvSpPr>
          <p:cNvPr id="156" name="Google Shape;156;g3ad127638c4_1_31"/>
          <p:cNvSpPr/>
          <p:nvPr/>
        </p:nvSpPr>
        <p:spPr>
          <a:xfrm>
            <a:off x="0" y="0"/>
            <a:ext cx="32010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g3ad127638c4_1_31"/>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g3ad127638c4_1_31"/>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8</a:t>
            </a:r>
            <a:endParaRPr sz="1800" b="0" i="0" u="none" strike="noStrike" cap="none">
              <a:solidFill>
                <a:schemeClr val="dk1"/>
              </a:solidFill>
              <a:latin typeface="Calibri"/>
              <a:ea typeface="Calibri"/>
              <a:cs typeface="Calibri"/>
              <a:sym typeface="Calibri"/>
            </a:endParaRPr>
          </a:p>
        </p:txBody>
      </p:sp>
      <p:sp>
        <p:nvSpPr>
          <p:cNvPr id="159" name="Google Shape;159;g3ad127638c4_1_31"/>
          <p:cNvSpPr/>
          <p:nvPr/>
        </p:nvSpPr>
        <p:spPr>
          <a:xfrm>
            <a:off x="4114800" y="575792"/>
            <a:ext cx="43890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1200"/>
              </a:spcBef>
              <a:spcAft>
                <a:spcPts val="1200"/>
              </a:spcAft>
              <a:buClr>
                <a:schemeClr val="dk1"/>
              </a:buClr>
              <a:buSzPts val="1100"/>
              <a:buFont typeface="Arial"/>
              <a:buNone/>
            </a:pPr>
            <a:r>
              <a:rPr lang="en-US" sz="2800" b="1">
                <a:solidFill>
                  <a:srgbClr val="1A6847"/>
                </a:solidFill>
                <a:latin typeface="Outfit"/>
                <a:ea typeface="Outfit"/>
                <a:cs typeface="Outfit"/>
                <a:sym typeface="Outfit"/>
              </a:rPr>
              <a:t>Literature Review</a:t>
            </a:r>
            <a:endParaRPr sz="2800" b="1" i="0" u="none" strike="noStrike" cap="none">
              <a:solidFill>
                <a:srgbClr val="1A6847"/>
              </a:solidFill>
              <a:latin typeface="Outfit"/>
              <a:ea typeface="Outfit"/>
              <a:cs typeface="Outfit"/>
              <a:sym typeface="Outfit"/>
            </a:endParaRPr>
          </a:p>
        </p:txBody>
      </p:sp>
      <p:sp>
        <p:nvSpPr>
          <p:cNvPr id="160" name="Google Shape;160;g3ad127638c4_1_31"/>
          <p:cNvSpPr/>
          <p:nvPr/>
        </p:nvSpPr>
        <p:spPr>
          <a:xfrm>
            <a:off x="4572000" y="1697355"/>
            <a:ext cx="37491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alibri"/>
              <a:ea typeface="Calibri"/>
              <a:cs typeface="Calibri"/>
              <a:sym typeface="Calibri"/>
            </a:endParaRPr>
          </a:p>
        </p:txBody>
      </p:sp>
      <p:sp>
        <p:nvSpPr>
          <p:cNvPr id="161" name="Google Shape;161;g3ad127638c4_1_31"/>
          <p:cNvSpPr/>
          <p:nvPr/>
        </p:nvSpPr>
        <p:spPr>
          <a:xfrm>
            <a:off x="4006025" y="1135451"/>
            <a:ext cx="4389000" cy="2602200"/>
          </a:xfrm>
          <a:prstGeom prst="rect">
            <a:avLst/>
          </a:prstGeom>
          <a:noFill/>
          <a:ln>
            <a:noFill/>
          </a:ln>
        </p:spPr>
        <p:txBody>
          <a:bodyPr spcFirstLastPara="1" wrap="square" lIns="91425" tIns="45700" rIns="91425" bIns="45700" anchor="t" anchorCtr="0">
            <a:noAutofit/>
          </a:bodyPr>
          <a:lstStyle/>
          <a:p>
            <a:pPr marL="0" marR="0" lvl="0" indent="0" algn="just" rtl="0">
              <a:lnSpc>
                <a:spcPct val="166666"/>
              </a:lnSpc>
              <a:spcBef>
                <a:spcPts val="0"/>
              </a:spcBef>
              <a:spcAft>
                <a:spcPts val="0"/>
              </a:spcAft>
              <a:buNone/>
            </a:pPr>
            <a:r>
              <a:rPr lang="en-US" sz="1300" b="1">
                <a:solidFill>
                  <a:schemeClr val="dk1"/>
                </a:solidFill>
                <a:latin typeface="Outfit"/>
                <a:ea typeface="Outfit"/>
                <a:cs typeface="Outfit"/>
                <a:sym typeface="Outfit"/>
              </a:rPr>
              <a:t>  4.  	Apache Spark in Healthcare (Review)</a:t>
            </a:r>
            <a:endParaRPr sz="1300" b="1">
              <a:solidFill>
                <a:schemeClr val="dk1"/>
              </a:solidFill>
              <a:latin typeface="Outfit"/>
              <a:ea typeface="Outfit"/>
              <a:cs typeface="Outfit"/>
              <a:sym typeface="Outfit"/>
            </a:endParaRPr>
          </a:p>
          <a:p>
            <a:pPr marL="457200" marR="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Goal</a:t>
            </a:r>
            <a:r>
              <a:rPr lang="en-US" sz="1200">
                <a:solidFill>
                  <a:schemeClr val="dk1"/>
                </a:solidFill>
                <a:latin typeface="Outfit"/>
                <a:ea typeface="Outfit"/>
                <a:cs typeface="Outfit"/>
                <a:sym typeface="Outfit"/>
              </a:rPr>
              <a:t>: Show how Spark improves healthcare operations and analytics.</a:t>
            </a:r>
            <a:endParaRPr sz="1200">
              <a:solidFill>
                <a:schemeClr val="dk1"/>
              </a:solidFill>
              <a:latin typeface="Outfit"/>
              <a:ea typeface="Outfit"/>
              <a:cs typeface="Outfit"/>
              <a:sym typeface="Outfit"/>
            </a:endParaRPr>
          </a:p>
          <a:p>
            <a:pPr marL="457200" marR="0" lvl="0" indent="-304800" algn="just" rtl="0">
              <a:lnSpc>
                <a:spcPct val="115000"/>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Method:  </a:t>
            </a:r>
            <a:r>
              <a:rPr lang="en-US" sz="1200">
                <a:solidFill>
                  <a:schemeClr val="dk1"/>
                </a:solidFill>
                <a:latin typeface="Outfit"/>
                <a:ea typeface="Outfit"/>
                <a:cs typeface="Outfit"/>
                <a:sym typeface="Outfit"/>
              </a:rPr>
              <a:t>Review of case studies and Spark-based ML/AI pipelines.</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Data :</a:t>
            </a:r>
            <a:r>
              <a:rPr lang="en-US" sz="1100">
                <a:solidFill>
                  <a:schemeClr val="dk1"/>
                </a:solidFill>
              </a:rPr>
              <a:t>EHR, imaging, remote monitoring datasets.</a:t>
            </a:r>
            <a:endParaRPr sz="1100">
              <a:solidFill>
                <a:schemeClr val="dk1"/>
              </a:solidFill>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Data Preprocessing: </a:t>
            </a:r>
            <a:r>
              <a:rPr lang="en-US" sz="1100">
                <a:solidFill>
                  <a:schemeClr val="dk1"/>
                </a:solidFill>
              </a:rPr>
              <a:t>Standardized pipelines for batch and streaming analyses.</a:t>
            </a:r>
            <a:endParaRPr sz="1100">
              <a:solidFill>
                <a:schemeClr val="dk1"/>
              </a:solidFill>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Feature Engineering / Selection: </a:t>
            </a:r>
            <a:r>
              <a:rPr lang="en-US" sz="1100">
                <a:solidFill>
                  <a:schemeClr val="dk1"/>
                </a:solidFill>
              </a:rPr>
              <a:t>Using information gain or standard ranking methods described in studies to select predictive features.</a:t>
            </a:r>
            <a:endParaRPr sz="1100">
              <a:solidFill>
                <a:schemeClr val="dk1"/>
              </a:solidFill>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Modeling: </a:t>
            </a:r>
            <a:r>
              <a:rPr lang="en-US" sz="1100">
                <a:solidFill>
                  <a:schemeClr val="dk1"/>
                </a:solidFill>
              </a:rPr>
              <a:t>ML models (Random Forest, Logistic Regression) and AI frameworks integrated with Spark.</a:t>
            </a:r>
            <a:endParaRPr sz="1100">
              <a:solidFill>
                <a:schemeClr val="dk1"/>
              </a:solidFill>
            </a:endParaRPr>
          </a:p>
          <a:p>
            <a:pPr marL="914400" lvl="1" indent="-304800" algn="l" rtl="0">
              <a:lnSpc>
                <a:spcPct val="115000"/>
              </a:lnSpc>
              <a:spcBef>
                <a:spcPts val="0"/>
              </a:spcBef>
              <a:spcAft>
                <a:spcPts val="0"/>
              </a:spcAft>
              <a:buClr>
                <a:schemeClr val="dk1"/>
              </a:buClr>
              <a:buSzPts val="1200"/>
              <a:buFont typeface="Outfit"/>
              <a:buChar char="-"/>
            </a:pPr>
            <a:r>
              <a:rPr lang="en-US" sz="1100" b="1">
                <a:solidFill>
                  <a:schemeClr val="dk1"/>
                </a:solidFill>
              </a:rPr>
              <a:t>Evaluation: </a:t>
            </a:r>
            <a:r>
              <a:rPr lang="en-US" sz="1100">
                <a:solidFill>
                  <a:schemeClr val="dk1"/>
                </a:solidFill>
              </a:rPr>
              <a:t>Efficiency, speed, scalability.</a:t>
            </a:r>
            <a:endParaRPr sz="1100">
              <a:solidFill>
                <a:schemeClr val="dk1"/>
              </a:solidFill>
            </a:endParaRPr>
          </a:p>
          <a:p>
            <a:pPr marL="457200" marR="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Technologies</a:t>
            </a:r>
            <a:r>
              <a:rPr lang="en-US" sz="1200">
                <a:solidFill>
                  <a:schemeClr val="dk1"/>
                </a:solidFill>
                <a:latin typeface="Outfit"/>
                <a:ea typeface="Outfit"/>
                <a:cs typeface="Outfit"/>
                <a:sym typeface="Outfit"/>
              </a:rPr>
              <a:t>: Apache Spark, ML/AI frameworks.</a:t>
            </a:r>
            <a:endParaRPr sz="1100" b="1">
              <a:solidFill>
                <a:schemeClr val="dk1"/>
              </a:solidFill>
            </a:endParaRPr>
          </a:p>
          <a:p>
            <a:pPr marL="0" marR="0" lvl="0" indent="0" algn="just" rtl="0">
              <a:lnSpc>
                <a:spcPct val="166666"/>
              </a:lnSpc>
              <a:spcBef>
                <a:spcPts val="0"/>
              </a:spcBef>
              <a:spcAft>
                <a:spcPts val="0"/>
              </a:spcAft>
              <a:buNone/>
            </a:pPr>
            <a:endParaRPr sz="1200">
              <a:solidFill>
                <a:schemeClr val="dk1"/>
              </a:solidFill>
              <a:latin typeface="Outfit"/>
              <a:ea typeface="Outfit"/>
              <a:cs typeface="Outfit"/>
              <a:sym typeface="Outfit"/>
            </a:endParaRPr>
          </a:p>
        </p:txBody>
      </p:sp>
      <p:sp>
        <p:nvSpPr>
          <p:cNvPr id="162" name="Google Shape;162;g3ad127638c4_1_31"/>
          <p:cNvSpPr txBox="1"/>
          <p:nvPr/>
        </p:nvSpPr>
        <p:spPr>
          <a:xfrm>
            <a:off x="389100" y="1973450"/>
            <a:ext cx="3749100" cy="3123900"/>
          </a:xfrm>
          <a:prstGeom prst="rect">
            <a:avLst/>
          </a:prstGeom>
          <a:noFill/>
          <a:ln>
            <a:noFill/>
          </a:ln>
        </p:spPr>
        <p:txBody>
          <a:bodyPr spcFirstLastPara="1" wrap="square" lIns="91425" tIns="91425" rIns="91425" bIns="91425" anchor="t" anchorCtr="0">
            <a:noAutofit/>
          </a:bodyPr>
          <a:lstStyle/>
          <a:p>
            <a:pPr marL="45720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key Findings</a:t>
            </a:r>
            <a:r>
              <a:rPr lang="en-US" sz="1200">
                <a:solidFill>
                  <a:schemeClr val="dk1"/>
                </a:solidFill>
                <a:latin typeface="Outfit"/>
                <a:ea typeface="Outfit"/>
                <a:cs typeface="Outfit"/>
                <a:sym typeface="Outfit"/>
              </a:rPr>
              <a:t>: Data processing speed improved 2–5x; predictive insights more scalable.</a:t>
            </a:r>
            <a:endParaRPr sz="1200">
              <a:solidFill>
                <a:schemeClr val="dk1"/>
              </a:solidFill>
              <a:latin typeface="Outfit"/>
              <a:ea typeface="Outfit"/>
              <a:cs typeface="Outfit"/>
              <a:sym typeface="Outfit"/>
            </a:endParaRPr>
          </a:p>
          <a:p>
            <a:pPr marL="45720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Future suggestions</a:t>
            </a:r>
            <a:r>
              <a:rPr lang="en-US" sz="1200">
                <a:solidFill>
                  <a:schemeClr val="dk1"/>
                </a:solidFill>
                <a:latin typeface="Outfit"/>
                <a:ea typeface="Outfit"/>
                <a:cs typeface="Outfit"/>
                <a:sym typeface="Outfit"/>
              </a:rPr>
              <a:t> : </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Real-time analytics. </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IoMT integration (Internet of Medical Things).</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Security/privacy.</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Scalability.</a:t>
            </a:r>
            <a:endParaRPr sz="1200">
              <a:solidFill>
                <a:schemeClr val="dk1"/>
              </a:solidFill>
              <a:latin typeface="Outfit"/>
              <a:ea typeface="Outfit"/>
              <a:cs typeface="Outfit"/>
              <a:sym typeface="Outfi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3ad127638c4_1_45"/>
          <p:cNvSpPr/>
          <p:nvPr/>
        </p:nvSpPr>
        <p:spPr>
          <a:xfrm>
            <a:off x="3657600" y="0"/>
            <a:ext cx="91500" cy="154320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9" name="Google Shape;169;g3ad127638c4_1_45" descr="Opened the Holy Bible close up prayer time on eyeglasses (provided by Getty Images)"/>
          <p:cNvPicPr preferRelativeResize="0"/>
          <p:nvPr/>
        </p:nvPicPr>
        <p:blipFill rotWithShape="1">
          <a:blip r:embed="rId3">
            <a:alphaModFix/>
          </a:blip>
          <a:srcRect l="28376" r="28372"/>
          <a:stretch/>
        </p:blipFill>
        <p:spPr>
          <a:xfrm>
            <a:off x="320050" y="0"/>
            <a:ext cx="1870950" cy="1891149"/>
          </a:xfrm>
          <a:prstGeom prst="rect">
            <a:avLst/>
          </a:prstGeom>
          <a:noFill/>
          <a:ln>
            <a:noFill/>
          </a:ln>
        </p:spPr>
      </p:pic>
      <p:pic>
        <p:nvPicPr>
          <p:cNvPr id="170" name="Google Shape;170;g3ad127638c4_1_45" descr="https://djgurnpwsdoqjscwqbsj.supabase.co/storage/v1/object/public/users_file_magicslides_io/grayscale_image.png"/>
          <p:cNvPicPr preferRelativeResize="0"/>
          <p:nvPr/>
        </p:nvPicPr>
        <p:blipFill rotWithShape="1">
          <a:blip r:embed="rId4">
            <a:alphaModFix/>
          </a:blip>
          <a:srcRect/>
          <a:stretch/>
        </p:blipFill>
        <p:spPr>
          <a:xfrm>
            <a:off x="4206240" y="1800225"/>
            <a:ext cx="365760" cy="365760"/>
          </a:xfrm>
          <a:prstGeom prst="rect">
            <a:avLst/>
          </a:prstGeom>
          <a:noFill/>
          <a:ln>
            <a:noFill/>
          </a:ln>
        </p:spPr>
      </p:pic>
      <p:sp>
        <p:nvSpPr>
          <p:cNvPr id="171" name="Google Shape;171;g3ad127638c4_1_45"/>
          <p:cNvSpPr/>
          <p:nvPr/>
        </p:nvSpPr>
        <p:spPr>
          <a:xfrm>
            <a:off x="0" y="0"/>
            <a:ext cx="32010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g3ad127638c4_1_45"/>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g3ad127638c4_1_45"/>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9</a:t>
            </a:r>
            <a:endParaRPr sz="1800" b="0" i="0" u="none" strike="noStrike" cap="none">
              <a:solidFill>
                <a:schemeClr val="dk1"/>
              </a:solidFill>
              <a:latin typeface="Calibri"/>
              <a:ea typeface="Calibri"/>
              <a:cs typeface="Calibri"/>
              <a:sym typeface="Calibri"/>
            </a:endParaRPr>
          </a:p>
        </p:txBody>
      </p:sp>
      <p:sp>
        <p:nvSpPr>
          <p:cNvPr id="174" name="Google Shape;174;g3ad127638c4_1_45"/>
          <p:cNvSpPr/>
          <p:nvPr/>
        </p:nvSpPr>
        <p:spPr>
          <a:xfrm>
            <a:off x="4114800" y="575792"/>
            <a:ext cx="43890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1200"/>
              </a:spcBef>
              <a:spcAft>
                <a:spcPts val="1200"/>
              </a:spcAft>
              <a:buClr>
                <a:schemeClr val="dk1"/>
              </a:buClr>
              <a:buSzPts val="1100"/>
              <a:buFont typeface="Arial"/>
              <a:buNone/>
            </a:pPr>
            <a:r>
              <a:rPr lang="en-US" sz="2800" b="1">
                <a:solidFill>
                  <a:srgbClr val="1A6847"/>
                </a:solidFill>
                <a:latin typeface="Outfit"/>
                <a:ea typeface="Outfit"/>
                <a:cs typeface="Outfit"/>
                <a:sym typeface="Outfit"/>
              </a:rPr>
              <a:t>Literature Review</a:t>
            </a:r>
            <a:endParaRPr sz="2800" b="1" i="0" u="none" strike="noStrike" cap="none">
              <a:solidFill>
                <a:srgbClr val="1A6847"/>
              </a:solidFill>
              <a:latin typeface="Outfit"/>
              <a:ea typeface="Outfit"/>
              <a:cs typeface="Outfit"/>
              <a:sym typeface="Outfit"/>
            </a:endParaRPr>
          </a:p>
        </p:txBody>
      </p:sp>
      <p:sp>
        <p:nvSpPr>
          <p:cNvPr id="175" name="Google Shape;175;g3ad127638c4_1_45"/>
          <p:cNvSpPr/>
          <p:nvPr/>
        </p:nvSpPr>
        <p:spPr>
          <a:xfrm>
            <a:off x="4572000" y="1697355"/>
            <a:ext cx="37491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alibri"/>
              <a:ea typeface="Calibri"/>
              <a:cs typeface="Calibri"/>
              <a:sym typeface="Calibri"/>
            </a:endParaRPr>
          </a:p>
        </p:txBody>
      </p:sp>
      <p:sp>
        <p:nvSpPr>
          <p:cNvPr id="176" name="Google Shape;176;g3ad127638c4_1_45"/>
          <p:cNvSpPr/>
          <p:nvPr/>
        </p:nvSpPr>
        <p:spPr>
          <a:xfrm>
            <a:off x="4006025" y="1135445"/>
            <a:ext cx="4389000" cy="2314500"/>
          </a:xfrm>
          <a:prstGeom prst="rect">
            <a:avLst/>
          </a:prstGeom>
          <a:noFill/>
          <a:ln>
            <a:noFill/>
          </a:ln>
        </p:spPr>
        <p:txBody>
          <a:bodyPr spcFirstLastPara="1" wrap="square" lIns="91425" tIns="45700" rIns="91425" bIns="45700" anchor="t" anchorCtr="0">
            <a:noAutofit/>
          </a:bodyPr>
          <a:lstStyle/>
          <a:p>
            <a:pPr marL="0" marR="0" lvl="0" indent="0" algn="just" rtl="0">
              <a:lnSpc>
                <a:spcPct val="166666"/>
              </a:lnSpc>
              <a:spcBef>
                <a:spcPts val="0"/>
              </a:spcBef>
              <a:spcAft>
                <a:spcPts val="0"/>
              </a:spcAft>
              <a:buNone/>
            </a:pPr>
            <a:r>
              <a:rPr lang="en-US" sz="1300" b="1">
                <a:solidFill>
                  <a:schemeClr val="dk1"/>
                </a:solidFill>
                <a:latin typeface="Outfit"/>
                <a:ea typeface="Outfit"/>
                <a:cs typeface="Outfit"/>
                <a:sym typeface="Outfit"/>
              </a:rPr>
              <a:t>  5.  	Real-time SBP &amp; HR Prediction using TCN &amp; Spark</a:t>
            </a:r>
            <a:endParaRPr sz="1300" b="1">
              <a:solidFill>
                <a:schemeClr val="dk1"/>
              </a:solidFill>
              <a:latin typeface="Outfit"/>
              <a:ea typeface="Outfit"/>
              <a:cs typeface="Outfit"/>
              <a:sym typeface="Outfit"/>
            </a:endParaRPr>
          </a:p>
          <a:p>
            <a:pPr marL="457200" marR="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Goal</a:t>
            </a:r>
            <a:r>
              <a:rPr lang="en-US" sz="1200">
                <a:solidFill>
                  <a:schemeClr val="dk1"/>
                </a:solidFill>
                <a:latin typeface="Outfit"/>
                <a:ea typeface="Outfit"/>
                <a:cs typeface="Outfit"/>
                <a:sym typeface="Outfit"/>
              </a:rPr>
              <a:t>: Predict blood pressure and heart rate in real-time.</a:t>
            </a:r>
            <a:endParaRPr sz="1200">
              <a:solidFill>
                <a:schemeClr val="dk1"/>
              </a:solidFill>
              <a:latin typeface="Outfit"/>
              <a:ea typeface="Outfit"/>
              <a:cs typeface="Outfit"/>
              <a:sym typeface="Outfit"/>
            </a:endParaRPr>
          </a:p>
          <a:p>
            <a:pPr marL="457200" marR="0" lvl="0" indent="-304800" algn="just" rtl="0">
              <a:lnSpc>
                <a:spcPct val="115000"/>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Method: </a:t>
            </a:r>
            <a:r>
              <a:rPr lang="en-US" sz="1200">
                <a:solidFill>
                  <a:schemeClr val="dk1"/>
                </a:solidFill>
                <a:latin typeface="Outfit"/>
                <a:ea typeface="Outfit"/>
                <a:cs typeface="Outfit"/>
                <a:sym typeface="Outfit"/>
              </a:rPr>
              <a:t>Multi-task deep learning on streaming physiological data.</a:t>
            </a:r>
            <a:endParaRPr sz="1200">
              <a:solidFill>
                <a:schemeClr val="dk1"/>
              </a:solidFill>
              <a:latin typeface="Outfit"/>
              <a:ea typeface="Outfit"/>
              <a:cs typeface="Outfit"/>
              <a:sym typeface="Outfit"/>
            </a:endParaRPr>
          </a:p>
          <a:p>
            <a:pPr marL="914400" lvl="1" indent="-304800" algn="just" rtl="0">
              <a:lnSpc>
                <a:spcPct val="115000"/>
              </a:lnSpc>
              <a:spcBef>
                <a:spcPts val="0"/>
              </a:spcBef>
              <a:spcAft>
                <a:spcPts val="0"/>
              </a:spcAft>
              <a:buClr>
                <a:schemeClr val="dk1"/>
              </a:buClr>
              <a:buSzPts val="1200"/>
              <a:buFont typeface="Outfit"/>
              <a:buChar char="-"/>
            </a:pPr>
            <a:r>
              <a:rPr lang="en-US" sz="1100" b="1">
                <a:solidFill>
                  <a:schemeClr val="dk1"/>
                </a:solidFill>
              </a:rPr>
              <a:t>Data: </a:t>
            </a:r>
            <a:r>
              <a:rPr lang="en-US" sz="1100">
                <a:solidFill>
                  <a:schemeClr val="dk1"/>
                </a:solidFill>
              </a:rPr>
              <a:t>MIMIC-III physiological dataset (SBP + HR)</a:t>
            </a:r>
            <a:r>
              <a:rPr lang="en-US" sz="1100" b="1">
                <a:solidFill>
                  <a:schemeClr val="dk1"/>
                </a:solidFill>
              </a:rPr>
              <a:t>.</a:t>
            </a:r>
            <a:endParaRPr sz="1100" b="1">
              <a:solidFill>
                <a:schemeClr val="dk1"/>
              </a:solidFill>
            </a:endParaRPr>
          </a:p>
          <a:p>
            <a:pPr marL="914400" lvl="1" indent="-304800" algn="just" rtl="0">
              <a:lnSpc>
                <a:spcPct val="115000"/>
              </a:lnSpc>
              <a:spcBef>
                <a:spcPts val="0"/>
              </a:spcBef>
              <a:spcAft>
                <a:spcPts val="0"/>
              </a:spcAft>
              <a:buClr>
                <a:schemeClr val="dk1"/>
              </a:buClr>
              <a:buSzPts val="1200"/>
              <a:buFont typeface="Outfit"/>
              <a:buChar char="-"/>
            </a:pPr>
            <a:r>
              <a:rPr lang="en-US" sz="1100" b="1">
                <a:solidFill>
                  <a:schemeClr val="dk1"/>
                </a:solidFill>
              </a:rPr>
              <a:t>Data Preprocessing: </a:t>
            </a:r>
            <a:r>
              <a:rPr lang="en-US" sz="1100">
                <a:solidFill>
                  <a:schemeClr val="dk1"/>
                </a:solidFill>
              </a:rPr>
              <a:t>Sliding-window time-series, normalization, handled missing data.</a:t>
            </a:r>
            <a:endParaRPr sz="1100">
              <a:solidFill>
                <a:schemeClr val="dk1"/>
              </a:solidFill>
            </a:endParaRPr>
          </a:p>
          <a:p>
            <a:pPr marL="914400" lvl="1" indent="-304800" algn="just" rtl="0">
              <a:lnSpc>
                <a:spcPct val="115000"/>
              </a:lnSpc>
              <a:spcBef>
                <a:spcPts val="0"/>
              </a:spcBef>
              <a:spcAft>
                <a:spcPts val="0"/>
              </a:spcAft>
              <a:buClr>
                <a:schemeClr val="dk1"/>
              </a:buClr>
              <a:buSzPts val="1200"/>
              <a:buFont typeface="Outfit"/>
              <a:buChar char="-"/>
            </a:pPr>
            <a:r>
              <a:rPr lang="en-US" sz="1100" b="1">
                <a:solidFill>
                  <a:schemeClr val="dk1"/>
                </a:solidFill>
              </a:rPr>
              <a:t>Feature Engineering / Selection: </a:t>
            </a:r>
            <a:r>
              <a:rPr lang="en-US" sz="1100">
                <a:solidFill>
                  <a:schemeClr val="dk1"/>
                </a:solidFill>
              </a:rPr>
              <a:t>Using information gain and temporal feature analysis to select predictive features.</a:t>
            </a:r>
            <a:endParaRPr sz="1100">
              <a:solidFill>
                <a:schemeClr val="dk1"/>
              </a:solidFill>
            </a:endParaRPr>
          </a:p>
          <a:p>
            <a:pPr marL="914400" lvl="1" indent="-304800" algn="just" rtl="0">
              <a:lnSpc>
                <a:spcPct val="115000"/>
              </a:lnSpc>
              <a:spcBef>
                <a:spcPts val="0"/>
              </a:spcBef>
              <a:spcAft>
                <a:spcPts val="0"/>
              </a:spcAft>
              <a:buClr>
                <a:schemeClr val="dk1"/>
              </a:buClr>
              <a:buSzPts val="1200"/>
              <a:buFont typeface="Outfit"/>
              <a:buChar char="-"/>
            </a:pPr>
            <a:r>
              <a:rPr lang="en-US" sz="1100" b="1">
                <a:solidFill>
                  <a:schemeClr val="dk1"/>
                </a:solidFill>
              </a:rPr>
              <a:t>Modeling:</a:t>
            </a:r>
            <a:r>
              <a:rPr lang="en-US" sz="1100">
                <a:solidFill>
                  <a:schemeClr val="dk1"/>
                </a:solidFill>
              </a:rPr>
              <a:t> Multi-task Temporal Convolutional Network (TCN) with Spark + Kafka streaming pipeline.</a:t>
            </a:r>
            <a:endParaRPr sz="1100">
              <a:solidFill>
                <a:schemeClr val="dk1"/>
              </a:solidFill>
            </a:endParaRPr>
          </a:p>
          <a:p>
            <a:pPr marL="914400" lvl="1" indent="-304800" algn="just" rtl="0">
              <a:lnSpc>
                <a:spcPct val="115000"/>
              </a:lnSpc>
              <a:spcBef>
                <a:spcPts val="0"/>
              </a:spcBef>
              <a:spcAft>
                <a:spcPts val="0"/>
              </a:spcAft>
              <a:buClr>
                <a:schemeClr val="dk1"/>
              </a:buClr>
              <a:buSzPts val="1200"/>
              <a:buFont typeface="Outfit"/>
              <a:buChar char="-"/>
            </a:pPr>
            <a:r>
              <a:rPr lang="en-US" sz="1100" b="1">
                <a:solidFill>
                  <a:schemeClr val="dk1"/>
                </a:solidFill>
              </a:rPr>
              <a:t>Evaluation: </a:t>
            </a:r>
            <a:r>
              <a:rPr lang="en-US" sz="1100">
                <a:solidFill>
                  <a:schemeClr val="dk1"/>
                </a:solidFill>
              </a:rPr>
              <a:t>RMSE, MAE.</a:t>
            </a:r>
            <a:endParaRPr sz="1100">
              <a:solidFill>
                <a:schemeClr val="dk1"/>
              </a:solidFill>
            </a:endParaRPr>
          </a:p>
          <a:p>
            <a:pPr marL="457200" marR="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Technologies</a:t>
            </a:r>
            <a:r>
              <a:rPr lang="en-US" sz="1200">
                <a:solidFill>
                  <a:schemeClr val="dk1"/>
                </a:solidFill>
                <a:latin typeface="Outfit"/>
                <a:ea typeface="Outfit"/>
                <a:cs typeface="Outfit"/>
                <a:sym typeface="Outfit"/>
              </a:rPr>
              <a:t>: Spark Streaming, Kafka, TCN.</a:t>
            </a:r>
            <a:endParaRPr sz="1100" b="1">
              <a:solidFill>
                <a:schemeClr val="dk1"/>
              </a:solidFill>
            </a:endParaRPr>
          </a:p>
          <a:p>
            <a:pPr marL="0" marR="0" lvl="0" indent="0" algn="just" rtl="0">
              <a:lnSpc>
                <a:spcPct val="166666"/>
              </a:lnSpc>
              <a:spcBef>
                <a:spcPts val="0"/>
              </a:spcBef>
              <a:spcAft>
                <a:spcPts val="0"/>
              </a:spcAft>
              <a:buNone/>
            </a:pPr>
            <a:endParaRPr sz="1200">
              <a:solidFill>
                <a:schemeClr val="dk1"/>
              </a:solidFill>
              <a:latin typeface="Outfit"/>
              <a:ea typeface="Outfit"/>
              <a:cs typeface="Outfit"/>
              <a:sym typeface="Outfit"/>
            </a:endParaRPr>
          </a:p>
        </p:txBody>
      </p:sp>
      <p:sp>
        <p:nvSpPr>
          <p:cNvPr id="177" name="Google Shape;177;g3ad127638c4_1_45"/>
          <p:cNvSpPr txBox="1"/>
          <p:nvPr/>
        </p:nvSpPr>
        <p:spPr>
          <a:xfrm>
            <a:off x="389100" y="1973450"/>
            <a:ext cx="3749100" cy="3123900"/>
          </a:xfrm>
          <a:prstGeom prst="rect">
            <a:avLst/>
          </a:prstGeom>
          <a:noFill/>
          <a:ln>
            <a:noFill/>
          </a:ln>
        </p:spPr>
        <p:txBody>
          <a:bodyPr spcFirstLastPara="1" wrap="square" lIns="91425" tIns="91425" rIns="91425" bIns="91425" anchor="t" anchorCtr="0">
            <a:noAutofit/>
          </a:bodyPr>
          <a:lstStyle/>
          <a:p>
            <a:pPr marL="45720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key Findings</a:t>
            </a:r>
            <a:r>
              <a:rPr lang="en-US" sz="1200">
                <a:solidFill>
                  <a:schemeClr val="dk1"/>
                </a:solidFill>
                <a:latin typeface="Outfit"/>
                <a:ea typeface="Outfit"/>
                <a:cs typeface="Outfit"/>
                <a:sym typeface="Outfit"/>
              </a:rPr>
              <a:t>:  Multi-task TCN outperforms single-task → RMSE ~5.1, MAE ~3.8; low-latency real-time monitoring feasible.</a:t>
            </a:r>
            <a:endParaRPr sz="1200">
              <a:solidFill>
                <a:schemeClr val="dk1"/>
              </a:solidFill>
              <a:latin typeface="Outfit"/>
              <a:ea typeface="Outfit"/>
              <a:cs typeface="Outfit"/>
              <a:sym typeface="Outfit"/>
            </a:endParaRPr>
          </a:p>
          <a:p>
            <a:pPr marL="457200" lvl="0" indent="-304800" algn="just" rtl="0">
              <a:lnSpc>
                <a:spcPct val="166666"/>
              </a:lnSpc>
              <a:spcBef>
                <a:spcPts val="0"/>
              </a:spcBef>
              <a:spcAft>
                <a:spcPts val="0"/>
              </a:spcAft>
              <a:buClr>
                <a:schemeClr val="dk1"/>
              </a:buClr>
              <a:buSzPts val="1200"/>
              <a:buFont typeface="Outfit"/>
              <a:buChar char="-"/>
            </a:pPr>
            <a:r>
              <a:rPr lang="en-US" sz="1200" b="1">
                <a:solidFill>
                  <a:schemeClr val="dk1"/>
                </a:solidFill>
                <a:latin typeface="Outfit"/>
                <a:ea typeface="Outfit"/>
                <a:cs typeface="Outfit"/>
                <a:sym typeface="Outfit"/>
              </a:rPr>
              <a:t>Future suggestions</a:t>
            </a:r>
            <a:r>
              <a:rPr lang="en-US" sz="1200">
                <a:solidFill>
                  <a:schemeClr val="dk1"/>
                </a:solidFill>
                <a:latin typeface="Outfit"/>
                <a:ea typeface="Outfit"/>
                <a:cs typeface="Outfit"/>
                <a:sym typeface="Outfit"/>
              </a:rPr>
              <a:t> : </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 Multi-parameter monitoring.</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 Clinical validation.</a:t>
            </a:r>
            <a:endParaRPr sz="1200">
              <a:solidFill>
                <a:schemeClr val="dk1"/>
              </a:solidFill>
              <a:latin typeface="Outfit"/>
              <a:ea typeface="Outfit"/>
              <a:cs typeface="Outfit"/>
              <a:sym typeface="Outfit"/>
            </a:endParaRPr>
          </a:p>
          <a:p>
            <a:pPr marL="914400" lvl="1" indent="-304800" algn="l" rtl="0">
              <a:lnSpc>
                <a:spcPct val="115000"/>
              </a:lnSpc>
              <a:spcBef>
                <a:spcPts val="0"/>
              </a:spcBef>
              <a:spcAft>
                <a:spcPts val="0"/>
              </a:spcAft>
              <a:buClr>
                <a:schemeClr val="dk1"/>
              </a:buClr>
              <a:buSzPts val="1200"/>
              <a:buFont typeface="Outfit"/>
              <a:buChar char="-"/>
            </a:pPr>
            <a:r>
              <a:rPr lang="en-US" sz="1200">
                <a:solidFill>
                  <a:schemeClr val="dk1"/>
                </a:solidFill>
                <a:latin typeface="Outfit"/>
                <a:ea typeface="Outfit"/>
                <a:cs typeface="Outfit"/>
                <a:sym typeface="Outfit"/>
              </a:rPr>
              <a:t> Longer forecasting horizons.</a:t>
            </a:r>
            <a:endParaRPr sz="1200">
              <a:solidFill>
                <a:schemeClr val="dk1"/>
              </a:solidFill>
              <a:latin typeface="Outfit"/>
              <a:ea typeface="Outfit"/>
              <a:cs typeface="Outfit"/>
              <a:sym typeface="Outfi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8"/>
          <p:cNvSpPr/>
          <p:nvPr/>
        </p:nvSpPr>
        <p:spPr>
          <a:xfrm>
            <a:off x="3657600" y="0"/>
            <a:ext cx="91500" cy="154320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84" name="Google Shape;184;p8" descr="https://images.pexels.com/photos/18069495/pexels-photo-18069495.png?auto=compress&amp;cs=tinysrgb&amp;fit=crop&amp;h=1200&amp;w=800"/>
          <p:cNvPicPr preferRelativeResize="0"/>
          <p:nvPr/>
        </p:nvPicPr>
        <p:blipFill rotWithShape="1">
          <a:blip r:embed="rId3">
            <a:alphaModFix/>
          </a:blip>
          <a:srcRect/>
          <a:stretch/>
        </p:blipFill>
        <p:spPr>
          <a:xfrm>
            <a:off x="320040" y="0"/>
            <a:ext cx="3337560" cy="5143500"/>
          </a:xfrm>
          <a:prstGeom prst="rect">
            <a:avLst/>
          </a:prstGeom>
          <a:noFill/>
          <a:ln>
            <a:noFill/>
          </a:ln>
        </p:spPr>
      </p:pic>
      <p:pic>
        <p:nvPicPr>
          <p:cNvPr id="185" name="Google Shape;185;p8" descr="https://djgurnpwsdoqjscwqbsj.supabase.co/storage/v1/object/public/users_file_magicslides_io/grayscale_image.png"/>
          <p:cNvPicPr preferRelativeResize="0"/>
          <p:nvPr/>
        </p:nvPicPr>
        <p:blipFill rotWithShape="1">
          <a:blip r:embed="rId4">
            <a:alphaModFix/>
          </a:blip>
          <a:srcRect/>
          <a:stretch/>
        </p:blipFill>
        <p:spPr>
          <a:xfrm>
            <a:off x="4206240" y="1800225"/>
            <a:ext cx="365760" cy="365760"/>
          </a:xfrm>
          <a:prstGeom prst="rect">
            <a:avLst/>
          </a:prstGeom>
          <a:noFill/>
          <a:ln>
            <a:noFill/>
          </a:ln>
        </p:spPr>
      </p:pic>
      <p:sp>
        <p:nvSpPr>
          <p:cNvPr id="186" name="Google Shape;186;p8"/>
          <p:cNvSpPr/>
          <p:nvPr/>
        </p:nvSpPr>
        <p:spPr>
          <a:xfrm>
            <a:off x="0" y="0"/>
            <a:ext cx="32010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8"/>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8"/>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10</a:t>
            </a:r>
            <a:endParaRPr sz="1800" b="0" i="0" u="none" strike="noStrike" cap="none">
              <a:solidFill>
                <a:schemeClr val="dk1"/>
              </a:solidFill>
              <a:latin typeface="Calibri"/>
              <a:ea typeface="Calibri"/>
              <a:cs typeface="Calibri"/>
              <a:sym typeface="Calibri"/>
            </a:endParaRPr>
          </a:p>
        </p:txBody>
      </p:sp>
      <p:sp>
        <p:nvSpPr>
          <p:cNvPr id="189" name="Google Shape;189;p8"/>
          <p:cNvSpPr/>
          <p:nvPr/>
        </p:nvSpPr>
        <p:spPr>
          <a:xfrm>
            <a:off x="5614375" y="228955"/>
            <a:ext cx="43890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6847"/>
              </a:buClr>
              <a:buSzPts val="2800"/>
              <a:buFont typeface="Outfit"/>
              <a:buNone/>
            </a:pPr>
            <a:r>
              <a:rPr lang="en-US" sz="2800" b="1">
                <a:solidFill>
                  <a:srgbClr val="1A6847"/>
                </a:solidFill>
                <a:latin typeface="Outfit"/>
                <a:ea typeface="Outfit"/>
                <a:cs typeface="Outfit"/>
                <a:sym typeface="Outfit"/>
              </a:rPr>
              <a:t>Methodology</a:t>
            </a:r>
            <a:endParaRPr sz="2800" b="0" i="0" u="none" strike="noStrike" cap="none">
              <a:solidFill>
                <a:schemeClr val="dk1"/>
              </a:solidFill>
              <a:latin typeface="Calibri"/>
              <a:ea typeface="Calibri"/>
              <a:cs typeface="Calibri"/>
              <a:sym typeface="Calibri"/>
            </a:endParaRPr>
          </a:p>
        </p:txBody>
      </p:sp>
      <p:sp>
        <p:nvSpPr>
          <p:cNvPr id="190" name="Google Shape;190;p8"/>
          <p:cNvSpPr/>
          <p:nvPr/>
        </p:nvSpPr>
        <p:spPr>
          <a:xfrm>
            <a:off x="2743200" y="4754880"/>
            <a:ext cx="18288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800"/>
              <a:buFont typeface="Calibri"/>
              <a:buNone/>
            </a:pPr>
            <a:r>
              <a:rPr lang="en-US" sz="800" b="0" i="0" u="sng" strike="noStrike" cap="none">
                <a:solidFill>
                  <a:srgbClr val="FFFFFF"/>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Photo by Pexels</a:t>
            </a:r>
            <a:endParaRPr sz="800" b="0" i="0" u="none" strike="noStrike" cap="none">
              <a:solidFill>
                <a:schemeClr val="dk1"/>
              </a:solidFill>
              <a:latin typeface="Calibri"/>
              <a:ea typeface="Calibri"/>
              <a:cs typeface="Calibri"/>
              <a:sym typeface="Calibri"/>
            </a:endParaRPr>
          </a:p>
        </p:txBody>
      </p:sp>
      <p:pic>
        <p:nvPicPr>
          <p:cNvPr id="191" name="Google Shape;191;p8" title="meth.drawio.png"/>
          <p:cNvPicPr preferRelativeResize="0"/>
          <p:nvPr/>
        </p:nvPicPr>
        <p:blipFill>
          <a:blip r:embed="rId6">
            <a:alphaModFix/>
          </a:blip>
          <a:stretch>
            <a:fillRect/>
          </a:stretch>
        </p:blipFill>
        <p:spPr>
          <a:xfrm>
            <a:off x="5120650" y="915180"/>
            <a:ext cx="2958606" cy="409524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3ad127638c4_1_106"/>
          <p:cNvSpPr/>
          <p:nvPr/>
        </p:nvSpPr>
        <p:spPr>
          <a:xfrm>
            <a:off x="3657600" y="0"/>
            <a:ext cx="91500" cy="154320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8" name="Google Shape;198;g3ad127638c4_1_106" descr="NLP Natural Language Processing cognitive computing technology concept. (provided by Getty Images)"/>
          <p:cNvPicPr preferRelativeResize="0"/>
          <p:nvPr/>
        </p:nvPicPr>
        <p:blipFill rotWithShape="1">
          <a:blip r:embed="rId3">
            <a:alphaModFix/>
          </a:blip>
          <a:srcRect l="36421" r="36424"/>
          <a:stretch/>
        </p:blipFill>
        <p:spPr>
          <a:xfrm>
            <a:off x="320040" y="0"/>
            <a:ext cx="3337559" cy="5143500"/>
          </a:xfrm>
          <a:prstGeom prst="rect">
            <a:avLst/>
          </a:prstGeom>
          <a:noFill/>
          <a:ln>
            <a:noFill/>
          </a:ln>
        </p:spPr>
      </p:pic>
      <p:pic>
        <p:nvPicPr>
          <p:cNvPr id="199" name="Google Shape;199;g3ad127638c4_1_106" descr="https://djgurnpwsdoqjscwqbsj.supabase.co/storage/v1/object/public/users_file_magicslides_io/grayscale_image.png"/>
          <p:cNvPicPr preferRelativeResize="0"/>
          <p:nvPr/>
        </p:nvPicPr>
        <p:blipFill rotWithShape="1">
          <a:blip r:embed="rId4">
            <a:alphaModFix/>
          </a:blip>
          <a:srcRect/>
          <a:stretch/>
        </p:blipFill>
        <p:spPr>
          <a:xfrm>
            <a:off x="4206240" y="1800225"/>
            <a:ext cx="365760" cy="365760"/>
          </a:xfrm>
          <a:prstGeom prst="rect">
            <a:avLst/>
          </a:prstGeom>
          <a:noFill/>
          <a:ln>
            <a:noFill/>
          </a:ln>
        </p:spPr>
      </p:pic>
      <p:sp>
        <p:nvSpPr>
          <p:cNvPr id="200" name="Google Shape;200;g3ad127638c4_1_106"/>
          <p:cNvSpPr/>
          <p:nvPr/>
        </p:nvSpPr>
        <p:spPr>
          <a:xfrm>
            <a:off x="0" y="0"/>
            <a:ext cx="32010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g3ad127638c4_1_106"/>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3ad127638c4_1_106"/>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11</a:t>
            </a:r>
            <a:endParaRPr sz="1800" b="0" i="0" u="none" strike="noStrike" cap="none">
              <a:solidFill>
                <a:schemeClr val="dk1"/>
              </a:solidFill>
              <a:latin typeface="Calibri"/>
              <a:ea typeface="Calibri"/>
              <a:cs typeface="Calibri"/>
              <a:sym typeface="Calibri"/>
            </a:endParaRPr>
          </a:p>
        </p:txBody>
      </p:sp>
      <p:sp>
        <p:nvSpPr>
          <p:cNvPr id="203" name="Google Shape;203;g3ad127638c4_1_106"/>
          <p:cNvSpPr/>
          <p:nvPr/>
        </p:nvSpPr>
        <p:spPr>
          <a:xfrm>
            <a:off x="4114800" y="925830"/>
            <a:ext cx="43890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6847"/>
              </a:buClr>
              <a:buSzPts val="2800"/>
              <a:buFont typeface="Outfit"/>
              <a:buNone/>
            </a:pPr>
            <a:r>
              <a:rPr lang="en-US" sz="2800" b="1">
                <a:solidFill>
                  <a:srgbClr val="1A6847"/>
                </a:solidFill>
                <a:latin typeface="Outfit"/>
                <a:ea typeface="Outfit"/>
                <a:cs typeface="Outfit"/>
                <a:sym typeface="Outfit"/>
              </a:rPr>
              <a:t>Data Analysis</a:t>
            </a:r>
            <a:endParaRPr sz="2800" b="0" i="0" u="none" strike="noStrike" cap="none">
              <a:solidFill>
                <a:schemeClr val="dk1"/>
              </a:solidFill>
              <a:latin typeface="Calibri"/>
              <a:ea typeface="Calibri"/>
              <a:cs typeface="Calibri"/>
              <a:sym typeface="Calibri"/>
            </a:endParaRPr>
          </a:p>
        </p:txBody>
      </p:sp>
      <p:sp>
        <p:nvSpPr>
          <p:cNvPr id="204" name="Google Shape;204;g3ad127638c4_1_106"/>
          <p:cNvSpPr/>
          <p:nvPr/>
        </p:nvSpPr>
        <p:spPr>
          <a:xfrm>
            <a:off x="4522875" y="1697350"/>
            <a:ext cx="4462800" cy="5145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800"/>
              </a:spcBef>
              <a:spcAft>
                <a:spcPts val="0"/>
              </a:spcAft>
              <a:buClr>
                <a:schemeClr val="dk1"/>
              </a:buClr>
              <a:buSzPts val="1100"/>
              <a:buFont typeface="Arial"/>
              <a:buNone/>
            </a:pPr>
            <a:r>
              <a:rPr lang="en-US" sz="1700" b="1">
                <a:solidFill>
                  <a:schemeClr val="dk1"/>
                </a:solidFill>
              </a:rPr>
              <a:t>Questions that used for data analysis:-</a:t>
            </a:r>
            <a:endParaRPr sz="1700" b="1">
              <a:solidFill>
                <a:schemeClr val="dk1"/>
              </a:solidFill>
            </a:endParaRPr>
          </a:p>
          <a:p>
            <a:pPr marL="0" marR="0" lvl="0" indent="0" algn="l" rtl="0">
              <a:lnSpc>
                <a:spcPct val="100000"/>
              </a:lnSpc>
              <a:spcBef>
                <a:spcPts val="400"/>
              </a:spcBef>
              <a:spcAft>
                <a:spcPts val="0"/>
              </a:spcAft>
              <a:buClr>
                <a:schemeClr val="dk1"/>
              </a:buClr>
              <a:buSzPts val="1600"/>
              <a:buFont typeface="Calibri"/>
              <a:buNone/>
            </a:pPr>
            <a:endParaRPr sz="1600">
              <a:solidFill>
                <a:schemeClr val="dk1"/>
              </a:solidFill>
              <a:latin typeface="Calibri"/>
              <a:ea typeface="Calibri"/>
              <a:cs typeface="Calibri"/>
              <a:sym typeface="Calibri"/>
            </a:endParaRPr>
          </a:p>
        </p:txBody>
      </p:sp>
      <p:sp>
        <p:nvSpPr>
          <p:cNvPr id="205" name="Google Shape;205;g3ad127638c4_1_106"/>
          <p:cNvSpPr/>
          <p:nvPr/>
        </p:nvSpPr>
        <p:spPr>
          <a:xfrm>
            <a:off x="4114800" y="2160275"/>
            <a:ext cx="4623900" cy="2314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200">
                <a:latin typeface="Outfit"/>
                <a:ea typeface="Outfit"/>
                <a:cs typeface="Outfit"/>
                <a:sym typeface="Outfit"/>
              </a:rPr>
              <a:t>A — Which gender goes to the hospital more?</a:t>
            </a:r>
            <a:endParaRPr sz="1200">
              <a:latin typeface="Outfit"/>
              <a:ea typeface="Outfit"/>
              <a:cs typeface="Outfit"/>
              <a:sym typeface="Outfit"/>
            </a:endParaRPr>
          </a:p>
          <a:p>
            <a:pPr marL="0" lvl="0" indent="0" algn="l" rtl="0">
              <a:lnSpc>
                <a:spcPct val="115000"/>
              </a:lnSpc>
              <a:spcBef>
                <a:spcPts val="1200"/>
              </a:spcBef>
              <a:spcAft>
                <a:spcPts val="0"/>
              </a:spcAft>
              <a:buClr>
                <a:schemeClr val="dk1"/>
              </a:buClr>
              <a:buSzPts val="1100"/>
              <a:buFont typeface="Arial"/>
              <a:buNone/>
            </a:pPr>
            <a:r>
              <a:rPr lang="en-US" sz="1200">
                <a:latin typeface="Outfit"/>
                <a:ea typeface="Outfit"/>
                <a:cs typeface="Outfit"/>
                <a:sym typeface="Outfit"/>
              </a:rPr>
              <a:t>B — Which hospital branch has the most experienced doctors?</a:t>
            </a:r>
            <a:endParaRPr sz="1200">
              <a:latin typeface="Outfit"/>
              <a:ea typeface="Outfit"/>
              <a:cs typeface="Outfit"/>
              <a:sym typeface="Outfit"/>
            </a:endParaRPr>
          </a:p>
          <a:p>
            <a:pPr marL="0" lvl="0" indent="0" algn="l" rtl="0">
              <a:lnSpc>
                <a:spcPct val="115000"/>
              </a:lnSpc>
              <a:spcBef>
                <a:spcPts val="1200"/>
              </a:spcBef>
              <a:spcAft>
                <a:spcPts val="0"/>
              </a:spcAft>
              <a:buClr>
                <a:schemeClr val="dk1"/>
              </a:buClr>
              <a:buSzPts val="1100"/>
              <a:buFont typeface="Arial"/>
              <a:buNone/>
            </a:pPr>
            <a:r>
              <a:rPr lang="en-US" sz="1200">
                <a:latin typeface="Outfit"/>
                <a:ea typeface="Outfit"/>
                <a:cs typeface="Outfit"/>
                <a:sym typeface="Outfit"/>
              </a:rPr>
              <a:t>C — Which specialization dominates the others?</a:t>
            </a:r>
            <a:endParaRPr sz="1200">
              <a:latin typeface="Outfit"/>
              <a:ea typeface="Outfit"/>
              <a:cs typeface="Outfit"/>
              <a:sym typeface="Outfit"/>
            </a:endParaRPr>
          </a:p>
          <a:p>
            <a:pPr marL="0" lvl="0" indent="0" algn="l" rtl="0">
              <a:lnSpc>
                <a:spcPct val="115000"/>
              </a:lnSpc>
              <a:spcBef>
                <a:spcPts val="1200"/>
              </a:spcBef>
              <a:spcAft>
                <a:spcPts val="0"/>
              </a:spcAft>
              <a:buClr>
                <a:schemeClr val="dk1"/>
              </a:buClr>
              <a:buSzPts val="1100"/>
              <a:buFont typeface="Arial"/>
              <a:buNone/>
            </a:pPr>
            <a:r>
              <a:rPr lang="en-US" sz="1200">
                <a:latin typeface="Outfit"/>
                <a:ea typeface="Outfit"/>
                <a:cs typeface="Outfit"/>
                <a:sym typeface="Outfit"/>
              </a:rPr>
              <a:t>D — What is the most common reason for visits?</a:t>
            </a:r>
            <a:endParaRPr sz="1200">
              <a:latin typeface="Outfit"/>
              <a:ea typeface="Outfit"/>
              <a:cs typeface="Outfit"/>
              <a:sym typeface="Outfit"/>
            </a:endParaRPr>
          </a:p>
          <a:p>
            <a:pPr marL="0" lvl="0" indent="0" algn="l" rtl="0">
              <a:lnSpc>
                <a:spcPct val="115000"/>
              </a:lnSpc>
              <a:spcBef>
                <a:spcPts val="1200"/>
              </a:spcBef>
              <a:spcAft>
                <a:spcPts val="0"/>
              </a:spcAft>
              <a:buClr>
                <a:schemeClr val="dk1"/>
              </a:buClr>
              <a:buSzPts val="1100"/>
              <a:buFont typeface="Arial"/>
              <a:buNone/>
            </a:pPr>
            <a:r>
              <a:rPr lang="en-US" sz="1200">
                <a:latin typeface="Outfit"/>
                <a:ea typeface="Outfit"/>
                <a:cs typeface="Outfit"/>
                <a:sym typeface="Outfit"/>
              </a:rPr>
              <a:t>E — What is the ranking of treatments by cost?</a:t>
            </a:r>
            <a:endParaRPr sz="1200">
              <a:latin typeface="Outfit"/>
              <a:ea typeface="Outfit"/>
              <a:cs typeface="Outfit"/>
              <a:sym typeface="Outfit"/>
            </a:endParaRPr>
          </a:p>
          <a:p>
            <a:pPr marL="0" marR="0" lvl="0" indent="0" algn="just" rtl="0">
              <a:lnSpc>
                <a:spcPct val="166666"/>
              </a:lnSpc>
              <a:spcBef>
                <a:spcPts val="1200"/>
              </a:spcBef>
              <a:spcAft>
                <a:spcPts val="0"/>
              </a:spcAft>
              <a:buClr>
                <a:srgbClr val="000000"/>
              </a:buClr>
              <a:buSzPts val="1200"/>
              <a:buFont typeface="Outfit"/>
              <a:buNone/>
            </a:pPr>
            <a:endParaRPr sz="1200">
              <a:latin typeface="Outfit"/>
              <a:ea typeface="Outfit"/>
              <a:cs typeface="Outfit"/>
              <a:sym typeface="Outfi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g3ad127638c4_1_165"/>
          <p:cNvSpPr/>
          <p:nvPr/>
        </p:nvSpPr>
        <p:spPr>
          <a:xfrm>
            <a:off x="-652700" y="-100400"/>
            <a:ext cx="32010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g3ad127638c4_1_165"/>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g3ad127638c4_1_165"/>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12</a:t>
            </a:r>
            <a:endParaRPr sz="1800" b="0" i="0" u="none" strike="noStrike" cap="none">
              <a:solidFill>
                <a:schemeClr val="dk1"/>
              </a:solidFill>
              <a:latin typeface="Calibri"/>
              <a:ea typeface="Calibri"/>
              <a:cs typeface="Calibri"/>
              <a:sym typeface="Calibri"/>
            </a:endParaRPr>
          </a:p>
        </p:txBody>
      </p:sp>
      <p:sp>
        <p:nvSpPr>
          <p:cNvPr id="214" name="Google Shape;214;g3ad127638c4_1_165"/>
          <p:cNvSpPr/>
          <p:nvPr/>
        </p:nvSpPr>
        <p:spPr>
          <a:xfrm>
            <a:off x="4672675" y="-28645"/>
            <a:ext cx="43890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6847"/>
              </a:buClr>
              <a:buSzPts val="2800"/>
              <a:buFont typeface="Outfit"/>
              <a:buNone/>
            </a:pPr>
            <a:r>
              <a:rPr lang="en-US" sz="1800" b="1">
                <a:solidFill>
                  <a:srgbClr val="1A6847"/>
                </a:solidFill>
                <a:latin typeface="Outfit"/>
                <a:ea typeface="Outfit"/>
                <a:cs typeface="Outfit"/>
                <a:sym typeface="Outfit"/>
              </a:rPr>
              <a:t>Results</a:t>
            </a:r>
            <a:endParaRPr sz="1800" b="0" i="0" u="none" strike="noStrike" cap="none">
              <a:solidFill>
                <a:schemeClr val="dk1"/>
              </a:solidFill>
              <a:latin typeface="Calibri"/>
              <a:ea typeface="Calibri"/>
              <a:cs typeface="Calibri"/>
              <a:sym typeface="Calibri"/>
            </a:endParaRPr>
          </a:p>
        </p:txBody>
      </p:sp>
      <p:pic>
        <p:nvPicPr>
          <p:cNvPr id="215" name="Google Shape;215;g3ad127638c4_1_165" title="result_1_gender.png"/>
          <p:cNvPicPr preferRelativeResize="0"/>
          <p:nvPr/>
        </p:nvPicPr>
        <p:blipFill>
          <a:blip r:embed="rId3">
            <a:alphaModFix/>
          </a:blip>
          <a:stretch>
            <a:fillRect/>
          </a:stretch>
        </p:blipFill>
        <p:spPr>
          <a:xfrm>
            <a:off x="5839713" y="124525"/>
            <a:ext cx="2409575" cy="2237025"/>
          </a:xfrm>
          <a:prstGeom prst="rect">
            <a:avLst/>
          </a:prstGeom>
          <a:solidFill>
            <a:srgbClr val="1A6847"/>
          </a:solidFill>
          <a:ln w="12700" cap="flat" cmpd="sng">
            <a:solidFill>
              <a:srgbClr val="1A6847"/>
            </a:solidFill>
            <a:prstDash val="solid"/>
            <a:round/>
            <a:headEnd type="none" w="sm" len="sm"/>
            <a:tailEnd type="none" w="sm" len="sm"/>
          </a:ln>
        </p:spPr>
      </p:pic>
      <p:pic>
        <p:nvPicPr>
          <p:cNvPr id="216" name="Google Shape;216;g3ad127638c4_1_165" title="experience_doctor.png"/>
          <p:cNvPicPr preferRelativeResize="0"/>
          <p:nvPr/>
        </p:nvPicPr>
        <p:blipFill>
          <a:blip r:embed="rId4">
            <a:alphaModFix/>
          </a:blip>
          <a:stretch>
            <a:fillRect/>
          </a:stretch>
        </p:blipFill>
        <p:spPr>
          <a:xfrm>
            <a:off x="5364400" y="2361550"/>
            <a:ext cx="3505200" cy="2882375"/>
          </a:xfrm>
          <a:prstGeom prst="rect">
            <a:avLst/>
          </a:prstGeom>
          <a:noFill/>
          <a:ln>
            <a:noFill/>
          </a:ln>
        </p:spPr>
      </p:pic>
      <p:pic>
        <p:nvPicPr>
          <p:cNvPr id="217" name="Google Shape;217;g3ad127638c4_1_165" title="speciliest_dominace.png"/>
          <p:cNvPicPr preferRelativeResize="0"/>
          <p:nvPr/>
        </p:nvPicPr>
        <p:blipFill>
          <a:blip r:embed="rId5">
            <a:alphaModFix/>
          </a:blip>
          <a:stretch>
            <a:fillRect/>
          </a:stretch>
        </p:blipFill>
        <p:spPr>
          <a:xfrm>
            <a:off x="-109750" y="400450"/>
            <a:ext cx="5132151" cy="235050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g3ad127638c4_1_123"/>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g3ad127638c4_1_123"/>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13</a:t>
            </a:r>
            <a:endParaRPr sz="1800" b="0" i="0" u="none" strike="noStrike" cap="none">
              <a:solidFill>
                <a:schemeClr val="dk1"/>
              </a:solidFill>
              <a:latin typeface="Calibri"/>
              <a:ea typeface="Calibri"/>
              <a:cs typeface="Calibri"/>
              <a:sym typeface="Calibri"/>
            </a:endParaRPr>
          </a:p>
        </p:txBody>
      </p:sp>
      <p:pic>
        <p:nvPicPr>
          <p:cNvPr id="225" name="Google Shape;225;g3ad127638c4_1_123" title="treatment_cost.png"/>
          <p:cNvPicPr preferRelativeResize="0"/>
          <p:nvPr/>
        </p:nvPicPr>
        <p:blipFill>
          <a:blip r:embed="rId3">
            <a:alphaModFix/>
          </a:blip>
          <a:stretch>
            <a:fillRect/>
          </a:stretch>
        </p:blipFill>
        <p:spPr>
          <a:xfrm>
            <a:off x="-893650" y="1221750"/>
            <a:ext cx="5443050" cy="3387250"/>
          </a:xfrm>
          <a:prstGeom prst="rect">
            <a:avLst/>
          </a:prstGeom>
          <a:noFill/>
          <a:ln>
            <a:noFill/>
          </a:ln>
        </p:spPr>
      </p:pic>
      <p:pic>
        <p:nvPicPr>
          <p:cNvPr id="226" name="Google Shape;226;g3ad127638c4_1_123" title="reason_for_visit.png"/>
          <p:cNvPicPr preferRelativeResize="0"/>
          <p:nvPr/>
        </p:nvPicPr>
        <p:blipFill>
          <a:blip r:embed="rId4">
            <a:alphaModFix/>
          </a:blip>
          <a:stretch>
            <a:fillRect/>
          </a:stretch>
        </p:blipFill>
        <p:spPr>
          <a:xfrm>
            <a:off x="4626500" y="1963700"/>
            <a:ext cx="4459675" cy="2465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3ad127638c4_1_185"/>
          <p:cNvSpPr/>
          <p:nvPr/>
        </p:nvSpPr>
        <p:spPr>
          <a:xfrm>
            <a:off x="3657600" y="0"/>
            <a:ext cx="91500" cy="154320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3" name="Google Shape;233;g3ad127638c4_1_185" descr="NLP Natural Language Processing cognitive computing technology concept. (provided by Getty Images)"/>
          <p:cNvPicPr preferRelativeResize="0"/>
          <p:nvPr/>
        </p:nvPicPr>
        <p:blipFill rotWithShape="1">
          <a:blip r:embed="rId3">
            <a:alphaModFix/>
          </a:blip>
          <a:srcRect l="36421" r="36424"/>
          <a:stretch/>
        </p:blipFill>
        <p:spPr>
          <a:xfrm>
            <a:off x="320040" y="0"/>
            <a:ext cx="3337559" cy="5143500"/>
          </a:xfrm>
          <a:prstGeom prst="rect">
            <a:avLst/>
          </a:prstGeom>
          <a:noFill/>
          <a:ln>
            <a:noFill/>
          </a:ln>
        </p:spPr>
      </p:pic>
      <p:pic>
        <p:nvPicPr>
          <p:cNvPr id="234" name="Google Shape;234;g3ad127638c4_1_185" descr="https://djgurnpwsdoqjscwqbsj.supabase.co/storage/v1/object/public/users_file_magicslides_io/grayscale_image.png"/>
          <p:cNvPicPr preferRelativeResize="0"/>
          <p:nvPr/>
        </p:nvPicPr>
        <p:blipFill rotWithShape="1">
          <a:blip r:embed="rId4">
            <a:alphaModFix/>
          </a:blip>
          <a:srcRect/>
          <a:stretch/>
        </p:blipFill>
        <p:spPr>
          <a:xfrm>
            <a:off x="4206240" y="1800225"/>
            <a:ext cx="365760" cy="365760"/>
          </a:xfrm>
          <a:prstGeom prst="rect">
            <a:avLst/>
          </a:prstGeom>
          <a:noFill/>
          <a:ln>
            <a:noFill/>
          </a:ln>
        </p:spPr>
      </p:pic>
      <p:sp>
        <p:nvSpPr>
          <p:cNvPr id="235" name="Google Shape;235;g3ad127638c4_1_185"/>
          <p:cNvSpPr/>
          <p:nvPr/>
        </p:nvSpPr>
        <p:spPr>
          <a:xfrm>
            <a:off x="0" y="0"/>
            <a:ext cx="32010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g3ad127638c4_1_185"/>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g3ad127638c4_1_185"/>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14</a:t>
            </a:r>
            <a:endParaRPr sz="1800" b="0" i="0" u="none" strike="noStrike" cap="none">
              <a:solidFill>
                <a:schemeClr val="dk1"/>
              </a:solidFill>
              <a:latin typeface="Calibri"/>
              <a:ea typeface="Calibri"/>
              <a:cs typeface="Calibri"/>
              <a:sym typeface="Calibri"/>
            </a:endParaRPr>
          </a:p>
        </p:txBody>
      </p:sp>
      <p:sp>
        <p:nvSpPr>
          <p:cNvPr id="238" name="Google Shape;238;g3ad127638c4_1_185"/>
          <p:cNvSpPr/>
          <p:nvPr/>
        </p:nvSpPr>
        <p:spPr>
          <a:xfrm>
            <a:off x="4114800" y="925830"/>
            <a:ext cx="43890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6847"/>
              </a:buClr>
              <a:buSzPts val="2800"/>
              <a:buFont typeface="Outfit"/>
              <a:buNone/>
            </a:pPr>
            <a:r>
              <a:rPr lang="en-US" sz="2800" b="1">
                <a:solidFill>
                  <a:srgbClr val="1A6847"/>
                </a:solidFill>
                <a:latin typeface="Outfit"/>
                <a:ea typeface="Outfit"/>
                <a:cs typeface="Outfit"/>
                <a:sym typeface="Outfit"/>
              </a:rPr>
              <a:t>Feature Enrichment via Model Prediction</a:t>
            </a:r>
            <a:endParaRPr sz="2800" b="1">
              <a:solidFill>
                <a:srgbClr val="1A6847"/>
              </a:solidFill>
              <a:latin typeface="Outfit"/>
              <a:ea typeface="Outfit"/>
              <a:cs typeface="Outfit"/>
              <a:sym typeface="Outfit"/>
            </a:endParaRPr>
          </a:p>
        </p:txBody>
      </p:sp>
      <p:sp>
        <p:nvSpPr>
          <p:cNvPr id="239" name="Google Shape;239;g3ad127638c4_1_185"/>
          <p:cNvSpPr/>
          <p:nvPr/>
        </p:nvSpPr>
        <p:spPr>
          <a:xfrm>
            <a:off x="4114800" y="2160275"/>
            <a:ext cx="4623900" cy="2314500"/>
          </a:xfrm>
          <a:prstGeom prst="rect">
            <a:avLst/>
          </a:prstGeom>
          <a:noFill/>
          <a:ln>
            <a:noFill/>
          </a:ln>
        </p:spPr>
        <p:txBody>
          <a:bodyPr spcFirstLastPara="1" wrap="square" lIns="91425" tIns="45700" rIns="91425" bIns="45700" anchor="t" anchorCtr="0">
            <a:noAutofit/>
          </a:bodyPr>
          <a:lstStyle/>
          <a:p>
            <a:pPr marL="0" marR="0" lvl="0" indent="0" algn="just" rtl="0">
              <a:lnSpc>
                <a:spcPct val="166666"/>
              </a:lnSpc>
              <a:spcBef>
                <a:spcPts val="0"/>
              </a:spcBef>
              <a:spcAft>
                <a:spcPts val="0"/>
              </a:spcAft>
              <a:buClr>
                <a:srgbClr val="000000"/>
              </a:buClr>
              <a:buSzPts val="1200"/>
              <a:buFont typeface="Outfit"/>
              <a:buNone/>
            </a:pPr>
            <a:r>
              <a:rPr lang="en-US" sz="1200">
                <a:latin typeface="Outfit"/>
                <a:ea typeface="Outfit"/>
                <a:cs typeface="Outfit"/>
                <a:sym typeface="Outfit"/>
              </a:rPr>
              <a:t>With the help of RandomForestRegressor algorithm, we predict the expected number of visitors for the next month to help the healthcare management system prepare and allocate resources efficiently.</a:t>
            </a:r>
            <a:endParaRPr sz="1200">
              <a:latin typeface="Outfit"/>
              <a:ea typeface="Outfit"/>
              <a:cs typeface="Outfit"/>
              <a:sym typeface="Outfit"/>
            </a:endParaRPr>
          </a:p>
          <a:p>
            <a:pPr marL="0" marR="0" lvl="0" indent="0" algn="just" rtl="0">
              <a:lnSpc>
                <a:spcPct val="166666"/>
              </a:lnSpc>
              <a:spcBef>
                <a:spcPts val="0"/>
              </a:spcBef>
              <a:spcAft>
                <a:spcPts val="0"/>
              </a:spcAft>
              <a:buClr>
                <a:srgbClr val="000000"/>
              </a:buClr>
              <a:buSzPts val="1200"/>
              <a:buFont typeface="Outfit"/>
              <a:buNone/>
            </a:pPr>
            <a:r>
              <a:rPr lang="en-US" sz="1100" b="1">
                <a:solidFill>
                  <a:schemeClr val="dk1"/>
                </a:solidFill>
              </a:rPr>
              <a:t>Evaluation: </a:t>
            </a:r>
            <a:r>
              <a:rPr lang="en-US" sz="1100">
                <a:solidFill>
                  <a:schemeClr val="dk1"/>
                </a:solidFill>
              </a:rPr>
              <a:t>R² (R-squared), RMSE (Root Mean Squared Error) and  RRMSE (Relative RMSE)</a:t>
            </a:r>
            <a:endParaRPr sz="1100">
              <a:solidFill>
                <a:schemeClr val="dk1"/>
              </a:solidFill>
            </a:endParaRPr>
          </a:p>
          <a:p>
            <a:pPr marL="0" marR="0" lvl="0" indent="0" algn="just" rtl="0">
              <a:lnSpc>
                <a:spcPct val="166666"/>
              </a:lnSpc>
              <a:spcBef>
                <a:spcPts val="0"/>
              </a:spcBef>
              <a:spcAft>
                <a:spcPts val="0"/>
              </a:spcAft>
              <a:buClr>
                <a:srgbClr val="000000"/>
              </a:buClr>
              <a:buSzPts val="1200"/>
              <a:buFont typeface="Outfit"/>
              <a:buNone/>
            </a:pPr>
            <a:r>
              <a:rPr lang="en-US" sz="1100" b="1">
                <a:solidFill>
                  <a:schemeClr val="dk1"/>
                </a:solidFill>
              </a:rPr>
              <a:t>Result</a:t>
            </a:r>
            <a:r>
              <a:rPr lang="en-US" sz="1100">
                <a:solidFill>
                  <a:schemeClr val="dk1"/>
                </a:solidFill>
              </a:rPr>
              <a:t>: </a:t>
            </a:r>
            <a:endParaRPr sz="1100">
              <a:solidFill>
                <a:schemeClr val="dk1"/>
              </a:solidFill>
            </a:endParaRPr>
          </a:p>
          <a:p>
            <a:pPr marL="457200" marR="0" lvl="0" indent="-298450" algn="just" rtl="0">
              <a:lnSpc>
                <a:spcPct val="166666"/>
              </a:lnSpc>
              <a:spcBef>
                <a:spcPts val="0"/>
              </a:spcBef>
              <a:spcAft>
                <a:spcPts val="0"/>
              </a:spcAft>
              <a:buClr>
                <a:schemeClr val="dk1"/>
              </a:buClr>
              <a:buSzPts val="1100"/>
              <a:buChar char="-"/>
            </a:pPr>
            <a:r>
              <a:rPr lang="en-US" sz="1100">
                <a:solidFill>
                  <a:schemeClr val="dk1"/>
                </a:solidFill>
              </a:rPr>
              <a:t>R² =  0.94</a:t>
            </a:r>
            <a:endParaRPr sz="1100">
              <a:solidFill>
                <a:schemeClr val="dk1"/>
              </a:solidFill>
            </a:endParaRPr>
          </a:p>
          <a:p>
            <a:pPr marL="457200" marR="0" lvl="0" indent="-298450" algn="just" rtl="0">
              <a:lnSpc>
                <a:spcPct val="166666"/>
              </a:lnSpc>
              <a:spcBef>
                <a:spcPts val="0"/>
              </a:spcBef>
              <a:spcAft>
                <a:spcPts val="0"/>
              </a:spcAft>
              <a:buClr>
                <a:schemeClr val="dk1"/>
              </a:buClr>
              <a:buSzPts val="1100"/>
              <a:buChar char="-"/>
            </a:pPr>
            <a:r>
              <a:rPr lang="en-US" sz="1100">
                <a:solidFill>
                  <a:schemeClr val="dk1"/>
                </a:solidFill>
              </a:rPr>
              <a:t>RMSE = 54539.63</a:t>
            </a:r>
            <a:endParaRPr sz="1100">
              <a:solidFill>
                <a:schemeClr val="dk1"/>
              </a:solidFill>
            </a:endParaRPr>
          </a:p>
          <a:p>
            <a:pPr marL="457200" marR="0" lvl="0" indent="-298450" algn="just" rtl="0">
              <a:lnSpc>
                <a:spcPct val="166666"/>
              </a:lnSpc>
              <a:spcBef>
                <a:spcPts val="0"/>
              </a:spcBef>
              <a:spcAft>
                <a:spcPts val="0"/>
              </a:spcAft>
              <a:buClr>
                <a:schemeClr val="dk1"/>
              </a:buClr>
              <a:buSzPts val="1100"/>
              <a:buChar char="-"/>
            </a:pPr>
            <a:r>
              <a:rPr lang="en-US" sz="1100">
                <a:solidFill>
                  <a:schemeClr val="dk1"/>
                </a:solidFill>
              </a:rPr>
              <a:t>RRMSE = 8.42% overall error expressed relative to the data's scale</a:t>
            </a:r>
            <a:endParaRPr sz="1100">
              <a:solidFill>
                <a:schemeClr val="dk1"/>
              </a:solidFill>
            </a:endParaRPr>
          </a:p>
          <a:p>
            <a:pPr marL="0" marR="0" lvl="0" indent="0" algn="just" rtl="0">
              <a:lnSpc>
                <a:spcPct val="166666"/>
              </a:lnSpc>
              <a:spcBef>
                <a:spcPts val="0"/>
              </a:spcBef>
              <a:spcAft>
                <a:spcPts val="0"/>
              </a:spcAft>
              <a:buClr>
                <a:srgbClr val="000000"/>
              </a:buClr>
              <a:buSzPts val="1200"/>
              <a:buFont typeface="Outfit"/>
              <a:buNone/>
            </a:pPr>
            <a:endParaRPr sz="1200">
              <a:latin typeface="Outfit"/>
              <a:ea typeface="Outfit"/>
              <a:cs typeface="Outfit"/>
              <a:sym typeface="Outfi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g39b08b23871_0_0"/>
          <p:cNvSpPr txBox="1"/>
          <p:nvPr/>
        </p:nvSpPr>
        <p:spPr>
          <a:xfrm>
            <a:off x="5134300" y="1041400"/>
            <a:ext cx="3218100" cy="1521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US"/>
              <a:t>“A cat is an animal.”</a:t>
            </a:r>
            <a:endParaRPr/>
          </a:p>
          <a:p>
            <a:pPr marL="457200" lvl="0" indent="0" algn="l" rtl="0">
              <a:spcBef>
                <a:spcPts val="0"/>
              </a:spcBef>
              <a:spcAft>
                <a:spcPts val="0"/>
              </a:spcAft>
              <a:buNone/>
            </a:pPr>
            <a:endParaRPr/>
          </a:p>
          <a:p>
            <a:pPr marL="457200" lvl="0" indent="-317500" algn="l" rtl="0">
              <a:spcBef>
                <a:spcPts val="0"/>
              </a:spcBef>
              <a:spcAft>
                <a:spcPts val="0"/>
              </a:spcAft>
              <a:buSzPts val="1400"/>
              <a:buChar char="●"/>
            </a:pPr>
            <a:r>
              <a:rPr lang="en-US"/>
              <a:t>“A dog is an animal.”</a:t>
            </a:r>
            <a:endParaRPr/>
          </a:p>
          <a:p>
            <a:pPr marL="457200" lvl="0" indent="0" algn="l" rtl="0">
              <a:spcBef>
                <a:spcPts val="0"/>
              </a:spcBef>
              <a:spcAft>
                <a:spcPts val="0"/>
              </a:spcAft>
              <a:buNone/>
            </a:pPr>
            <a:endParaRPr/>
          </a:p>
          <a:p>
            <a:pPr marL="457200" marR="0" lvl="0" indent="-317500" algn="l" rtl="0">
              <a:lnSpc>
                <a:spcPct val="100000"/>
              </a:lnSpc>
              <a:spcBef>
                <a:spcPts val="0"/>
              </a:spcBef>
              <a:spcAft>
                <a:spcPts val="0"/>
              </a:spcAft>
              <a:buSzPts val="1400"/>
              <a:buChar char="●"/>
            </a:pPr>
            <a:r>
              <a:rPr lang="en-US"/>
              <a:t>“Animals can run and eat.”</a:t>
            </a:r>
            <a:endParaRPr/>
          </a:p>
        </p:txBody>
      </p:sp>
      <p:pic>
        <p:nvPicPr>
          <p:cNvPr id="246" name="Google Shape;246;g39b08b23871_0_0" title="Screenshot 2025-10-19 202542.png"/>
          <p:cNvPicPr preferRelativeResize="0"/>
          <p:nvPr/>
        </p:nvPicPr>
        <p:blipFill rotWithShape="1">
          <a:blip r:embed="rId3">
            <a:alphaModFix/>
          </a:blip>
          <a:srcRect/>
          <a:stretch/>
        </p:blipFill>
        <p:spPr>
          <a:xfrm>
            <a:off x="5413738" y="3303475"/>
            <a:ext cx="3076575" cy="714375"/>
          </a:xfrm>
          <a:prstGeom prst="rect">
            <a:avLst/>
          </a:prstGeom>
          <a:noFill/>
          <a:ln>
            <a:noFill/>
          </a:ln>
        </p:spPr>
      </p:pic>
      <p:cxnSp>
        <p:nvCxnSpPr>
          <p:cNvPr id="247" name="Google Shape;247;g39b08b23871_0_0"/>
          <p:cNvCxnSpPr/>
          <p:nvPr/>
        </p:nvCxnSpPr>
        <p:spPr>
          <a:xfrm>
            <a:off x="6952025" y="2612175"/>
            <a:ext cx="0" cy="592500"/>
          </a:xfrm>
          <a:prstGeom prst="straightConnector1">
            <a:avLst/>
          </a:prstGeom>
          <a:noFill/>
          <a:ln w="9525" cap="flat" cmpd="sng">
            <a:solidFill>
              <a:schemeClr val="dk2"/>
            </a:solidFill>
            <a:prstDash val="solid"/>
            <a:round/>
            <a:headEnd type="none" w="sm" len="sm"/>
            <a:tailEnd type="triangle" w="med" len="med"/>
          </a:ln>
        </p:spPr>
      </p:cxnSp>
      <p:pic>
        <p:nvPicPr>
          <p:cNvPr id="248" name="Google Shape;248;g39b08b23871_0_0" title="Screenshot 2025-10-19 202040.png"/>
          <p:cNvPicPr preferRelativeResize="0"/>
          <p:nvPr/>
        </p:nvPicPr>
        <p:blipFill rotWithShape="1">
          <a:blip r:embed="rId4">
            <a:alphaModFix/>
          </a:blip>
          <a:srcRect/>
          <a:stretch/>
        </p:blipFill>
        <p:spPr>
          <a:xfrm>
            <a:off x="-59087" y="2165350"/>
            <a:ext cx="3611512" cy="2778625"/>
          </a:xfrm>
          <a:prstGeom prst="rect">
            <a:avLst/>
          </a:prstGeom>
          <a:noFill/>
          <a:ln>
            <a:noFill/>
          </a:ln>
        </p:spPr>
      </p:pic>
      <p:sp>
        <p:nvSpPr>
          <p:cNvPr id="249" name="Google Shape;249;g39b08b23871_0_0"/>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g39b08b23871_0_0"/>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15</a:t>
            </a:r>
            <a:endParaRPr sz="1800" b="0" i="0" u="none" strike="noStrike" cap="none">
              <a:solidFill>
                <a:schemeClr val="dk1"/>
              </a:solidFill>
              <a:latin typeface="Calibri"/>
              <a:ea typeface="Calibri"/>
              <a:cs typeface="Calibri"/>
              <a:sym typeface="Calibri"/>
            </a:endParaRPr>
          </a:p>
        </p:txBody>
      </p:sp>
      <p:sp>
        <p:nvSpPr>
          <p:cNvPr id="251" name="Google Shape;251;g39b08b23871_0_0"/>
          <p:cNvSpPr txBox="1"/>
          <p:nvPr/>
        </p:nvSpPr>
        <p:spPr>
          <a:xfrm>
            <a:off x="4753000" y="172950"/>
            <a:ext cx="4305300" cy="892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rgbClr val="1A6847"/>
                </a:solidFill>
                <a:latin typeface="Outfit"/>
                <a:ea typeface="Outfit"/>
                <a:cs typeface="Outfit"/>
                <a:sym typeface="Outfit"/>
              </a:rPr>
              <a:t>Faiss: knowledge base construction </a:t>
            </a:r>
            <a:endParaRPr sz="900"/>
          </a:p>
        </p:txBody>
      </p:sp>
      <p:sp>
        <p:nvSpPr>
          <p:cNvPr id="252" name="Google Shape;252;g39b08b23871_0_0"/>
          <p:cNvSpPr/>
          <p:nvPr/>
        </p:nvSpPr>
        <p:spPr>
          <a:xfrm>
            <a:off x="5380350" y="3482350"/>
            <a:ext cx="535500" cy="535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chemeClr val="lt1"/>
              </a:highlight>
            </a:endParaRPr>
          </a:p>
        </p:txBody>
      </p:sp>
      <p:sp>
        <p:nvSpPr>
          <p:cNvPr id="253" name="Google Shape;253;g39b08b23871_0_0"/>
          <p:cNvSpPr txBox="1"/>
          <p:nvPr/>
        </p:nvSpPr>
        <p:spPr>
          <a:xfrm>
            <a:off x="5419500" y="3493263"/>
            <a:ext cx="457200" cy="33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a:t>Animal</a:t>
            </a:r>
            <a:endParaRPr sz="700"/>
          </a:p>
          <a:p>
            <a:pPr marL="0" lvl="0" indent="0" algn="l" rtl="0">
              <a:spcBef>
                <a:spcPts val="0"/>
              </a:spcBef>
              <a:spcAft>
                <a:spcPts val="0"/>
              </a:spcAft>
              <a:buNone/>
            </a:pPr>
            <a:endParaRPr sz="700"/>
          </a:p>
          <a:p>
            <a:pPr marL="0" lvl="0" indent="0" algn="l" rtl="0">
              <a:spcBef>
                <a:spcPts val="0"/>
              </a:spcBef>
              <a:spcAft>
                <a:spcPts val="0"/>
              </a:spcAft>
              <a:buNone/>
            </a:pPr>
            <a:r>
              <a:rPr lang="en-US" sz="700"/>
              <a:t>   cat</a:t>
            </a:r>
            <a:endParaRPr sz="700"/>
          </a:p>
        </p:txBody>
      </p:sp>
      <p:pic>
        <p:nvPicPr>
          <p:cNvPr id="254" name="Google Shape;254;g39b08b23871_0_0" title="Screenshot 2025-12-03 232146.png"/>
          <p:cNvPicPr preferRelativeResize="0"/>
          <p:nvPr/>
        </p:nvPicPr>
        <p:blipFill>
          <a:blip r:embed="rId5">
            <a:alphaModFix/>
          </a:blip>
          <a:stretch>
            <a:fillRect/>
          </a:stretch>
        </p:blipFill>
        <p:spPr>
          <a:xfrm>
            <a:off x="146075" y="457189"/>
            <a:ext cx="4202774" cy="139873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9b0403c200_0_0"/>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g39b0403c200_0_0"/>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16</a:t>
            </a:r>
            <a:endParaRPr sz="1800" b="0" i="0" u="none" strike="noStrike" cap="none">
              <a:solidFill>
                <a:schemeClr val="dk1"/>
              </a:solidFill>
              <a:latin typeface="Calibri"/>
              <a:ea typeface="Calibri"/>
              <a:cs typeface="Calibri"/>
              <a:sym typeface="Calibri"/>
            </a:endParaRPr>
          </a:p>
        </p:txBody>
      </p:sp>
      <p:pic>
        <p:nvPicPr>
          <p:cNvPr id="262" name="Google Shape;262;g39b0403c200_0_0" title="result3.png"/>
          <p:cNvPicPr preferRelativeResize="0"/>
          <p:nvPr/>
        </p:nvPicPr>
        <p:blipFill rotWithShape="1">
          <a:blip r:embed="rId3">
            <a:alphaModFix/>
          </a:blip>
          <a:srcRect t="28202"/>
          <a:stretch/>
        </p:blipFill>
        <p:spPr>
          <a:xfrm>
            <a:off x="1330400" y="2390475"/>
            <a:ext cx="6328576" cy="2105250"/>
          </a:xfrm>
          <a:prstGeom prst="rect">
            <a:avLst/>
          </a:prstGeom>
          <a:noFill/>
          <a:ln>
            <a:noFill/>
          </a:ln>
        </p:spPr>
      </p:pic>
      <p:sp>
        <p:nvSpPr>
          <p:cNvPr id="263" name="Google Shape;263;g39b0403c200_0_0"/>
          <p:cNvSpPr txBox="1"/>
          <p:nvPr/>
        </p:nvSpPr>
        <p:spPr>
          <a:xfrm>
            <a:off x="0" y="347375"/>
            <a:ext cx="9144000" cy="1110300"/>
          </a:xfrm>
          <a:prstGeom prst="rect">
            <a:avLst/>
          </a:prstGeom>
          <a:noFill/>
          <a:ln>
            <a:noFill/>
          </a:ln>
        </p:spPr>
        <p:txBody>
          <a:bodyPr spcFirstLastPara="1" wrap="square" lIns="91425" tIns="91425" rIns="91425" bIns="91425" anchor="t" anchorCtr="0">
            <a:noAutofit/>
          </a:bodyPr>
          <a:lstStyle/>
          <a:p>
            <a:pPr marL="457200" lvl="0" indent="-298450" algn="just" rtl="0">
              <a:lnSpc>
                <a:spcPct val="115000"/>
              </a:lnSpc>
              <a:spcBef>
                <a:spcPts val="1200"/>
              </a:spcBef>
              <a:spcAft>
                <a:spcPts val="0"/>
              </a:spcAft>
              <a:buClr>
                <a:schemeClr val="dk1"/>
              </a:buClr>
              <a:buSzPts val="1100"/>
              <a:buChar char="●"/>
            </a:pPr>
            <a:r>
              <a:rPr lang="en-US" sz="1100" b="1">
                <a:solidFill>
                  <a:schemeClr val="dk1"/>
                </a:solidFill>
              </a:rPr>
              <a:t>Precision@k:</a:t>
            </a:r>
            <a:r>
              <a:rPr lang="en-US" sz="1100">
                <a:solidFill>
                  <a:schemeClr val="dk1"/>
                </a:solidFill>
              </a:rPr>
              <a:t> Fraction of top‑k retrieved facts that are correct.</a:t>
            </a:r>
            <a:endParaRPr sz="1100">
              <a:solidFill>
                <a:schemeClr val="dk1"/>
              </a:solidFill>
            </a:endParaRPr>
          </a:p>
          <a:p>
            <a:pPr marL="457200" lvl="0" indent="-298450" algn="just" rtl="0">
              <a:lnSpc>
                <a:spcPct val="115000"/>
              </a:lnSpc>
              <a:spcBef>
                <a:spcPts val="0"/>
              </a:spcBef>
              <a:spcAft>
                <a:spcPts val="0"/>
              </a:spcAft>
              <a:buClr>
                <a:schemeClr val="dk1"/>
              </a:buClr>
              <a:buSzPts val="1100"/>
              <a:buChar char="●"/>
            </a:pPr>
            <a:r>
              <a:rPr lang="en-US" sz="1100" b="1">
                <a:solidFill>
                  <a:schemeClr val="dk1"/>
                </a:solidFill>
              </a:rPr>
              <a:t>Recall@k:</a:t>
            </a:r>
            <a:r>
              <a:rPr lang="en-US" sz="1100">
                <a:solidFill>
                  <a:schemeClr val="dk1"/>
                </a:solidFill>
              </a:rPr>
              <a:t> Fraction of all relevant facts that appear in the top‑k results.</a:t>
            </a:r>
            <a:endParaRPr sz="1100">
              <a:solidFill>
                <a:schemeClr val="dk1"/>
              </a:solidFill>
            </a:endParaRPr>
          </a:p>
          <a:p>
            <a:pPr marL="457200" lvl="0" indent="-298450" algn="just" rtl="0">
              <a:lnSpc>
                <a:spcPct val="115000"/>
              </a:lnSpc>
              <a:spcBef>
                <a:spcPts val="0"/>
              </a:spcBef>
              <a:spcAft>
                <a:spcPts val="0"/>
              </a:spcAft>
              <a:buClr>
                <a:schemeClr val="dk1"/>
              </a:buClr>
              <a:buSzPts val="1100"/>
              <a:buChar char="●"/>
            </a:pPr>
            <a:r>
              <a:rPr lang="en-US" sz="1100" b="1">
                <a:solidFill>
                  <a:schemeClr val="dk1"/>
                </a:solidFill>
              </a:rPr>
              <a:t>MRR (Mean Reciprocal Rank):</a:t>
            </a:r>
            <a:r>
              <a:rPr lang="en-US" sz="1100">
                <a:solidFill>
                  <a:schemeClr val="dk1"/>
                </a:solidFill>
              </a:rPr>
              <a:t> Average of reciprocal ranks of the first correct fact; higher values indicate correct results appear earlier.</a:t>
            </a:r>
            <a:endParaRPr sz="1100">
              <a:solidFill>
                <a:schemeClr val="dk1"/>
              </a:solidFill>
            </a:endParaRPr>
          </a:p>
          <a:p>
            <a:pPr marL="457200" lvl="0" indent="-298450" algn="just" rtl="0">
              <a:lnSpc>
                <a:spcPct val="115000"/>
              </a:lnSpc>
              <a:spcBef>
                <a:spcPts val="0"/>
              </a:spcBef>
              <a:spcAft>
                <a:spcPts val="0"/>
              </a:spcAft>
              <a:buClr>
                <a:schemeClr val="dk1"/>
              </a:buClr>
              <a:buSzPts val="1100"/>
              <a:buChar char="●"/>
            </a:pPr>
            <a:r>
              <a:rPr lang="en-US" sz="1100" b="1">
                <a:solidFill>
                  <a:schemeClr val="dk1"/>
                </a:solidFill>
              </a:rPr>
              <a:t>NDCG@k (Normalized Discounted Cumulative Gain):</a:t>
            </a:r>
            <a:r>
              <a:rPr lang="en-US" sz="1100">
                <a:solidFill>
                  <a:schemeClr val="dk1"/>
                </a:solidFill>
              </a:rPr>
              <a:t> Measures ranking quality, giving higher weight to relevant facts appearing at the top.</a:t>
            </a:r>
            <a:endParaRPr sz="1100">
              <a:solidFill>
                <a:schemeClr val="dk1"/>
              </a:solidFill>
            </a:endParaRPr>
          </a:p>
          <a:p>
            <a:pPr marL="457200" lvl="0" indent="-298450" algn="just" rtl="0">
              <a:lnSpc>
                <a:spcPct val="115000"/>
              </a:lnSpc>
              <a:spcBef>
                <a:spcPts val="0"/>
              </a:spcBef>
              <a:spcAft>
                <a:spcPts val="0"/>
              </a:spcAft>
              <a:buClr>
                <a:schemeClr val="dk1"/>
              </a:buClr>
              <a:buSzPts val="1100"/>
              <a:buChar char="●"/>
            </a:pPr>
            <a:r>
              <a:rPr lang="en-US" sz="1100" b="1">
                <a:solidFill>
                  <a:schemeClr val="dk1"/>
                </a:solidFill>
              </a:rPr>
              <a:t>Top1_distance:</a:t>
            </a:r>
            <a:r>
              <a:rPr lang="en-US" sz="1100">
                <a:solidFill>
                  <a:schemeClr val="dk1"/>
                </a:solidFill>
              </a:rPr>
              <a:t> Embedding distance between the query and the closest retrieved fact.</a:t>
            </a:r>
            <a:endParaRPr sz="1100">
              <a:solidFill>
                <a:schemeClr val="dk1"/>
              </a:solidFill>
            </a:endParaRPr>
          </a:p>
          <a:p>
            <a:pPr marL="457200" lvl="0" indent="-298450" algn="just" rtl="0">
              <a:lnSpc>
                <a:spcPct val="115000"/>
              </a:lnSpc>
              <a:spcBef>
                <a:spcPts val="0"/>
              </a:spcBef>
              <a:spcAft>
                <a:spcPts val="0"/>
              </a:spcAft>
              <a:buClr>
                <a:schemeClr val="dk1"/>
              </a:buClr>
              <a:buSzPts val="1100"/>
              <a:buChar char="●"/>
            </a:pPr>
            <a:r>
              <a:rPr lang="en-US" sz="1100" b="1">
                <a:solidFill>
                  <a:schemeClr val="dk1"/>
                </a:solidFill>
              </a:rPr>
              <a:t>Mean_topk_distance:</a:t>
            </a:r>
            <a:r>
              <a:rPr lang="en-US" sz="1100">
                <a:solidFill>
                  <a:schemeClr val="dk1"/>
                </a:solidFill>
              </a:rPr>
              <a:t> Average embedding distance across the top‑k retrieved facts.</a:t>
            </a:r>
            <a:endParaRPr sz="1100">
              <a:solidFill>
                <a:schemeClr val="dk1"/>
              </a:solidFill>
            </a:endParaRPr>
          </a:p>
          <a:p>
            <a:pPr marL="457200" lvl="0" indent="-298450" algn="just" rtl="0">
              <a:lnSpc>
                <a:spcPct val="115000"/>
              </a:lnSpc>
              <a:spcBef>
                <a:spcPts val="0"/>
              </a:spcBef>
              <a:spcAft>
                <a:spcPts val="0"/>
              </a:spcAft>
              <a:buClr>
                <a:schemeClr val="dk1"/>
              </a:buClr>
              <a:buSzPts val="1100"/>
              <a:buChar char="●"/>
            </a:pPr>
            <a:r>
              <a:rPr lang="en-US" sz="1100" b="1">
                <a:solidFill>
                  <a:schemeClr val="dk1"/>
                </a:solidFill>
              </a:rPr>
              <a:t>Abstention Accuracy:</a:t>
            </a:r>
            <a:r>
              <a:rPr lang="en-US" sz="1100">
                <a:solidFill>
                  <a:schemeClr val="dk1"/>
                </a:solidFill>
              </a:rPr>
              <a:t> Fraction of queries not present in the KB that the system correctly identifies as absent.</a:t>
            </a:r>
            <a:endParaRPr sz="1100">
              <a:solidFill>
                <a:schemeClr val="dk1"/>
              </a:solidFill>
            </a:endParaRPr>
          </a:p>
          <a:p>
            <a:pPr marL="457200" lvl="0" indent="-298450" algn="just" rtl="0">
              <a:lnSpc>
                <a:spcPct val="115000"/>
              </a:lnSpc>
              <a:spcBef>
                <a:spcPts val="0"/>
              </a:spcBef>
              <a:spcAft>
                <a:spcPts val="0"/>
              </a:spcAft>
              <a:buClr>
                <a:schemeClr val="dk1"/>
              </a:buClr>
              <a:buSzPts val="1100"/>
              <a:buChar char="●"/>
            </a:pPr>
            <a:r>
              <a:rPr lang="en-US" sz="1100">
                <a:solidFill>
                  <a:schemeClr val="dk1"/>
                </a:solidFill>
              </a:rPr>
              <a:t>AUC_noise: measures the </a:t>
            </a:r>
            <a:r>
              <a:rPr lang="en-US" sz="1100" b="1">
                <a:solidFill>
                  <a:schemeClr val="dk1"/>
                </a:solidFill>
              </a:rPr>
              <a:t>probability the correct fact is closer than noise</a:t>
            </a:r>
            <a:r>
              <a:rPr lang="en-US" sz="1100">
                <a:solidFill>
                  <a:schemeClr val="dk1"/>
                </a:solidFill>
              </a:rPr>
              <a:t>. High AUC = KB fact is clearly separable from random vectors.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ad381497b3_0_23"/>
          <p:cNvSpPr/>
          <p:nvPr/>
        </p:nvSpPr>
        <p:spPr>
          <a:xfrm>
            <a:off x="3657600" y="0"/>
            <a:ext cx="91500" cy="154320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0" name="Google Shape;270;g3ad381497b3_0_23" descr="NLP Natural Language Processing cognitive computing technology concept. (provided by Getty Images)"/>
          <p:cNvPicPr preferRelativeResize="0"/>
          <p:nvPr/>
        </p:nvPicPr>
        <p:blipFill rotWithShape="1">
          <a:blip r:embed="rId3">
            <a:alphaModFix/>
          </a:blip>
          <a:srcRect l="36421" r="36424"/>
          <a:stretch/>
        </p:blipFill>
        <p:spPr>
          <a:xfrm>
            <a:off x="320040" y="0"/>
            <a:ext cx="3337559" cy="5143500"/>
          </a:xfrm>
          <a:prstGeom prst="rect">
            <a:avLst/>
          </a:prstGeom>
          <a:noFill/>
          <a:ln>
            <a:noFill/>
          </a:ln>
        </p:spPr>
      </p:pic>
      <p:sp>
        <p:nvSpPr>
          <p:cNvPr id="271" name="Google Shape;271;g3ad381497b3_0_23"/>
          <p:cNvSpPr/>
          <p:nvPr/>
        </p:nvSpPr>
        <p:spPr>
          <a:xfrm>
            <a:off x="0" y="0"/>
            <a:ext cx="32010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g3ad381497b3_0_23"/>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g3ad381497b3_0_23"/>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17</a:t>
            </a:r>
            <a:endParaRPr sz="1800" b="0" i="0" u="none" strike="noStrike" cap="none">
              <a:solidFill>
                <a:schemeClr val="dk1"/>
              </a:solidFill>
              <a:latin typeface="Calibri"/>
              <a:ea typeface="Calibri"/>
              <a:cs typeface="Calibri"/>
              <a:sym typeface="Calibri"/>
            </a:endParaRPr>
          </a:p>
        </p:txBody>
      </p:sp>
      <p:sp>
        <p:nvSpPr>
          <p:cNvPr id="274" name="Google Shape;274;g3ad381497b3_0_23"/>
          <p:cNvSpPr/>
          <p:nvPr/>
        </p:nvSpPr>
        <p:spPr>
          <a:xfrm>
            <a:off x="4114800" y="925830"/>
            <a:ext cx="4389000" cy="514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6847"/>
              </a:buClr>
              <a:buSzPts val="2800"/>
              <a:buFont typeface="Outfit"/>
              <a:buNone/>
            </a:pPr>
            <a:r>
              <a:rPr lang="en-US" sz="2800" b="1">
                <a:solidFill>
                  <a:srgbClr val="1A6847"/>
                </a:solidFill>
                <a:latin typeface="Outfit"/>
                <a:ea typeface="Outfit"/>
                <a:cs typeface="Outfit"/>
                <a:sym typeface="Outfit"/>
              </a:rPr>
              <a:t>GloRA</a:t>
            </a:r>
            <a:endParaRPr sz="2800" b="1">
              <a:solidFill>
                <a:srgbClr val="1A6847"/>
              </a:solidFill>
              <a:latin typeface="Outfit"/>
              <a:ea typeface="Outfit"/>
              <a:cs typeface="Outfit"/>
              <a:sym typeface="Outfit"/>
            </a:endParaRPr>
          </a:p>
        </p:txBody>
      </p:sp>
      <p:sp>
        <p:nvSpPr>
          <p:cNvPr id="275" name="Google Shape;275;g3ad381497b3_0_23"/>
          <p:cNvSpPr/>
          <p:nvPr/>
        </p:nvSpPr>
        <p:spPr>
          <a:xfrm>
            <a:off x="4153500" y="1850875"/>
            <a:ext cx="4623900" cy="231450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US" sz="1200">
                <a:latin typeface="Outfit"/>
                <a:ea typeface="Outfit"/>
                <a:cs typeface="Outfit"/>
                <a:sym typeface="Outfit"/>
              </a:rPr>
              <a:t>QLoRA fine-tuning teaches the model how to answer questions based on the sample of data you give it.</a:t>
            </a:r>
            <a:endParaRPr sz="1200">
              <a:latin typeface="Outfit"/>
              <a:ea typeface="Outfit"/>
              <a:cs typeface="Outfit"/>
              <a:sym typeface="Outfit"/>
            </a:endParaRPr>
          </a:p>
          <a:p>
            <a:pPr marL="0" marR="0" lvl="0" indent="0" algn="just" rtl="0">
              <a:lnSpc>
                <a:spcPct val="166666"/>
              </a:lnSpc>
              <a:spcBef>
                <a:spcPts val="1200"/>
              </a:spcBef>
              <a:spcAft>
                <a:spcPts val="0"/>
              </a:spcAft>
              <a:buClr>
                <a:srgbClr val="000000"/>
              </a:buClr>
              <a:buSzPts val="1200"/>
              <a:buFont typeface="Outfit"/>
              <a:buNone/>
            </a:pPr>
            <a:r>
              <a:rPr lang="en-US" sz="1100">
                <a:solidFill>
                  <a:schemeClr val="dk1"/>
                </a:solidFill>
              </a:rPr>
              <a:t>After training, the model answers new questions in the </a:t>
            </a:r>
            <a:r>
              <a:rPr lang="en-US" sz="1100" b="1">
                <a:solidFill>
                  <a:schemeClr val="dk1"/>
                </a:solidFill>
              </a:rPr>
              <a:t>same style and logic</a:t>
            </a:r>
            <a:r>
              <a:rPr lang="en-US" sz="1100">
                <a:solidFill>
                  <a:schemeClr val="dk1"/>
                </a:solidFill>
              </a:rPr>
              <a:t> as the samples.</a:t>
            </a:r>
            <a:endParaRPr sz="1100">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1100">
                <a:solidFill>
                  <a:schemeClr val="dk1"/>
                </a:solidFill>
              </a:rPr>
              <a:t>Instead of training the whole model (billions of parameters), QLoRA trains </a:t>
            </a:r>
            <a:r>
              <a:rPr lang="en-US" sz="1100" b="1">
                <a:solidFill>
                  <a:schemeClr val="dk1"/>
                </a:solidFill>
              </a:rPr>
              <a:t>tiny low-rank adapter matrices (LoRA layers)</a:t>
            </a:r>
            <a:r>
              <a:rPr lang="en-US" sz="1100">
                <a:solidFill>
                  <a:schemeClr val="dk1"/>
                </a:solidFill>
              </a:rPr>
              <a:t>.</a:t>
            </a:r>
            <a:endParaRPr sz="1100">
              <a:solidFill>
                <a:schemeClr val="dk1"/>
              </a:solidFill>
            </a:endParaRPr>
          </a:p>
          <a:p>
            <a:pPr marL="457200" lvl="0" indent="-298450" algn="just" rtl="0">
              <a:lnSpc>
                <a:spcPct val="115000"/>
              </a:lnSpc>
              <a:spcBef>
                <a:spcPts val="1200"/>
              </a:spcBef>
              <a:spcAft>
                <a:spcPts val="0"/>
              </a:spcAft>
              <a:buClr>
                <a:schemeClr val="dk1"/>
              </a:buClr>
              <a:buSzPts val="1100"/>
              <a:buChar char="●"/>
            </a:pPr>
            <a:r>
              <a:rPr lang="en-US" sz="1100">
                <a:solidFill>
                  <a:schemeClr val="dk1"/>
                </a:solidFill>
              </a:rPr>
              <a:t>Full model training = huge memory</a:t>
            </a:r>
            <a:br>
              <a:rPr lang="en-US" sz="1100">
                <a:solidFill>
                  <a:schemeClr val="dk1"/>
                </a:solidFill>
              </a:rPr>
            </a:br>
            <a:endParaRPr sz="1100">
              <a:solidFill>
                <a:schemeClr val="dk1"/>
              </a:solidFill>
            </a:endParaRPr>
          </a:p>
          <a:p>
            <a:pPr marL="457200" lvl="0" indent="-298450" algn="just" rtl="0">
              <a:lnSpc>
                <a:spcPct val="115000"/>
              </a:lnSpc>
              <a:spcBef>
                <a:spcPts val="0"/>
              </a:spcBef>
              <a:spcAft>
                <a:spcPts val="0"/>
              </a:spcAft>
              <a:buClr>
                <a:schemeClr val="dk1"/>
              </a:buClr>
              <a:buSzPts val="1100"/>
              <a:buChar char="●"/>
            </a:pPr>
            <a:r>
              <a:rPr lang="en-US" sz="1100">
                <a:solidFill>
                  <a:schemeClr val="dk1"/>
                </a:solidFill>
              </a:rPr>
              <a:t>QLoRA = trains &lt;1% of parameters</a:t>
            </a:r>
            <a:endParaRPr sz="1100">
              <a:solidFill>
                <a:schemeClr val="dk1"/>
              </a:solidFill>
            </a:endParaRPr>
          </a:p>
          <a:p>
            <a:pPr marL="457200" lvl="0" indent="0" algn="just" rtl="0">
              <a:lnSpc>
                <a:spcPct val="115000"/>
              </a:lnSpc>
              <a:spcBef>
                <a:spcPts val="1200"/>
              </a:spcBef>
              <a:spcAft>
                <a:spcPts val="0"/>
              </a:spcAft>
              <a:buNone/>
            </a:pPr>
            <a:r>
              <a:rPr lang="en-US" sz="1100">
                <a:solidFill>
                  <a:schemeClr val="dk1"/>
                </a:solidFill>
              </a:rPr>
              <a:t>By that QLoRA improves computation and memory usage.</a:t>
            </a:r>
            <a:endParaRPr sz="1100">
              <a:solidFill>
                <a:schemeClr val="dk1"/>
              </a:solidFill>
            </a:endParaRPr>
          </a:p>
          <a:p>
            <a:pPr marL="0" marR="0" lvl="0" indent="0" algn="just" rtl="0">
              <a:lnSpc>
                <a:spcPct val="166666"/>
              </a:lnSpc>
              <a:spcBef>
                <a:spcPts val="1200"/>
              </a:spcBef>
              <a:spcAft>
                <a:spcPts val="0"/>
              </a:spcAft>
              <a:buClr>
                <a:srgbClr val="000000"/>
              </a:buClr>
              <a:buSzPts val="1200"/>
              <a:buFont typeface="Outfit"/>
              <a:buNone/>
            </a:pPr>
            <a:endParaRPr sz="1100">
              <a:solidFill>
                <a:schemeClr val="dk1"/>
              </a:solidFill>
            </a:endParaRPr>
          </a:p>
          <a:p>
            <a:pPr marL="0" marR="0" lvl="0" indent="0" algn="just" rtl="0">
              <a:lnSpc>
                <a:spcPct val="166666"/>
              </a:lnSpc>
              <a:spcBef>
                <a:spcPts val="0"/>
              </a:spcBef>
              <a:spcAft>
                <a:spcPts val="0"/>
              </a:spcAft>
              <a:buClr>
                <a:srgbClr val="000000"/>
              </a:buClr>
              <a:buSzPts val="1200"/>
              <a:buFont typeface="Outfit"/>
              <a:buNone/>
            </a:pPr>
            <a:endParaRPr sz="11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g3ad381497b3_0_39"/>
          <p:cNvSpPr/>
          <p:nvPr/>
        </p:nvSpPr>
        <p:spPr>
          <a:xfrm>
            <a:off x="3657600" y="0"/>
            <a:ext cx="91500" cy="154320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82" name="Google Shape;282;g3ad381497b3_0_39" descr="NLP Natural Language Processing cognitive computing technology concept. (provided by Getty Images)"/>
          <p:cNvPicPr preferRelativeResize="0"/>
          <p:nvPr/>
        </p:nvPicPr>
        <p:blipFill rotWithShape="1">
          <a:blip r:embed="rId3">
            <a:alphaModFix/>
          </a:blip>
          <a:srcRect l="36421" r="36424"/>
          <a:stretch/>
        </p:blipFill>
        <p:spPr>
          <a:xfrm>
            <a:off x="320040" y="0"/>
            <a:ext cx="3337559" cy="5143500"/>
          </a:xfrm>
          <a:prstGeom prst="rect">
            <a:avLst/>
          </a:prstGeom>
          <a:noFill/>
          <a:ln>
            <a:noFill/>
          </a:ln>
        </p:spPr>
      </p:pic>
      <p:sp>
        <p:nvSpPr>
          <p:cNvPr id="283" name="Google Shape;283;g3ad381497b3_0_39"/>
          <p:cNvSpPr/>
          <p:nvPr/>
        </p:nvSpPr>
        <p:spPr>
          <a:xfrm>
            <a:off x="0" y="0"/>
            <a:ext cx="32010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g3ad381497b3_0_39"/>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g3ad381497b3_0_39"/>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18</a:t>
            </a:r>
            <a:endParaRPr sz="1800" b="0" i="0" u="none" strike="noStrike" cap="none">
              <a:solidFill>
                <a:schemeClr val="dk1"/>
              </a:solidFill>
              <a:latin typeface="Calibri"/>
              <a:ea typeface="Calibri"/>
              <a:cs typeface="Calibri"/>
              <a:sym typeface="Calibri"/>
            </a:endParaRPr>
          </a:p>
        </p:txBody>
      </p:sp>
      <p:sp>
        <p:nvSpPr>
          <p:cNvPr id="286" name="Google Shape;286;g3ad381497b3_0_39"/>
          <p:cNvSpPr/>
          <p:nvPr/>
        </p:nvSpPr>
        <p:spPr>
          <a:xfrm>
            <a:off x="4114800" y="925830"/>
            <a:ext cx="4389000" cy="514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6847"/>
              </a:buClr>
              <a:buSzPts val="2800"/>
              <a:buFont typeface="Outfit"/>
              <a:buNone/>
            </a:pPr>
            <a:r>
              <a:rPr lang="en-US" sz="2800" b="1">
                <a:solidFill>
                  <a:srgbClr val="1A6847"/>
                </a:solidFill>
                <a:latin typeface="Outfit"/>
                <a:ea typeface="Outfit"/>
                <a:cs typeface="Outfit"/>
                <a:sym typeface="Outfit"/>
              </a:rPr>
              <a:t>Domain, Non-domain classifier</a:t>
            </a:r>
            <a:endParaRPr sz="2800" b="1">
              <a:solidFill>
                <a:srgbClr val="1A6847"/>
              </a:solidFill>
              <a:latin typeface="Outfit"/>
              <a:ea typeface="Outfit"/>
              <a:cs typeface="Outfit"/>
              <a:sym typeface="Outfit"/>
            </a:endParaRPr>
          </a:p>
        </p:txBody>
      </p:sp>
      <p:sp>
        <p:nvSpPr>
          <p:cNvPr id="287" name="Google Shape;287;g3ad381497b3_0_39"/>
          <p:cNvSpPr/>
          <p:nvPr/>
        </p:nvSpPr>
        <p:spPr>
          <a:xfrm>
            <a:off x="4153500" y="1850875"/>
            <a:ext cx="4623900" cy="2314500"/>
          </a:xfrm>
          <a:prstGeom prst="rect">
            <a:avLst/>
          </a:prstGeom>
          <a:noFill/>
          <a:ln>
            <a:noFill/>
          </a:ln>
        </p:spPr>
        <p:txBody>
          <a:bodyPr spcFirstLastPara="1" wrap="square" lIns="91425" tIns="45700" rIns="91425" bIns="45700" anchor="t" anchorCtr="0">
            <a:noAutofit/>
          </a:bodyPr>
          <a:lstStyle/>
          <a:p>
            <a:pPr marL="0" marR="0" lvl="0" indent="0" algn="just" rtl="0">
              <a:lnSpc>
                <a:spcPct val="166666"/>
              </a:lnSpc>
              <a:spcBef>
                <a:spcPts val="0"/>
              </a:spcBef>
              <a:spcAft>
                <a:spcPts val="0"/>
              </a:spcAft>
              <a:buClr>
                <a:srgbClr val="000000"/>
              </a:buClr>
              <a:buSzPts val="1200"/>
              <a:buFont typeface="Outfit"/>
              <a:buNone/>
            </a:pPr>
            <a:r>
              <a:rPr lang="en-US" sz="1200">
                <a:latin typeface="Outfit"/>
                <a:ea typeface="Outfit"/>
                <a:cs typeface="Outfit"/>
                <a:sym typeface="Outfit"/>
              </a:rPr>
              <a:t>To classify user input as personal context or domain-specific Context, we use a domain and a non-domain classifier. When the user input is classified as domain-specific, the model generates the appropriate context by retrieving relevant information from the knowledge bases. </a:t>
            </a:r>
            <a:endParaRPr sz="1200">
              <a:latin typeface="Outfit"/>
              <a:ea typeface="Outfit"/>
              <a:cs typeface="Outfit"/>
              <a:sym typeface="Outfit"/>
            </a:endParaRPr>
          </a:p>
          <a:p>
            <a:pPr marL="0" marR="0" lvl="0" indent="0" algn="just" rtl="0">
              <a:lnSpc>
                <a:spcPct val="166666"/>
              </a:lnSpc>
              <a:spcBef>
                <a:spcPts val="0"/>
              </a:spcBef>
              <a:spcAft>
                <a:spcPts val="0"/>
              </a:spcAft>
              <a:buClr>
                <a:srgbClr val="000000"/>
              </a:buClr>
              <a:buSzPts val="1200"/>
              <a:buFont typeface="Outfit"/>
              <a:buNone/>
            </a:pPr>
            <a:r>
              <a:rPr lang="en-US" sz="1200" b="1">
                <a:latin typeface="Outfit"/>
                <a:ea typeface="Outfit"/>
                <a:cs typeface="Outfit"/>
                <a:sym typeface="Outfit"/>
              </a:rPr>
              <a:t>Evaluation</a:t>
            </a:r>
            <a:r>
              <a:rPr lang="en-US" sz="1200">
                <a:latin typeface="Outfit"/>
                <a:ea typeface="Outfit"/>
                <a:cs typeface="Outfit"/>
                <a:sym typeface="Outfit"/>
              </a:rPr>
              <a:t>:Accuracy, precision, recall and F1 score</a:t>
            </a:r>
            <a:endParaRPr sz="1200">
              <a:latin typeface="Outfit"/>
              <a:ea typeface="Outfit"/>
              <a:cs typeface="Outfit"/>
              <a:sym typeface="Outfit"/>
            </a:endParaRPr>
          </a:p>
          <a:p>
            <a:pPr marL="0" marR="0" lvl="0" indent="0" algn="just" rtl="0">
              <a:lnSpc>
                <a:spcPct val="166666"/>
              </a:lnSpc>
              <a:spcBef>
                <a:spcPts val="0"/>
              </a:spcBef>
              <a:spcAft>
                <a:spcPts val="0"/>
              </a:spcAft>
              <a:buClr>
                <a:srgbClr val="000000"/>
              </a:buClr>
              <a:buSzPts val="1200"/>
              <a:buFont typeface="Outfit"/>
              <a:buNone/>
            </a:pPr>
            <a:r>
              <a:rPr lang="en-US" sz="1200" b="1">
                <a:latin typeface="Outfit"/>
                <a:ea typeface="Outfit"/>
                <a:cs typeface="Outfit"/>
                <a:sym typeface="Outfit"/>
              </a:rPr>
              <a:t>Results: </a:t>
            </a:r>
            <a:endParaRPr sz="1200" b="1">
              <a:latin typeface="Outfit"/>
              <a:ea typeface="Outfit"/>
              <a:cs typeface="Outfit"/>
              <a:sym typeface="Outfit"/>
            </a:endParaRPr>
          </a:p>
        </p:txBody>
      </p:sp>
      <p:pic>
        <p:nvPicPr>
          <p:cNvPr id="288" name="Google Shape;288;g3ad381497b3_0_39" title="result4.png"/>
          <p:cNvPicPr preferRelativeResize="0"/>
          <p:nvPr/>
        </p:nvPicPr>
        <p:blipFill>
          <a:blip r:embed="rId4">
            <a:alphaModFix/>
          </a:blip>
          <a:stretch>
            <a:fillRect/>
          </a:stretch>
        </p:blipFill>
        <p:spPr>
          <a:xfrm>
            <a:off x="5018550" y="3934975"/>
            <a:ext cx="2259200" cy="769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9"/>
          <p:cNvSpPr/>
          <p:nvPr/>
        </p:nvSpPr>
        <p:spPr>
          <a:xfrm>
            <a:off x="3657600" y="0"/>
            <a:ext cx="91440" cy="154305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95" name="Google Shape;295;p9" descr="NLP Natural Language Processing cognitive computing technology concept. (provided by Getty Images)"/>
          <p:cNvPicPr preferRelativeResize="0"/>
          <p:nvPr/>
        </p:nvPicPr>
        <p:blipFill rotWithShape="1">
          <a:blip r:embed="rId3">
            <a:alphaModFix/>
          </a:blip>
          <a:srcRect l="36423" r="36423"/>
          <a:stretch/>
        </p:blipFill>
        <p:spPr>
          <a:xfrm>
            <a:off x="320040" y="0"/>
            <a:ext cx="3337559" cy="5143500"/>
          </a:xfrm>
          <a:prstGeom prst="rect">
            <a:avLst/>
          </a:prstGeom>
          <a:noFill/>
          <a:ln>
            <a:noFill/>
          </a:ln>
        </p:spPr>
      </p:pic>
      <p:sp>
        <p:nvSpPr>
          <p:cNvPr id="296" name="Google Shape;296;p9"/>
          <p:cNvSpPr/>
          <p:nvPr/>
        </p:nvSpPr>
        <p:spPr>
          <a:xfrm>
            <a:off x="0" y="0"/>
            <a:ext cx="32004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9"/>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9"/>
          <p:cNvSpPr/>
          <p:nvPr/>
        </p:nvSpPr>
        <p:spPr>
          <a:xfrm>
            <a:off x="4114800"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19</a:t>
            </a:r>
            <a:endParaRPr sz="1800" b="0" i="0" u="none" strike="noStrike" cap="none">
              <a:solidFill>
                <a:schemeClr val="dk1"/>
              </a:solidFill>
              <a:latin typeface="Calibri"/>
              <a:ea typeface="Calibri"/>
              <a:cs typeface="Calibri"/>
              <a:sym typeface="Calibri"/>
            </a:endParaRPr>
          </a:p>
        </p:txBody>
      </p:sp>
      <p:sp>
        <p:nvSpPr>
          <p:cNvPr id="299" name="Google Shape;299;p9"/>
          <p:cNvSpPr/>
          <p:nvPr/>
        </p:nvSpPr>
        <p:spPr>
          <a:xfrm>
            <a:off x="4015800" y="695917"/>
            <a:ext cx="43890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6847"/>
              </a:buClr>
              <a:buSzPts val="2800"/>
              <a:buFont typeface="Outfit"/>
              <a:buNone/>
            </a:pPr>
            <a:r>
              <a:rPr lang="en-US" sz="2800" b="1">
                <a:solidFill>
                  <a:srgbClr val="1A6847"/>
                </a:solidFill>
                <a:latin typeface="Outfit"/>
                <a:ea typeface="Outfit"/>
                <a:cs typeface="Outfit"/>
                <a:sym typeface="Outfit"/>
              </a:rPr>
              <a:t>Chat</a:t>
            </a:r>
            <a:endParaRPr sz="2800" b="0" i="0" u="none" strike="noStrike" cap="none">
              <a:solidFill>
                <a:schemeClr val="dk1"/>
              </a:solidFill>
              <a:latin typeface="Calibri"/>
              <a:ea typeface="Calibri"/>
              <a:cs typeface="Calibri"/>
              <a:sym typeface="Calibri"/>
            </a:endParaRPr>
          </a:p>
        </p:txBody>
      </p:sp>
      <p:sp>
        <p:nvSpPr>
          <p:cNvPr id="300" name="Google Shape;300;p9"/>
          <p:cNvSpPr/>
          <p:nvPr/>
        </p:nvSpPr>
        <p:spPr>
          <a:xfrm>
            <a:off x="4572000" y="1623180"/>
            <a:ext cx="3749100" cy="514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alibri"/>
              <a:ea typeface="Calibri"/>
              <a:cs typeface="Calibri"/>
              <a:sym typeface="Calibri"/>
            </a:endParaRPr>
          </a:p>
        </p:txBody>
      </p:sp>
      <p:sp>
        <p:nvSpPr>
          <p:cNvPr id="301" name="Google Shape;301;p9"/>
          <p:cNvSpPr/>
          <p:nvPr/>
        </p:nvSpPr>
        <p:spPr>
          <a:xfrm>
            <a:off x="3898350" y="1615763"/>
            <a:ext cx="4623900" cy="2319300"/>
          </a:xfrm>
          <a:prstGeom prst="rect">
            <a:avLst/>
          </a:prstGeom>
          <a:noFill/>
          <a:ln>
            <a:noFill/>
          </a:ln>
        </p:spPr>
        <p:txBody>
          <a:bodyPr spcFirstLastPara="1" wrap="square" lIns="91425" tIns="45700" rIns="91425" bIns="45700" anchor="t" anchorCtr="0">
            <a:noAutofit/>
          </a:bodyPr>
          <a:lstStyle/>
          <a:p>
            <a:pPr marL="0" marR="0" lvl="0" indent="0" algn="just" rtl="0">
              <a:lnSpc>
                <a:spcPct val="166666"/>
              </a:lnSpc>
              <a:spcBef>
                <a:spcPts val="0"/>
              </a:spcBef>
              <a:spcAft>
                <a:spcPts val="0"/>
              </a:spcAft>
              <a:buClr>
                <a:srgbClr val="000000"/>
              </a:buClr>
              <a:buSzPts val="1200"/>
              <a:buFont typeface="Outfit"/>
              <a:buNone/>
            </a:pPr>
            <a:r>
              <a:rPr lang="en-US" sz="1200">
                <a:latin typeface="Outfit"/>
                <a:ea typeface="Outfit"/>
                <a:cs typeface="Outfit"/>
                <a:sym typeface="Outfit"/>
              </a:rPr>
              <a:t>To demonstrate the integration of the domain-specific models, we combined them into a chat system. While the primary evaluation focused on the individual models (e.g., KB retrieval, visitor prediction, and classification), the chat interface shows practical usage.</a:t>
            </a:r>
            <a:endParaRPr sz="1200" i="0" u="none" strike="noStrike" cap="none">
              <a:solidFill>
                <a:srgbClr val="000000"/>
              </a:solidFill>
              <a:latin typeface="Outfit"/>
              <a:ea typeface="Outfit"/>
              <a:cs typeface="Outfit"/>
              <a:sym typeface="Outfit"/>
            </a:endParaRPr>
          </a:p>
        </p:txBody>
      </p:sp>
      <p:pic>
        <p:nvPicPr>
          <p:cNvPr id="302" name="Google Shape;302;p9" title="Screenshot 2025-12-04 044540.png"/>
          <p:cNvPicPr preferRelativeResize="0"/>
          <p:nvPr/>
        </p:nvPicPr>
        <p:blipFill>
          <a:blip r:embed="rId4">
            <a:alphaModFix/>
          </a:blip>
          <a:stretch>
            <a:fillRect/>
          </a:stretch>
        </p:blipFill>
        <p:spPr>
          <a:xfrm>
            <a:off x="3855749" y="4340400"/>
            <a:ext cx="5181601" cy="341644"/>
          </a:xfrm>
          <a:prstGeom prst="rect">
            <a:avLst/>
          </a:prstGeom>
          <a:noFill/>
          <a:ln>
            <a:noFill/>
          </a:ln>
        </p:spPr>
      </p:pic>
      <p:pic>
        <p:nvPicPr>
          <p:cNvPr id="303" name="Google Shape;303;p9" title="Screenshot 2025-12-04 044501.png"/>
          <p:cNvPicPr preferRelativeResize="0"/>
          <p:nvPr/>
        </p:nvPicPr>
        <p:blipFill>
          <a:blip r:embed="rId5">
            <a:alphaModFix/>
          </a:blip>
          <a:stretch>
            <a:fillRect/>
          </a:stretch>
        </p:blipFill>
        <p:spPr>
          <a:xfrm>
            <a:off x="3855750" y="3368850"/>
            <a:ext cx="4495800" cy="9715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10"/>
          <p:cNvSpPr/>
          <p:nvPr/>
        </p:nvSpPr>
        <p:spPr>
          <a:xfrm>
            <a:off x="3657600" y="0"/>
            <a:ext cx="91440" cy="1543050"/>
          </a:xfrm>
          <a:prstGeom prst="rect">
            <a:avLst/>
          </a:prstGeom>
          <a:solidFill>
            <a:srgbClr val="FFD600"/>
          </a:solidFill>
          <a:ln w="12700" cap="flat" cmpd="sng">
            <a:solidFill>
              <a:srgbClr val="FFD6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10" name="Google Shape;310;p10" descr="https://images.pexels.com/photos/6153343/pexels-photo-6153343.jpeg?auto=compress&amp;cs=tinysrgb&amp;fit=crop&amp;h=1200&amp;w=800"/>
          <p:cNvPicPr preferRelativeResize="0"/>
          <p:nvPr/>
        </p:nvPicPr>
        <p:blipFill rotWithShape="1">
          <a:blip r:embed="rId3">
            <a:alphaModFix/>
          </a:blip>
          <a:srcRect/>
          <a:stretch/>
        </p:blipFill>
        <p:spPr>
          <a:xfrm>
            <a:off x="320040" y="0"/>
            <a:ext cx="3337560" cy="5143500"/>
          </a:xfrm>
          <a:prstGeom prst="rect">
            <a:avLst/>
          </a:prstGeom>
          <a:noFill/>
          <a:ln>
            <a:noFill/>
          </a:ln>
        </p:spPr>
      </p:pic>
      <p:pic>
        <p:nvPicPr>
          <p:cNvPr id="311" name="Google Shape;311;p10" descr="https://djgurnpwsdoqjscwqbsj.supabase.co/storage/v1/object/public/users_file_magicslides_io/grayscale_image.png"/>
          <p:cNvPicPr preferRelativeResize="0"/>
          <p:nvPr/>
        </p:nvPicPr>
        <p:blipFill rotWithShape="1">
          <a:blip r:embed="rId4">
            <a:alphaModFix/>
          </a:blip>
          <a:srcRect/>
          <a:stretch/>
        </p:blipFill>
        <p:spPr>
          <a:xfrm>
            <a:off x="4206240" y="1800225"/>
            <a:ext cx="365760" cy="365760"/>
          </a:xfrm>
          <a:prstGeom prst="rect">
            <a:avLst/>
          </a:prstGeom>
          <a:noFill/>
          <a:ln>
            <a:noFill/>
          </a:ln>
        </p:spPr>
      </p:pic>
      <p:sp>
        <p:nvSpPr>
          <p:cNvPr id="312" name="Google Shape;312;p10"/>
          <p:cNvSpPr/>
          <p:nvPr/>
        </p:nvSpPr>
        <p:spPr>
          <a:xfrm>
            <a:off x="0" y="0"/>
            <a:ext cx="320040" cy="51435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10"/>
          <p:cNvSpPr/>
          <p:nvPr/>
        </p:nvSpPr>
        <p:spPr>
          <a:xfrm>
            <a:off x="4114800"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 name="Google Shape;314;p10"/>
          <p:cNvSpPr/>
          <p:nvPr/>
        </p:nvSpPr>
        <p:spPr>
          <a:xfrm>
            <a:off x="4114800" y="0"/>
            <a:ext cx="5718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a:solidFill>
                  <a:srgbClr val="FFD600"/>
                </a:solidFill>
                <a:latin typeface="Outfit"/>
                <a:ea typeface="Outfit"/>
                <a:cs typeface="Outfit"/>
                <a:sym typeface="Outfit"/>
              </a:rPr>
              <a:t>20</a:t>
            </a:r>
            <a:endParaRPr sz="1800" b="0" i="0" u="none" strike="noStrike" cap="none">
              <a:solidFill>
                <a:schemeClr val="dk1"/>
              </a:solidFill>
              <a:latin typeface="Calibri"/>
              <a:ea typeface="Calibri"/>
              <a:cs typeface="Calibri"/>
              <a:sym typeface="Calibri"/>
            </a:endParaRPr>
          </a:p>
        </p:txBody>
      </p:sp>
      <p:sp>
        <p:nvSpPr>
          <p:cNvPr id="315" name="Google Shape;315;p10"/>
          <p:cNvSpPr/>
          <p:nvPr/>
        </p:nvSpPr>
        <p:spPr>
          <a:xfrm>
            <a:off x="4114800" y="925825"/>
            <a:ext cx="5189400" cy="514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A6847"/>
              </a:buClr>
              <a:buSzPts val="2800"/>
              <a:buFont typeface="Outfit"/>
              <a:buNone/>
            </a:pPr>
            <a:r>
              <a:rPr lang="en-US" sz="2800" b="1">
                <a:solidFill>
                  <a:srgbClr val="1A6847"/>
                </a:solidFill>
                <a:latin typeface="Outfit"/>
                <a:ea typeface="Outfit"/>
                <a:cs typeface="Outfit"/>
                <a:sym typeface="Outfit"/>
              </a:rPr>
              <a:t>Future Work</a:t>
            </a:r>
            <a:endParaRPr sz="2800" b="0" i="0" u="none" strike="noStrike" cap="none">
              <a:solidFill>
                <a:schemeClr val="dk1"/>
              </a:solidFill>
              <a:latin typeface="Calibri"/>
              <a:ea typeface="Calibri"/>
              <a:cs typeface="Calibri"/>
              <a:sym typeface="Calibri"/>
            </a:endParaRPr>
          </a:p>
        </p:txBody>
      </p:sp>
      <p:sp>
        <p:nvSpPr>
          <p:cNvPr id="316" name="Google Shape;316;p10"/>
          <p:cNvSpPr/>
          <p:nvPr/>
        </p:nvSpPr>
        <p:spPr>
          <a:xfrm>
            <a:off x="4572000" y="1697355"/>
            <a:ext cx="3749040" cy="5143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Calibri"/>
              <a:ea typeface="Calibri"/>
              <a:cs typeface="Calibri"/>
              <a:sym typeface="Calibri"/>
            </a:endParaRPr>
          </a:p>
        </p:txBody>
      </p:sp>
      <p:sp>
        <p:nvSpPr>
          <p:cNvPr id="317" name="Google Shape;317;p10"/>
          <p:cNvSpPr/>
          <p:nvPr/>
        </p:nvSpPr>
        <p:spPr>
          <a:xfrm>
            <a:off x="4114800" y="2160270"/>
            <a:ext cx="4389120" cy="2314575"/>
          </a:xfrm>
          <a:prstGeom prst="rect">
            <a:avLst/>
          </a:prstGeom>
          <a:noFill/>
          <a:ln>
            <a:noFill/>
          </a:ln>
        </p:spPr>
        <p:txBody>
          <a:bodyPr spcFirstLastPara="1" wrap="square" lIns="91425" tIns="45700" rIns="91425" bIns="45700" anchor="t" anchorCtr="0">
            <a:noAutofit/>
          </a:bodyPr>
          <a:lstStyle/>
          <a:p>
            <a:pPr marL="457200" lvl="0" indent="-298450" algn="just" rtl="0">
              <a:lnSpc>
                <a:spcPct val="166666"/>
              </a:lnSpc>
              <a:spcBef>
                <a:spcPts val="0"/>
              </a:spcBef>
              <a:spcAft>
                <a:spcPts val="0"/>
              </a:spcAft>
              <a:buClr>
                <a:schemeClr val="dk1"/>
              </a:buClr>
              <a:buSzPts val="1100"/>
              <a:buChar char="●"/>
            </a:pPr>
            <a:r>
              <a:rPr lang="en-US" sz="1200" b="1">
                <a:solidFill>
                  <a:schemeClr val="dk1"/>
                </a:solidFill>
                <a:latin typeface="Outfit"/>
                <a:ea typeface="Outfit"/>
                <a:cs typeface="Outfit"/>
                <a:sym typeface="Outfit"/>
              </a:rPr>
              <a:t>A formal evaluation of the full chat system .</a:t>
            </a:r>
            <a:endParaRPr sz="1200" b="1">
              <a:latin typeface="Outfit"/>
              <a:ea typeface="Outfit"/>
              <a:cs typeface="Outfit"/>
              <a:sym typeface="Outfit"/>
            </a:endParaRPr>
          </a:p>
          <a:p>
            <a:pPr marL="457200" lvl="0" indent="-298450" algn="l" rtl="0">
              <a:lnSpc>
                <a:spcPct val="115000"/>
              </a:lnSpc>
              <a:spcBef>
                <a:spcPts val="0"/>
              </a:spcBef>
              <a:spcAft>
                <a:spcPts val="0"/>
              </a:spcAft>
              <a:buClr>
                <a:schemeClr val="dk1"/>
              </a:buClr>
              <a:buSzPts val="1100"/>
              <a:buChar char="●"/>
            </a:pPr>
            <a:r>
              <a:rPr lang="en-US" sz="1200" b="1">
                <a:latin typeface="Outfit"/>
                <a:ea typeface="Outfit"/>
                <a:cs typeface="Outfit"/>
                <a:sym typeface="Outfit"/>
              </a:rPr>
              <a:t>Expand knowledge base across multiple hospital domains.</a:t>
            </a:r>
            <a:endParaRPr sz="1200" b="1">
              <a:latin typeface="Outfit"/>
              <a:ea typeface="Outfit"/>
              <a:cs typeface="Outfit"/>
              <a:sym typeface="Outfit"/>
            </a:endParaRPr>
          </a:p>
          <a:p>
            <a:pPr marL="457200" lvl="0" indent="-298450" algn="l" rtl="0">
              <a:lnSpc>
                <a:spcPct val="115000"/>
              </a:lnSpc>
              <a:spcBef>
                <a:spcPts val="0"/>
              </a:spcBef>
              <a:spcAft>
                <a:spcPts val="0"/>
              </a:spcAft>
              <a:buClr>
                <a:schemeClr val="dk1"/>
              </a:buClr>
              <a:buSzPts val="1100"/>
              <a:buChar char="●"/>
            </a:pPr>
            <a:r>
              <a:rPr lang="en-US" sz="1200" b="1">
                <a:latin typeface="Outfit"/>
                <a:ea typeface="Outfit"/>
                <a:cs typeface="Outfit"/>
                <a:sym typeface="Outfit"/>
              </a:rPr>
              <a:t>Improve LLM interpretability and prediction accuracy.</a:t>
            </a:r>
            <a:endParaRPr sz="1200" b="1">
              <a:latin typeface="Outfit"/>
              <a:ea typeface="Outfit"/>
              <a:cs typeface="Outfit"/>
              <a:sym typeface="Outfit"/>
            </a:endParaRPr>
          </a:p>
          <a:p>
            <a:pPr marL="457200" lvl="0" indent="-298450" algn="l" rtl="0">
              <a:lnSpc>
                <a:spcPct val="115000"/>
              </a:lnSpc>
              <a:spcBef>
                <a:spcPts val="0"/>
              </a:spcBef>
              <a:spcAft>
                <a:spcPts val="0"/>
              </a:spcAft>
              <a:buClr>
                <a:schemeClr val="dk1"/>
              </a:buClr>
              <a:buSzPts val="1100"/>
              <a:buChar char="●"/>
            </a:pPr>
            <a:r>
              <a:rPr lang="en-US" sz="1200" b="1">
                <a:latin typeface="Outfit"/>
                <a:ea typeface="Outfit"/>
                <a:cs typeface="Outfit"/>
                <a:sym typeface="Outfit"/>
              </a:rPr>
              <a:t>Utilize a catalog to enhance multimodal data organization by leveraging Neuralink’s data repository, which provides a unified and scalable way to structure, access, and manage diverse data types efficiently.</a:t>
            </a:r>
            <a:endParaRPr sz="1200" b="1">
              <a:latin typeface="Outfit"/>
              <a:ea typeface="Outfit"/>
              <a:cs typeface="Outfit"/>
              <a:sym typeface="Outfit"/>
            </a:endParaRPr>
          </a:p>
          <a:p>
            <a:pPr marL="0" marR="0" lvl="0" indent="0" algn="just" rtl="0">
              <a:lnSpc>
                <a:spcPct val="166666"/>
              </a:lnSpc>
              <a:spcBef>
                <a:spcPts val="1200"/>
              </a:spcBef>
              <a:spcAft>
                <a:spcPts val="0"/>
              </a:spcAft>
              <a:buClr>
                <a:srgbClr val="000000"/>
              </a:buClr>
              <a:buSzPts val="1200"/>
              <a:buFont typeface="Outfit"/>
              <a:buNone/>
            </a:pPr>
            <a:endParaRPr sz="1200" b="1">
              <a:latin typeface="Outfit"/>
              <a:ea typeface="Outfit"/>
              <a:cs typeface="Outfit"/>
              <a:sym typeface="Outfi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pic>
        <p:nvPicPr>
          <p:cNvPr id="323" name="Google Shape;323;g39ad14173ec_0_24" descr="File:Neuralink logo.svg - Wikimedia Commons"/>
          <p:cNvPicPr preferRelativeResize="0"/>
          <p:nvPr/>
        </p:nvPicPr>
        <p:blipFill rotWithShape="1">
          <a:blip r:embed="rId3">
            <a:alphaModFix/>
          </a:blip>
          <a:srcRect/>
          <a:stretch/>
        </p:blipFill>
        <p:spPr>
          <a:xfrm>
            <a:off x="94500" y="155675"/>
            <a:ext cx="1950700" cy="764825"/>
          </a:xfrm>
          <a:prstGeom prst="rect">
            <a:avLst/>
          </a:prstGeom>
          <a:noFill/>
          <a:ln>
            <a:noFill/>
          </a:ln>
        </p:spPr>
      </p:pic>
      <p:pic>
        <p:nvPicPr>
          <p:cNvPr id="324" name="Google Shape;324;g39ad14173ec_0_24" descr="a man in a suit and tie is pointing at something in the dark (provided by Tenor)"/>
          <p:cNvPicPr preferRelativeResize="0"/>
          <p:nvPr/>
        </p:nvPicPr>
        <p:blipFill rotWithShape="1">
          <a:blip r:embed="rId4">
            <a:alphaModFix/>
          </a:blip>
          <a:srcRect/>
          <a:stretch/>
        </p:blipFill>
        <p:spPr>
          <a:xfrm>
            <a:off x="94500" y="1070812"/>
            <a:ext cx="3054075" cy="1551425"/>
          </a:xfrm>
          <a:prstGeom prst="rect">
            <a:avLst/>
          </a:prstGeom>
          <a:noFill/>
          <a:ln>
            <a:noFill/>
          </a:ln>
        </p:spPr>
      </p:pic>
      <p:sp>
        <p:nvSpPr>
          <p:cNvPr id="325" name="Google Shape;325;g39ad14173ec_0_24"/>
          <p:cNvSpPr txBox="1"/>
          <p:nvPr/>
        </p:nvSpPr>
        <p:spPr>
          <a:xfrm>
            <a:off x="4300725" y="518150"/>
            <a:ext cx="3950100" cy="859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b="1"/>
              <a:t>The question asked: </a:t>
            </a:r>
            <a:r>
              <a:rPr lang="en-US"/>
              <a:t>How can we reduce data access time through different storage types? Because we have multimodal data</a:t>
            </a:r>
            <a:r>
              <a:rPr lang="en-US" b="1"/>
              <a:t>.</a:t>
            </a:r>
            <a:endParaRPr sz="1400" b="0" i="0" u="none" strike="noStrike" cap="none">
              <a:solidFill>
                <a:srgbClr val="000000"/>
              </a:solidFill>
              <a:latin typeface="Arial"/>
              <a:ea typeface="Arial"/>
              <a:cs typeface="Arial"/>
              <a:sym typeface="Arial"/>
            </a:endParaRPr>
          </a:p>
        </p:txBody>
      </p:sp>
      <p:sp>
        <p:nvSpPr>
          <p:cNvPr id="326" name="Google Shape;326;g39ad14173ec_0_24"/>
          <p:cNvSpPr/>
          <p:nvPr/>
        </p:nvSpPr>
        <p:spPr>
          <a:xfrm>
            <a:off x="4484043" y="2350500"/>
            <a:ext cx="1538100" cy="442500"/>
          </a:xfrm>
          <a:prstGeom prst="roundRect">
            <a:avLst>
              <a:gd name="adj" fmla="val 50000"/>
            </a:avLst>
          </a:prstGeom>
          <a:solidFill>
            <a:srgbClr val="840D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a:solidFill>
                  <a:srgbClr val="FFFFFF"/>
                </a:solidFill>
                <a:latin typeface="Roboto"/>
                <a:ea typeface="Roboto"/>
                <a:cs typeface="Roboto"/>
                <a:sym typeface="Roboto"/>
              </a:rPr>
              <a:t>System</a:t>
            </a:r>
            <a:endParaRPr sz="1400" b="0" i="0" u="none" strike="noStrike" cap="none">
              <a:solidFill>
                <a:srgbClr val="FFFFFF"/>
              </a:solidFill>
              <a:latin typeface="Arial"/>
              <a:ea typeface="Arial"/>
              <a:cs typeface="Arial"/>
              <a:sym typeface="Arial"/>
            </a:endParaRPr>
          </a:p>
        </p:txBody>
      </p:sp>
      <p:sp>
        <p:nvSpPr>
          <p:cNvPr id="327" name="Google Shape;327;g39ad14173ec_0_24"/>
          <p:cNvSpPr/>
          <p:nvPr/>
        </p:nvSpPr>
        <p:spPr>
          <a:xfrm>
            <a:off x="7287140" y="3229751"/>
            <a:ext cx="1538100" cy="442500"/>
          </a:xfrm>
          <a:prstGeom prst="roundRect">
            <a:avLst>
              <a:gd name="adj" fmla="val 50000"/>
            </a:avLst>
          </a:prstGeom>
          <a:solidFill>
            <a:srgbClr val="B6124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a:solidFill>
                  <a:srgbClr val="FFFFFF"/>
                </a:solidFill>
                <a:latin typeface="Roboto"/>
                <a:ea typeface="Roboto"/>
                <a:cs typeface="Roboto"/>
                <a:sym typeface="Roboto"/>
              </a:rPr>
              <a:t>signal</a:t>
            </a:r>
            <a:endParaRPr sz="1400" b="0" i="0" u="none" strike="noStrike" cap="none">
              <a:solidFill>
                <a:srgbClr val="FFFFFF"/>
              </a:solidFill>
              <a:latin typeface="Arial"/>
              <a:ea typeface="Arial"/>
              <a:cs typeface="Arial"/>
              <a:sym typeface="Arial"/>
            </a:endParaRPr>
          </a:p>
        </p:txBody>
      </p:sp>
      <p:sp>
        <p:nvSpPr>
          <p:cNvPr id="328" name="Google Shape;328;g39ad14173ec_0_24"/>
          <p:cNvSpPr/>
          <p:nvPr/>
        </p:nvSpPr>
        <p:spPr>
          <a:xfrm>
            <a:off x="1253072" y="3229751"/>
            <a:ext cx="1538100" cy="442500"/>
          </a:xfrm>
          <a:prstGeom prst="roundRect">
            <a:avLst>
              <a:gd name="adj" fmla="val 50000"/>
            </a:avLst>
          </a:prstGeom>
          <a:solidFill>
            <a:srgbClr val="B6124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FFFFF"/>
                </a:solidFill>
                <a:latin typeface="Roboto"/>
                <a:ea typeface="Roboto"/>
                <a:cs typeface="Roboto"/>
                <a:sym typeface="Roboto"/>
              </a:rPr>
              <a:t>Video</a:t>
            </a:r>
            <a:endParaRPr sz="1400" b="0" i="0" u="none" strike="noStrike" cap="none">
              <a:solidFill>
                <a:srgbClr val="FFFFFF"/>
              </a:solidFill>
              <a:latin typeface="Arial"/>
              <a:ea typeface="Arial"/>
              <a:cs typeface="Arial"/>
              <a:sym typeface="Arial"/>
            </a:endParaRPr>
          </a:p>
        </p:txBody>
      </p:sp>
      <p:cxnSp>
        <p:nvCxnSpPr>
          <p:cNvPr id="329" name="Google Shape;329;g39ad14173ec_0_24"/>
          <p:cNvCxnSpPr>
            <a:stCxn id="326" idx="2"/>
            <a:endCxn id="327" idx="0"/>
          </p:cNvCxnSpPr>
          <p:nvPr/>
        </p:nvCxnSpPr>
        <p:spPr>
          <a:xfrm rot="-5400000" flipH="1">
            <a:off x="6436293" y="1609800"/>
            <a:ext cx="436800" cy="2803200"/>
          </a:xfrm>
          <a:prstGeom prst="bentConnector3">
            <a:avLst>
              <a:gd name="adj1" fmla="val 49994"/>
            </a:avLst>
          </a:prstGeom>
          <a:noFill/>
          <a:ln w="9525" cap="flat" cmpd="sng">
            <a:solidFill>
              <a:srgbClr val="C2C2C2"/>
            </a:solidFill>
            <a:prstDash val="solid"/>
            <a:round/>
            <a:headEnd type="none" w="sm" len="sm"/>
            <a:tailEnd type="none" w="sm" len="sm"/>
          </a:ln>
        </p:spPr>
      </p:cxnSp>
      <p:cxnSp>
        <p:nvCxnSpPr>
          <p:cNvPr id="330" name="Google Shape;330;g39ad14173ec_0_24"/>
          <p:cNvCxnSpPr>
            <a:stCxn id="328" idx="0"/>
            <a:endCxn id="326" idx="2"/>
          </p:cNvCxnSpPr>
          <p:nvPr/>
        </p:nvCxnSpPr>
        <p:spPr>
          <a:xfrm rot="-5400000">
            <a:off x="3419222" y="1395851"/>
            <a:ext cx="436800" cy="3231000"/>
          </a:xfrm>
          <a:prstGeom prst="bentConnector3">
            <a:avLst>
              <a:gd name="adj1" fmla="val 49994"/>
            </a:avLst>
          </a:prstGeom>
          <a:noFill/>
          <a:ln w="9525" cap="flat" cmpd="sng">
            <a:solidFill>
              <a:srgbClr val="C2C2C2"/>
            </a:solidFill>
            <a:prstDash val="solid"/>
            <a:round/>
            <a:headEnd type="none" w="sm" len="sm"/>
            <a:tailEnd type="none" w="sm" len="sm"/>
          </a:ln>
        </p:spPr>
      </p:cxnSp>
      <p:sp>
        <p:nvSpPr>
          <p:cNvPr id="331" name="Google Shape;331;g39ad14173ec_0_24"/>
          <p:cNvSpPr/>
          <p:nvPr/>
        </p:nvSpPr>
        <p:spPr>
          <a:xfrm>
            <a:off x="5569415" y="3229751"/>
            <a:ext cx="1538100" cy="442500"/>
          </a:xfrm>
          <a:prstGeom prst="roundRect">
            <a:avLst>
              <a:gd name="adj" fmla="val 50000"/>
            </a:avLst>
          </a:prstGeom>
          <a:solidFill>
            <a:srgbClr val="B6124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a:solidFill>
                  <a:srgbClr val="FFFFFF"/>
                </a:solidFill>
                <a:latin typeface="Roboto"/>
                <a:ea typeface="Roboto"/>
                <a:cs typeface="Roboto"/>
                <a:sym typeface="Roboto"/>
              </a:rPr>
              <a:t>Text</a:t>
            </a:r>
            <a:endParaRPr sz="1400" b="0" i="0" u="none" strike="noStrike" cap="none">
              <a:solidFill>
                <a:srgbClr val="FFFFFF"/>
              </a:solidFill>
              <a:latin typeface="Arial"/>
              <a:ea typeface="Arial"/>
              <a:cs typeface="Arial"/>
              <a:sym typeface="Arial"/>
            </a:endParaRPr>
          </a:p>
        </p:txBody>
      </p:sp>
      <p:cxnSp>
        <p:nvCxnSpPr>
          <p:cNvPr id="332" name="Google Shape;332;g39ad14173ec_0_24"/>
          <p:cNvCxnSpPr>
            <a:stCxn id="326" idx="2"/>
            <a:endCxn id="331" idx="0"/>
          </p:cNvCxnSpPr>
          <p:nvPr/>
        </p:nvCxnSpPr>
        <p:spPr>
          <a:xfrm rot="-5400000" flipH="1">
            <a:off x="5577393" y="2468700"/>
            <a:ext cx="436800" cy="1085400"/>
          </a:xfrm>
          <a:prstGeom prst="bentConnector3">
            <a:avLst>
              <a:gd name="adj1" fmla="val 49994"/>
            </a:avLst>
          </a:prstGeom>
          <a:noFill/>
          <a:ln w="9525" cap="flat" cmpd="sng">
            <a:solidFill>
              <a:srgbClr val="C2C2C2"/>
            </a:solidFill>
            <a:prstDash val="solid"/>
            <a:round/>
            <a:headEnd type="none" w="sm" len="sm"/>
            <a:tailEnd type="none" w="sm" len="sm"/>
          </a:ln>
        </p:spPr>
      </p:cxnSp>
      <p:sp>
        <p:nvSpPr>
          <p:cNvPr id="333" name="Google Shape;333;g39ad14173ec_0_24"/>
          <p:cNvSpPr/>
          <p:nvPr/>
        </p:nvSpPr>
        <p:spPr>
          <a:xfrm>
            <a:off x="3411247" y="3229751"/>
            <a:ext cx="1538100" cy="442500"/>
          </a:xfrm>
          <a:prstGeom prst="roundRect">
            <a:avLst>
              <a:gd name="adj" fmla="val 50000"/>
            </a:avLst>
          </a:prstGeom>
          <a:solidFill>
            <a:srgbClr val="B6124A"/>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a:solidFill>
                  <a:srgbClr val="FFFFFF"/>
                </a:solidFill>
                <a:latin typeface="Roboto"/>
                <a:ea typeface="Roboto"/>
                <a:cs typeface="Roboto"/>
                <a:sym typeface="Roboto"/>
              </a:rPr>
              <a:t>Audio</a:t>
            </a:r>
            <a:endParaRPr sz="1400" b="0" i="0" u="none" strike="noStrike" cap="none">
              <a:solidFill>
                <a:srgbClr val="FFFFFF"/>
              </a:solidFill>
              <a:latin typeface="Arial"/>
              <a:ea typeface="Arial"/>
              <a:cs typeface="Arial"/>
              <a:sym typeface="Arial"/>
            </a:endParaRPr>
          </a:p>
        </p:txBody>
      </p:sp>
      <p:cxnSp>
        <p:nvCxnSpPr>
          <p:cNvPr id="334" name="Google Shape;334;g39ad14173ec_0_24"/>
          <p:cNvCxnSpPr>
            <a:stCxn id="333" idx="0"/>
            <a:endCxn id="326" idx="2"/>
          </p:cNvCxnSpPr>
          <p:nvPr/>
        </p:nvCxnSpPr>
        <p:spPr>
          <a:xfrm rot="-5400000">
            <a:off x="4498297" y="2474951"/>
            <a:ext cx="436800" cy="1072800"/>
          </a:xfrm>
          <a:prstGeom prst="bentConnector3">
            <a:avLst>
              <a:gd name="adj1" fmla="val 49994"/>
            </a:avLst>
          </a:prstGeom>
          <a:noFill/>
          <a:ln w="9525" cap="flat" cmpd="sng">
            <a:solidFill>
              <a:srgbClr val="C2C2C2"/>
            </a:solidFill>
            <a:prstDash val="solid"/>
            <a:round/>
            <a:headEnd type="none" w="sm" len="sm"/>
            <a:tailEnd type="none" w="sm" len="sm"/>
          </a:ln>
        </p:spPr>
      </p:cxnSp>
      <p:sp>
        <p:nvSpPr>
          <p:cNvPr id="335" name="Google Shape;335;g39ad14173ec_0_24"/>
          <p:cNvSpPr txBox="1"/>
          <p:nvPr/>
        </p:nvSpPr>
        <p:spPr>
          <a:xfrm>
            <a:off x="753525" y="4051350"/>
            <a:ext cx="1958700" cy="1006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b="1"/>
              <a:t>Answer</a:t>
            </a:r>
            <a:r>
              <a:rPr lang="en-US" sz="1400" b="1" i="0" u="none" strike="noStrike" cap="none">
                <a:solidFill>
                  <a:srgbClr val="000000"/>
                </a:solidFill>
                <a:latin typeface="Arial"/>
                <a:ea typeface="Arial"/>
                <a:cs typeface="Arial"/>
                <a:sym typeface="Arial"/>
              </a:rPr>
              <a:t>:</a:t>
            </a: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36" name="Google Shape;336;g39ad14173ec_0_24" title="datarepo.png"/>
          <p:cNvPicPr preferRelativeResize="0"/>
          <p:nvPr/>
        </p:nvPicPr>
        <p:blipFill rotWithShape="1">
          <a:blip r:embed="rId5">
            <a:alphaModFix/>
          </a:blip>
          <a:srcRect/>
          <a:stretch/>
        </p:blipFill>
        <p:spPr>
          <a:xfrm>
            <a:off x="1664438" y="3891701"/>
            <a:ext cx="2515870" cy="1166449"/>
          </a:xfrm>
          <a:prstGeom prst="rect">
            <a:avLst/>
          </a:prstGeom>
          <a:noFill/>
          <a:ln>
            <a:noFill/>
          </a:ln>
        </p:spPr>
      </p:pic>
      <p:sp>
        <p:nvSpPr>
          <p:cNvPr id="337" name="Google Shape;337;g39ad14173ec_0_24"/>
          <p:cNvSpPr/>
          <p:nvPr/>
        </p:nvSpPr>
        <p:spPr>
          <a:xfrm>
            <a:off x="4103446" y="0"/>
            <a:ext cx="457200" cy="457200"/>
          </a:xfrm>
          <a:prstGeom prst="rect">
            <a:avLst/>
          </a:prstGeom>
          <a:solidFill>
            <a:srgbClr val="1A6847"/>
          </a:solidFill>
          <a:ln w="12700" cap="flat" cmpd="sng">
            <a:solidFill>
              <a:srgbClr val="1A684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g39ad14173ec_0_24"/>
          <p:cNvSpPr/>
          <p:nvPr/>
        </p:nvSpPr>
        <p:spPr>
          <a:xfrm>
            <a:off x="4103446" y="0"/>
            <a:ext cx="457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D600"/>
              </a:buClr>
              <a:buSzPts val="1800"/>
              <a:buFont typeface="Outfit"/>
              <a:buNone/>
            </a:pPr>
            <a:r>
              <a:rPr lang="en-US" sz="1800" b="1" i="0" u="none" strike="noStrike" cap="none">
                <a:solidFill>
                  <a:srgbClr val="FFD600"/>
                </a:solidFill>
                <a:latin typeface="Outfit"/>
                <a:ea typeface="Outfit"/>
                <a:cs typeface="Outfit"/>
                <a:sym typeface="Outfit"/>
              </a:rPr>
              <a:t>6</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3"/>
        <p:cNvGrpSpPr/>
        <p:nvPr/>
      </p:nvGrpSpPr>
      <p:grpSpPr>
        <a:xfrm>
          <a:off x="0" y="0"/>
          <a:ext cx="0" cy="0"/>
          <a:chOff x="0" y="0"/>
          <a:chExt cx="0" cy="0"/>
        </a:xfrm>
      </p:grpSpPr>
      <p:sp>
        <p:nvSpPr>
          <p:cNvPr id="344" name="Google Shape;344;g3ad381497b3_0_182"/>
          <p:cNvSpPr/>
          <p:nvPr/>
        </p:nvSpPr>
        <p:spPr>
          <a:xfrm>
            <a:off x="1950575" y="1585600"/>
            <a:ext cx="5752500" cy="101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6847"/>
              </a:buClr>
              <a:buSzPts val="2800"/>
              <a:buFont typeface="Outfit"/>
              <a:buNone/>
            </a:pPr>
            <a:r>
              <a:rPr lang="en-US" sz="3400" b="1">
                <a:solidFill>
                  <a:srgbClr val="1A6847"/>
                </a:solidFill>
                <a:latin typeface="Outfit"/>
                <a:ea typeface="Outfit"/>
                <a:cs typeface="Outfit"/>
                <a:sym typeface="Outfit"/>
              </a:rPr>
              <a:t>Thank you for listening </a:t>
            </a:r>
            <a:endParaRPr sz="3400" b="0" i="0" u="none" strike="noStrike" cap="none">
              <a:solidFill>
                <a:schemeClr val="dk1"/>
              </a:solidFill>
              <a:latin typeface="Calibri"/>
              <a:ea typeface="Calibri"/>
              <a:cs typeface="Calibri"/>
              <a:sym typeface="Calibri"/>
            </a:endParaRPr>
          </a:p>
        </p:txBody>
      </p:sp>
      <p:pic>
        <p:nvPicPr>
          <p:cNvPr id="345" name="Google Shape;345;g3ad381497b3_0_182" descr="a cartoon girl says thank you with a bow on her head (provided by Tenor)"/>
          <p:cNvPicPr preferRelativeResize="0"/>
          <p:nvPr/>
        </p:nvPicPr>
        <p:blipFill>
          <a:blip r:embed="rId3">
            <a:alphaModFix/>
          </a:blip>
          <a:stretch>
            <a:fillRect/>
          </a:stretch>
        </p:blipFill>
        <p:spPr>
          <a:xfrm>
            <a:off x="3161710" y="2798850"/>
            <a:ext cx="2291210" cy="224060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1629</Words>
  <Application>Microsoft Office PowerPoint</Application>
  <PresentationFormat>Ekran Gösterisi (16:9)</PresentationFormat>
  <Paragraphs>229</Paragraphs>
  <Slides>24</Slides>
  <Notes>24</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24</vt:i4>
      </vt:variant>
    </vt:vector>
  </HeadingPairs>
  <TitlesOfParts>
    <vt:vector size="29" baseType="lpstr">
      <vt:lpstr>Arial</vt:lpstr>
      <vt:lpstr>Roboto</vt:lpstr>
      <vt:lpstr>Outfit</vt:lpstr>
      <vt:lpstr>Calibri</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Ahed Mohamed</cp:lastModifiedBy>
  <cp:revision>1</cp:revision>
  <dcterms:created xsi:type="dcterms:W3CDTF">2025-10-18T12:06:15Z</dcterms:created>
  <dcterms:modified xsi:type="dcterms:W3CDTF">2025-12-11T18:49:58Z</dcterms:modified>
</cp:coreProperties>
</file>