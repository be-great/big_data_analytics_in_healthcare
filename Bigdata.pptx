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1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5143500" cx="9144000"/>
  <p:notesSz cx="5143500" cy="9144000"/>
  <p:embeddedFontLst>
    <p:embeddedFont>
      <p:font typeface="Roboto"/>
      <p:regular r:id="rId31"/>
      <p:bold r:id="rId32"/>
      <p:italic r:id="rId33"/>
      <p:boldItalic r:id="rId34"/>
    </p:embeddedFont>
    <p:embeddedFont>
      <p:font typeface="Outfit"/>
      <p:regular r:id="rId35"/>
      <p:bold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7" roundtripDataSignature="AMtx7mhScUIWumgff/GLjuLWhAsXjNhv1A=="/>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0" name="AHOODA_"/>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Roboto-regular.fntdata"/><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Roboto-italic.fntdata"/><Relationship Id="rId10" Type="http://schemas.openxmlformats.org/officeDocument/2006/relationships/slide" Target="slides/slide5.xml"/><Relationship Id="rId32" Type="http://schemas.openxmlformats.org/officeDocument/2006/relationships/font" Target="fonts/Roboto-bold.fntdata"/><Relationship Id="rId13" Type="http://schemas.openxmlformats.org/officeDocument/2006/relationships/slide" Target="slides/slide8.xml"/><Relationship Id="rId35" Type="http://schemas.openxmlformats.org/officeDocument/2006/relationships/font" Target="fonts/Outfit-regular.fntdata"/><Relationship Id="rId12" Type="http://schemas.openxmlformats.org/officeDocument/2006/relationships/slide" Target="slides/slide7.xml"/><Relationship Id="rId34" Type="http://schemas.openxmlformats.org/officeDocument/2006/relationships/font" Target="fonts/Roboto-boldItalic.fntdata"/><Relationship Id="rId15" Type="http://schemas.openxmlformats.org/officeDocument/2006/relationships/slide" Target="slides/slide10.xml"/><Relationship Id="rId37" Type="http://customschemas.google.com/relationships/presentationmetadata" Target="metadata"/><Relationship Id="rId14" Type="http://schemas.openxmlformats.org/officeDocument/2006/relationships/slide" Target="slides/slide9.xml"/><Relationship Id="rId36" Type="http://schemas.openxmlformats.org/officeDocument/2006/relationships/font" Target="fonts/Outfit-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5-10-25T14:24:13.633">
    <p:pos x="6000" y="0"/>
    <p:text>Bugün yapay zekâ ile ilgili bir alandan, yani büyük dil modelleri (LLM) üzerine konuşacağım. Özellikle alan-özel uygulamalar için yerelleştirilmiş hafif yapay zekâ modellerinin tasarımından bahsedeceğim.</p:text>
    <p:extLst>
      <p:ext uri="{C676402C-5697-4E1C-873F-D02D1690AC5C}">
        <p15:threadingInfo timeZoneBias="0"/>
      </p:ext>
      <p:ext uri="http://customooxmlschemas.google.com/">
        <go:slidesCustomData xmlns:go="http://customooxmlschemas.google.com/" commentPostId="AAABtLhEg7k"/>
      </p:ext>
    </p:extLst>
  </p:cm>
  <p:cm authorId="0" idx="2" dt="2025-10-25T14:19:38.066">
    <p:pos x="6000" y="100"/>
    <p:text>Merhaba arkadaşlar, benim adım Ahed Eisa, ben Sudanlıyım. Şu an elektronik mühendisliğinde yüksek lisans yapıyorum.</p:text>
    <p:extLst>
      <p:ext uri="{C676402C-5697-4E1C-873F-D02D1690AC5C}">
        <p15:threadingInfo timeZoneBias="0"/>
      </p:ext>
      <p:ext uri="http://customooxmlschemas.google.com/">
        <go:slidesCustomData xmlns:go="http://customooxmlschemas.google.com/" commentPostId="AAABtLhEg7g"/>
      </p:ext>
    </p:extLs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5-10-20T14:13:59.245">
    <p:pos x="6000" y="0"/>
    <p:text>1- ilk olarak .... , buna bakalım
2- ardından ...., a geçelim 
3- Devam edelim .......konuşalım 
4- Bir diğer önemli konu .....
5- bunun yanı sıra ... Metodolojiyi inceyelim 
6- Son olarak .... anlatalım</p:text>
    <p:extLst>
      <p:ext uri="{C676402C-5697-4E1C-873F-D02D1690AC5C}">
        <p15:threadingInfo timeZoneBias="0"/>
      </p:ext>
      <p:ext uri="http://customooxmlschemas.google.com/">
        <go:slidesCustomData xmlns:go="http://customooxmlschemas.google.com/" commentPostId="AAABs-5c58w"/>
      </p:ext>
    </p:extLs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5-10-19T18:14:35.938">
    <p:pos x="6000" y="0"/>
    <p:text>With the enhancement of LLMs, and with the motivation of talking to a machine with human natural language, ChatGPT was released
After release of ChatGPT 2022, 24% corporate press releases of LLM- assisted content 
Challenges :-
Data privacy 
domain accuracy</p:text>
    <p:extLst>
      <p:ext uri="{C676402C-5697-4E1C-873F-D02D1690AC5C}">
        <p15:threadingInfo timeZoneBias="0"/>
      </p:ext>
      <p:ext uri="http://customooxmlschemas.google.com/">
        <go:slidesCustomData xmlns:go="http://customooxmlschemas.google.com/" commentPostId="AAABtANDN-w"/>
      </p:ext>
    </p:extLs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5-12-23T11:59:27.580">
    <p:pos x="6000" y="0"/>
    <p:text>This project (or research) was built to develop such a model locally.</p:text>
    <p:extLst>
      <p:ext uri="{C676402C-5697-4E1C-873F-D02D1690AC5C}">
        <p15:threadingInfo timeZoneBias="0"/>
      </p:ext>
      <p:ext uri="http://customooxmlschemas.google.com/">
        <go:slidesCustomData xmlns:go="http://customooxmlschemas.google.com/" commentPostId="AAAByDGhmgk"/>
      </p:ext>
    </p:extLst>
  </p:cm>
  <p:cm authorId="0" idx="6" dt="2025-12-23T12:05:13.808">
    <p:pos x="6000" y="100"/>
    <p:text>Current LLM deployment poses risks to data privacy and efficiency. Many domain tasks don’t need massive models just focused, fast, and safe ones. This research tackles how to build such model locally.</p:text>
    <p:extLst>
      <p:ext uri="{C676402C-5697-4E1C-873F-D02D1690AC5C}">
        <p15:threadingInfo timeZoneBias="0"/>
      </p:ext>
      <p:ext uri="http://customooxmlschemas.google.com/">
        <go:slidesCustomData xmlns:go="http://customooxmlschemas.google.com/" commentPostId="AAABtANDN-s"/>
      </p:ext>
    </p:extLst>
  </p:cm>
  <p:cm authorId="0" idx="7" dt="2025-10-25T14:46:11.139">
    <p:pos x="6000" y="200"/>
    <p:text>Mevcut LLM dağıtımı, veri gizliliği ve verimlilik açısından riskler taşımaktadır. Birçok alan görevi, devasa modellere değil; odaklanmış, hızlı ve güvenli modellere ihtiyaç duyar. Bu araştırma, bu tür modellerin yerel olarak nasıl oluşturulabileceğini ele almaktadır.</p:text>
    <p:extLst>
      <p:ext uri="{C676402C-5697-4E1C-873F-D02D1690AC5C}">
        <p15:threadingInfo timeZoneBias="0"/>
      </p:ext>
      <p:ext uri="http://customooxmlschemas.google.com/">
        <go:slidesCustomData xmlns:go="http://customooxmlschemas.google.com/" commentPostId="AAABtLoDEu0"/>
      </p:ext>
    </p:extLs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5-10-19T18:11:51.091">
    <p:pos x="2592" y="1360"/>
    <p:text>Aim: To develop scalable and privacy-aware localized lightweight LLMs.
✔ Address data privacy in enterprise LLM use.
✔ Reduce memory &amp; compute needs.</p:text>
    <p:extLst>
      <p:ext uri="{C676402C-5697-4E1C-873F-D02D1690AC5C}">
        <p15:threadingInfo timeZoneBias="0"/>
      </p:ext>
      <p:ext uri="http://customooxmlschemas.google.com/">
        <go:slidesCustomData xmlns:go="http://customooxmlschemas.google.com/" commentPostId="AAABtANDN-k"/>
      </p:ext>
    </p:extLs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5-10-25T15:11:03.626">
    <p:pos x="6000" y="0"/>
    <p:text>Literatür Taramasında Hafif LLM’lerine göre optimize etmek üç yöntem var: birinci yöntem ....
(ilk aşamanda)
TrimLLM → Gereksiz katmanları kaldırarak modeli sıkıştırır ✂️
QLoRA → Verileri/ağırlıkları nicemleyerek (quantization) sıkıştırır 🔢
Edge LLM’ler → Modelin telefonlar veya sensörler gibi küçük cihazlarda çalışmasını sağlar 📱🤖</p:text>
    <p:extLst>
      <p:ext uri="{C676402C-5697-4E1C-873F-D02D1690AC5C}">
        <p15:threadingInfo timeZoneBias="0"/>
      </p:ext>
      <p:ext uri="http://customooxmlschemas.google.com/">
        <go:slidesCustomData xmlns:go="http://customooxmlschemas.google.com/" commentPostId="AAABtANDN-g"/>
      </p:ext>
    </p:extLs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5-12-23T12:13:40.091">
    <p:pos x="245" y="1243"/>
    <p:text>two to five times</p:text>
    <p:extLst>
      <p:ext uri="{C676402C-5697-4E1C-873F-D02D1690AC5C}">
        <p15:threadingInfo timeZoneBias="0"/>
      </p:ext>
      <p:ext uri="http://customooxmlschemas.google.com/">
        <go:slidesCustomData xmlns:go="http://customooxmlschemas.google.com/" commentPostId="AAAByDj6az8"/>
      </p:ext>
    </p:extLs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1" dt="2025-11-02T15:54:40.074">
    <p:pos x="6000" y="0"/>
    <p:text>5 aşamamız var
ilk aşama ...
ikinci aşama ...</p:text>
    <p:extLst>
      <p:ext uri="{C676402C-5697-4E1C-873F-D02D1690AC5C}">
        <p15:threadingInfo timeZoneBias="0"/>
      </p:ext>
      <p:ext uri="http://customooxmlschemas.google.com/">
        <go:slidesCustomData xmlns:go="http://customooxmlschemas.google.com/" commentPostId="AAABuos0o44"/>
      </p:ext>
    </p:extLs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2" dt="2025-10-28T05:30:52.075">
    <p:pos x="6000" y="0"/>
    <p:text>sıfır nokta sekiz
hayvan  özellik olarak (0.8, 0.9) verilecek.
ve kedi yakın sayılar verilecek</p:text>
    <p:extLst>
      <p:ext uri="{C676402C-5697-4E1C-873F-D02D1690AC5C}">
        <p15:threadingInfo timeZoneBias="0"/>
      </p:ext>
      <p:ext uri="http://customooxmlschemas.google.com/">
        <go:slidesCustomData xmlns:go="http://customooxmlschemas.google.com/" commentPostId="AAABtQhKuZQ"/>
      </p:ext>
    </p:extLst>
  </p:cm>
  <p:cm authorId="0" idx="13" dt="2025-10-19T17:30:18.149">
    <p:pos x="6000" y="100"/>
    <p:text>eşanlamlı kelimeleri, ilişkili kelimeleri ve hatta bağlamsal ilişkileri bile yakalar.</p:text>
    <p:extLst>
      <p:ext uri="{C676402C-5697-4E1C-873F-D02D1690AC5C}">
        <p15:threadingInfo timeZoneBias="0"/>
      </p:ext>
      <p:ext uri="http://customooxmlschemas.google.com/">
        <go:slidesCustomData xmlns:go="http://customooxmlschemas.google.com/" commentPostId="AAABtANDN-M"/>
      </p:ext>
    </p:extLst>
  </p:cm>
  <p:cm authorId="0" idx="14" dt="2025-10-19T17:24:29.021">
    <p:pos x="6000" y="200"/>
    <p:text>“kedi” kelimesi genellikle “hayvan” kelimesinin yakınında geçiyor → yani anlamları birbirine bağlıdır.</p:text>
    <p:extLst>
      <p:ext uri="{C676402C-5697-4E1C-873F-D02D1690AC5C}">
        <p15:threadingInfo timeZoneBias="0"/>
      </p:ext>
      <p:ext uri="http://customooxmlschemas.google.com/">
        <go:slidesCustomData xmlns:go="http://customooxmlschemas.google.com/" commentPostId="AAABtANDN-I"/>
      </p:ext>
    </p:extLs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5" dt="2025-10-19T15:17:24.934">
    <p:pos x="6000" y="0"/>
    <p:text>Büyük veriye (örneğin 500 GB) sahip olduğumuzda ve bu veriyi işlemek, örneğin bazı sütunları filtrelemek istediğimizde, Hive kullanabiliriz. Çünkü normal araçlar bu kadar büyük veriyi okuma ve yazma sırasında bazen donabilir veya çok uzun süre alabilir, ancak Hive kullanıldığında bu işlemler daha hızlı ve verimli şekilde gerçekleşir</p:text>
    <p:extLst>
      <p:ext uri="{C676402C-5697-4E1C-873F-D02D1690AC5C}">
        <p15:threadingInfo timeZoneBias="0"/>
      </p:ext>
      <p:ext uri="http://customooxmlschemas.google.com/">
        <go:slidesCustomData xmlns:go="http://customooxmlschemas.google.com/" commentPostId="AAABsmeF83g"/>
      </p:ext>
    </p:extLst>
  </p:cm>
  <p:cm authorId="0" idx="16" dt="2025-10-19T15:16:37.491">
    <p:pos x="6000" y="100"/>
    <p:text>when we have big data, for example, 500GB, if we want to process it like filter some columns, we can use Hive because if we use normal tools, it will sometimes freeze or take a long time to read and write the data, not like using Hive.</p:text>
    <p:extLst>
      <p:ext uri="{C676402C-5697-4E1C-873F-D02D1690AC5C}">
        <p15:threadingInfo timeZoneBias="0"/>
      </p:ext>
      <p:ext uri="http://customooxmlschemas.google.com/">
        <go:slidesCustomData xmlns:go="http://customooxmlschemas.google.com/" commentPostId="AAABsmeF83c"/>
      </p:ext>
    </p:extLst>
  </p:cm>
</p:cmLst>
</file>

<file path=ppt/comments/comment1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7" dt="2025-10-28T05:17:16.016">
    <p:pos x="6000" y="0"/>
    <p:text>özet katalog olarak çalışır</p:text>
    <p:extLst>
      <p:ext uri="{C676402C-5697-4E1C-873F-D02D1690AC5C}">
        <p15:threadingInfo timeZoneBias="0"/>
      </p:ext>
      <p:ext uri="http://customooxmlschemas.google.com/">
        <go:slidesCustomData xmlns:go="http://customooxmlschemas.google.com/" commentPostId="AAABtQhKuZM"/>
      </p:ext>
    </p:extLst>
  </p:cm>
  <p:cm authorId="0" idx="18" dt="2025-10-28T05:13:43.982">
    <p:pos x="6000" y="100"/>
    <p:text>çeşitli çok modlu veri setini yönetirler</p:text>
    <p:extLst>
      <p:ext uri="{C676402C-5697-4E1C-873F-D02D1690AC5C}">
        <p15:threadingInfo timeZoneBias="0"/>
      </p:ext>
      <p:ext uri="http://customooxmlschemas.google.com/">
        <go:slidesCustomData xmlns:go="http://customooxmlschemas.google.com/" commentPostId="AAABtQhKuY8"/>
      </p:ext>
    </p:extLst>
  </p:cm>
  <p:cm authorId="0" idx="19" dt="2025-12-23T23:38:52.275">
    <p:pos x="6000" y="200"/>
    <p:text>implante edilebilir beyin-bilgisayar arayüzleri geliştiren bir Amerikan nöroteknoloji şirketi</p:text>
    <p:extLst>
      <p:ext uri="{C676402C-5697-4E1C-873F-D02D1690AC5C}">
        <p15:threadingInfo timeZoneBias="0"/>
      </p:ext>
      <p:ext uri="http://customooxmlschemas.google.com/">
        <go:slidesCustomData xmlns:go="http://customooxmlschemas.google.com/" commentPostId="AAABtQeQ5Tg"/>
      </p:ext>
    </p:extLst>
  </p:cm>
  <p:cm authorId="0" idx="20" dt="2025-12-23T23:38:52.275">
    <p:pos x="6000" y="200"/>
    <p:text>An American neurotechnology company that develops implantable brain-computer interfaces.</p:text>
    <p:extLst>
      <p:ext uri="{C676402C-5697-4E1C-873F-D02D1690AC5C}">
        <p15:threadingInfo timeZoneBias="0">
          <p15:parentCm authorId="0" idx="19"/>
        </p15:threadingInfo>
      </p:ext>
      <p:ext uri="http://customooxmlschemas.google.com/">
        <go:slidesCustomData xmlns:go="http://customooxmlschemas.google.com/" commentPostId="AAAByEiJvJk"/>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 name="Google Shape;2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 name="Google Shape;2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 name="Google Shape;4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 name="Google Shape;6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 name="Google Shape;77;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 name="Google Shape;78;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 name="Google Shape;9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ad127638c4_0_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g3ad127638c4_0_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g3ad127638c4_0_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ad127638c4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g3ad127638c4_0_3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g3ad127638c4_0_3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ad127638c4_1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g3ad127638c4_1_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g3ad127638c4_1_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ad127638c4_1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g3ad127638c4_1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ad127638c4_1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ad127638c4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g3ad127638c4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ad127638c4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 name="Google Shape;180;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b35341c20b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g3b35341c20b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5" name="Google Shape;195;g3b35341c20b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ad127638c4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g3ad127638c4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8" name="Google Shape;208;g3ad127638c4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ad127638c4_1_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 name="Google Shape;221;g3ad127638c4_1_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2" name="Google Shape;222;g3ad127638c4_1_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ad127638c4_1_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g3ad127638c4_1_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4" name="Google Shape;234;g3ad127638c4_1_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ad127638c4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g3ad127638c4_1_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3" name="Google Shape;243;g3ad127638c4_1_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9b08b2387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g39b08b2387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g39b08b2387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9b0403c20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g39b0403c20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g39b0403c20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ad381497b3_0_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g3ad381497b3_0_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0" name="Google Shape;280;g3ad381497b3_0_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ad381497b3_0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g3ad381497b3_0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3" name="Google Shape;293;g3ad381497b3_0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4" name="Google Shape;32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9ad14173ec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7" name="Google Shape;337;g39ad14173ec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8" name="Google Shape;338;g39ad14173ec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ad381497b3_0_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ad381497b3_0_18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9" name="Google Shape;359;g3ad381497b3_0_18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omments" Target="../comments/comment3.xml"/><Relationship Id="rId4" Type="http://schemas.openxmlformats.org/officeDocument/2006/relationships/image" Target="../media/image7.jp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omments" Target="../comments/comment4.xml"/><Relationship Id="rId4" Type="http://schemas.openxmlformats.org/officeDocument/2006/relationships/image" Target="../media/image1.jpg"/><Relationship Id="rId5" Type="http://schemas.openxmlformats.org/officeDocument/2006/relationships/image" Target="../media/image4.png"/><Relationship Id="rId6" Type="http://schemas.openxmlformats.org/officeDocument/2006/relationships/hyperlink" Target="https://pexels.com/?utm_source=magicslides.app&amp;utm_medium=presentation" TargetMode="External"/><Relationship Id="rId7"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omments" Target="../comments/comment5.xml"/><Relationship Id="rId4" Type="http://schemas.openxmlformats.org/officeDocument/2006/relationships/image" Target="../media/image2.jp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6.xml"/><Relationship Id="rId4" Type="http://schemas.openxmlformats.org/officeDocument/2006/relationships/image" Target="../media/image13.jp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jp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jp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jp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omments" Target="../comments/comment7.xml"/><Relationship Id="rId4" Type="http://schemas.openxmlformats.org/officeDocument/2006/relationships/image" Target="../media/image13.jp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omments" Target="../comments/comment8.xml"/><Relationship Id="rId4" Type="http://schemas.openxmlformats.org/officeDocument/2006/relationships/image" Target="../media/image6.jpg"/><Relationship Id="rId5" Type="http://schemas.openxmlformats.org/officeDocument/2006/relationships/image" Target="../media/image4.png"/><Relationship Id="rId6" Type="http://schemas.openxmlformats.org/officeDocument/2006/relationships/hyperlink" Target="https://pexels.com/?utm_source=magicslides.app&amp;utm_medium=presentation" TargetMode="External"/><Relationship Id="rId7"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jp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5.jp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jp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omments" Target="../comments/comment9.xml"/><Relationship Id="rId4" Type="http://schemas.openxmlformats.org/officeDocument/2006/relationships/image" Target="../media/image19.png"/><Relationship Id="rId5" Type="http://schemas.openxmlformats.org/officeDocument/2006/relationships/image" Target="../media/image8.png"/><Relationship Id="rId6"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omments" Target="../comments/comment10.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jp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5.jp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5.jpg"/><Relationship Id="rId4" Type="http://schemas.openxmlformats.org/officeDocument/2006/relationships/image" Target="../media/image20.png"/><Relationship Id="rId5" Type="http://schemas.openxmlformats.org/officeDocument/2006/relationships/image" Target="../media/image27.png"/><Relationship Id="rId6"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jp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11.xml"/><Relationship Id="rId4" Type="http://schemas.openxmlformats.org/officeDocument/2006/relationships/image" Target="../media/image30.png"/><Relationship Id="rId5" Type="http://schemas.openxmlformats.org/officeDocument/2006/relationships/image" Target="../media/image29.gif"/><Relationship Id="rId6"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gif"/></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sp>
        <p:nvSpPr>
          <p:cNvPr id="16" name="Google Shape;16;p1"/>
          <p:cNvSpPr/>
          <p:nvPr/>
        </p:nvSpPr>
        <p:spPr>
          <a:xfrm>
            <a:off x="3657600" y="0"/>
            <a:ext cx="91440" cy="154305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1" title="llm.jpg"/>
          <p:cNvPicPr preferRelativeResize="0"/>
          <p:nvPr/>
        </p:nvPicPr>
        <p:blipFill rotWithShape="1">
          <a:blip r:embed="rId4">
            <a:alphaModFix/>
          </a:blip>
          <a:srcRect b="0" l="23333" r="23333" t="0"/>
          <a:stretch/>
        </p:blipFill>
        <p:spPr>
          <a:xfrm>
            <a:off x="48350" y="0"/>
            <a:ext cx="3657600" cy="5143500"/>
          </a:xfrm>
          <a:prstGeom prst="rect">
            <a:avLst/>
          </a:prstGeom>
          <a:noFill/>
          <a:ln>
            <a:noFill/>
          </a:ln>
        </p:spPr>
      </p:pic>
      <p:sp>
        <p:nvSpPr>
          <p:cNvPr id="18" name="Google Shape;18;p1"/>
          <p:cNvSpPr/>
          <p:nvPr/>
        </p:nvSpPr>
        <p:spPr>
          <a:xfrm>
            <a:off x="3705950" y="1370250"/>
            <a:ext cx="5349300" cy="2883300"/>
          </a:xfrm>
          <a:prstGeom prst="rect">
            <a:avLst/>
          </a:prstGeom>
          <a:noFill/>
          <a:ln>
            <a:noFill/>
          </a:ln>
        </p:spPr>
        <p:txBody>
          <a:bodyPr anchorCtr="0" anchor="t" bIns="45700" lIns="91425" spcFirstLastPara="1" rIns="91425" wrap="square" tIns="45700">
            <a:noAutofit/>
          </a:bodyPr>
          <a:lstStyle/>
          <a:p>
            <a:pPr indent="0" lvl="0" marL="0" marR="0" rtl="0" algn="l">
              <a:lnSpc>
                <a:spcPct val="46875"/>
              </a:lnSpc>
              <a:spcBef>
                <a:spcPts val="0"/>
              </a:spcBef>
              <a:spcAft>
                <a:spcPts val="0"/>
              </a:spcAft>
              <a:buClr>
                <a:srgbClr val="1A6847"/>
              </a:buClr>
              <a:buSzPts val="3200"/>
              <a:buFont typeface="Outfit"/>
              <a:buNone/>
            </a:pPr>
            <a:r>
              <a:rPr b="1" lang="en-US" sz="2800">
                <a:solidFill>
                  <a:srgbClr val="1A6847"/>
                </a:solidFill>
                <a:latin typeface="Outfit"/>
                <a:ea typeface="Outfit"/>
                <a:cs typeface="Outfit"/>
                <a:sym typeface="Outfit"/>
              </a:rPr>
              <a:t>Designing Localized  LLM for </a:t>
            </a:r>
            <a:endParaRPr b="1" sz="2800">
              <a:solidFill>
                <a:srgbClr val="1A6847"/>
              </a:solidFill>
              <a:latin typeface="Outfit"/>
              <a:ea typeface="Outfit"/>
              <a:cs typeface="Outfit"/>
              <a:sym typeface="Outfit"/>
            </a:endParaRPr>
          </a:p>
          <a:p>
            <a:pPr indent="0" lvl="0" marL="0" marR="0" rtl="0" algn="l">
              <a:lnSpc>
                <a:spcPct val="46875"/>
              </a:lnSpc>
              <a:spcBef>
                <a:spcPts val="0"/>
              </a:spcBef>
              <a:spcAft>
                <a:spcPts val="0"/>
              </a:spcAft>
              <a:buClr>
                <a:srgbClr val="1A6847"/>
              </a:buClr>
              <a:buSzPts val="3200"/>
              <a:buFont typeface="Outfit"/>
              <a:buNone/>
            </a:pPr>
            <a:r>
              <a:t/>
            </a:r>
            <a:endParaRPr b="1" sz="2800">
              <a:solidFill>
                <a:srgbClr val="1A6847"/>
              </a:solidFill>
              <a:latin typeface="Outfit"/>
              <a:ea typeface="Outfit"/>
              <a:cs typeface="Outfit"/>
              <a:sym typeface="Outfit"/>
            </a:endParaRPr>
          </a:p>
          <a:p>
            <a:pPr indent="0" lvl="0" marL="0" marR="0" rtl="0" algn="l">
              <a:lnSpc>
                <a:spcPct val="46875"/>
              </a:lnSpc>
              <a:spcBef>
                <a:spcPts val="0"/>
              </a:spcBef>
              <a:spcAft>
                <a:spcPts val="0"/>
              </a:spcAft>
              <a:buClr>
                <a:srgbClr val="1A6847"/>
              </a:buClr>
              <a:buSzPts val="3200"/>
              <a:buFont typeface="Outfit"/>
              <a:buNone/>
            </a:pPr>
            <a:r>
              <a:rPr b="1" lang="en-US" sz="2800">
                <a:solidFill>
                  <a:srgbClr val="1A6847"/>
                </a:solidFill>
                <a:latin typeface="Outfit"/>
                <a:ea typeface="Outfit"/>
                <a:cs typeface="Outfit"/>
                <a:sym typeface="Outfit"/>
              </a:rPr>
              <a:t>Domain-Specific Applications: </a:t>
            </a:r>
            <a:endParaRPr b="1" sz="2800">
              <a:solidFill>
                <a:srgbClr val="1A6847"/>
              </a:solidFill>
              <a:latin typeface="Outfit"/>
              <a:ea typeface="Outfit"/>
              <a:cs typeface="Outfit"/>
              <a:sym typeface="Outfit"/>
            </a:endParaRPr>
          </a:p>
          <a:p>
            <a:pPr indent="0" lvl="0" marL="0" marR="0" rtl="0" algn="l">
              <a:lnSpc>
                <a:spcPct val="46875"/>
              </a:lnSpc>
              <a:spcBef>
                <a:spcPts val="0"/>
              </a:spcBef>
              <a:spcAft>
                <a:spcPts val="0"/>
              </a:spcAft>
              <a:buClr>
                <a:srgbClr val="1A6847"/>
              </a:buClr>
              <a:buSzPts val="3200"/>
              <a:buFont typeface="Outfit"/>
              <a:buNone/>
            </a:pPr>
            <a:r>
              <a:t/>
            </a:r>
            <a:endParaRPr b="1" sz="2800">
              <a:solidFill>
                <a:srgbClr val="1A6847"/>
              </a:solidFill>
              <a:latin typeface="Outfit"/>
              <a:ea typeface="Outfit"/>
              <a:cs typeface="Outfit"/>
              <a:sym typeface="Outfit"/>
            </a:endParaRPr>
          </a:p>
          <a:p>
            <a:pPr indent="0" lvl="0" marL="0" marR="0" rtl="0" algn="l">
              <a:lnSpc>
                <a:spcPct val="46875"/>
              </a:lnSpc>
              <a:spcBef>
                <a:spcPts val="0"/>
              </a:spcBef>
              <a:spcAft>
                <a:spcPts val="0"/>
              </a:spcAft>
              <a:buClr>
                <a:srgbClr val="1A6847"/>
              </a:buClr>
              <a:buSzPts val="3200"/>
              <a:buFont typeface="Outfit"/>
              <a:buNone/>
            </a:pPr>
            <a:r>
              <a:rPr b="1" lang="en-US" sz="2800">
                <a:solidFill>
                  <a:srgbClr val="1A6847"/>
                </a:solidFill>
                <a:latin typeface="Outfit"/>
                <a:ea typeface="Outfit"/>
                <a:cs typeface="Outfit"/>
                <a:sym typeface="Outfit"/>
              </a:rPr>
              <a:t>A Case  Study of  Hospital </a:t>
            </a:r>
            <a:endParaRPr b="1" sz="2800">
              <a:solidFill>
                <a:srgbClr val="1A6847"/>
              </a:solidFill>
              <a:latin typeface="Outfit"/>
              <a:ea typeface="Outfit"/>
              <a:cs typeface="Outfit"/>
              <a:sym typeface="Outfit"/>
            </a:endParaRPr>
          </a:p>
          <a:p>
            <a:pPr indent="0" lvl="0" marL="0" marR="0" rtl="0" algn="l">
              <a:lnSpc>
                <a:spcPct val="46875"/>
              </a:lnSpc>
              <a:spcBef>
                <a:spcPts val="0"/>
              </a:spcBef>
              <a:spcAft>
                <a:spcPts val="0"/>
              </a:spcAft>
              <a:buClr>
                <a:srgbClr val="1A6847"/>
              </a:buClr>
              <a:buSzPts val="3200"/>
              <a:buFont typeface="Outfit"/>
              <a:buNone/>
            </a:pPr>
            <a:r>
              <a:t/>
            </a:r>
            <a:endParaRPr b="1" sz="2800">
              <a:solidFill>
                <a:srgbClr val="1A6847"/>
              </a:solidFill>
              <a:latin typeface="Outfit"/>
              <a:ea typeface="Outfit"/>
              <a:cs typeface="Outfit"/>
              <a:sym typeface="Outfit"/>
            </a:endParaRPr>
          </a:p>
          <a:p>
            <a:pPr indent="0" lvl="0" marL="0" marR="0" rtl="0" algn="l">
              <a:lnSpc>
                <a:spcPct val="46875"/>
              </a:lnSpc>
              <a:spcBef>
                <a:spcPts val="0"/>
              </a:spcBef>
              <a:spcAft>
                <a:spcPts val="0"/>
              </a:spcAft>
              <a:buClr>
                <a:srgbClr val="1A6847"/>
              </a:buClr>
              <a:buSzPts val="3200"/>
              <a:buFont typeface="Outfit"/>
              <a:buNone/>
            </a:pPr>
            <a:r>
              <a:rPr b="1" lang="en-US" sz="2800">
                <a:solidFill>
                  <a:srgbClr val="1A6847"/>
                </a:solidFill>
                <a:latin typeface="Outfit"/>
                <a:ea typeface="Outfit"/>
                <a:cs typeface="Outfit"/>
                <a:sym typeface="Outfit"/>
              </a:rPr>
              <a:t>Management</a:t>
            </a:r>
            <a:endParaRPr b="0" i="0" sz="2800" u="none" cap="none" strike="noStrike">
              <a:solidFill>
                <a:schemeClr val="dk1"/>
              </a:solidFill>
              <a:latin typeface="Calibri"/>
              <a:ea typeface="Calibri"/>
              <a:cs typeface="Calibri"/>
              <a:sym typeface="Calibri"/>
            </a:endParaRPr>
          </a:p>
        </p:txBody>
      </p:sp>
      <p:sp>
        <p:nvSpPr>
          <p:cNvPr id="19" name="Google Shape;19;p1"/>
          <p:cNvSpPr txBox="1"/>
          <p:nvPr/>
        </p:nvSpPr>
        <p:spPr>
          <a:xfrm>
            <a:off x="5679900" y="3925200"/>
            <a:ext cx="3375300" cy="677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chemeClr val="dk1"/>
                </a:solidFill>
                <a:latin typeface="Outfit"/>
                <a:ea typeface="Outfit"/>
                <a:cs typeface="Outfit"/>
                <a:sym typeface="Outfit"/>
              </a:rPr>
              <a:t>Ahed Eisa  | </a:t>
            </a:r>
            <a:r>
              <a:rPr b="1" lang="en-US" sz="1600">
                <a:solidFill>
                  <a:schemeClr val="dk1"/>
                </a:solidFill>
                <a:latin typeface="Outfit"/>
                <a:ea typeface="Outfit"/>
                <a:cs typeface="Outfit"/>
                <a:sym typeface="Outfit"/>
              </a:rPr>
              <a:t>Department of Electronic Engineering</a:t>
            </a:r>
            <a:r>
              <a:rPr b="1" i="0" lang="en-US" sz="1600" u="none" cap="none" strike="noStrike">
                <a:solidFill>
                  <a:schemeClr val="dk1"/>
                </a:solidFill>
                <a:latin typeface="Outfit"/>
                <a:ea typeface="Outfit"/>
                <a:cs typeface="Outfit"/>
                <a:sym typeface="Outfit"/>
              </a:rPr>
              <a:t>    </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 name="Shape 24"/>
        <p:cNvGrpSpPr/>
        <p:nvPr/>
      </p:nvGrpSpPr>
      <p:grpSpPr>
        <a:xfrm>
          <a:off x="0" y="0"/>
          <a:ext cx="0" cy="0"/>
          <a:chOff x="0" y="0"/>
          <a:chExt cx="0" cy="0"/>
        </a:xfrm>
      </p:grpSpPr>
      <p:sp>
        <p:nvSpPr>
          <p:cNvPr id="25" name="Google Shape;25;p2"/>
          <p:cNvSpPr/>
          <p:nvPr/>
        </p:nvSpPr>
        <p:spPr>
          <a:xfrm>
            <a:off x="0" y="0"/>
            <a:ext cx="32004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p2"/>
          <p:cNvSpPr/>
          <p:nvPr/>
        </p:nvSpPr>
        <p:spPr>
          <a:xfrm>
            <a:off x="691000" y="330250"/>
            <a:ext cx="2687100" cy="9144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Table</a:t>
            </a:r>
            <a:r>
              <a:rPr b="1" lang="en-US" sz="2800">
                <a:solidFill>
                  <a:srgbClr val="1A6847"/>
                </a:solidFill>
                <a:latin typeface="Outfit"/>
                <a:ea typeface="Outfit"/>
                <a:cs typeface="Outfit"/>
                <a:sym typeface="Outfit"/>
              </a:rPr>
              <a:t> Contents</a:t>
            </a:r>
            <a:endParaRPr b="0" i="0" sz="2800" u="none" cap="none" strike="noStrike">
              <a:solidFill>
                <a:schemeClr val="dk1"/>
              </a:solidFill>
              <a:latin typeface="Calibri"/>
              <a:ea typeface="Calibri"/>
              <a:cs typeface="Calibri"/>
              <a:sym typeface="Calibri"/>
            </a:endParaRPr>
          </a:p>
        </p:txBody>
      </p:sp>
      <p:sp>
        <p:nvSpPr>
          <p:cNvPr id="27" name="Google Shape;27;p2"/>
          <p:cNvSpPr/>
          <p:nvPr/>
        </p:nvSpPr>
        <p:spPr>
          <a:xfrm>
            <a:off x="4101640" y="109446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01</a:t>
            </a:r>
            <a:endParaRPr b="0" i="0" sz="1200" u="none" cap="none" strike="noStrike">
              <a:solidFill>
                <a:schemeClr val="dk1"/>
              </a:solidFill>
              <a:latin typeface="Calibri"/>
              <a:ea typeface="Calibri"/>
              <a:cs typeface="Calibri"/>
              <a:sym typeface="Calibri"/>
            </a:endParaRPr>
          </a:p>
        </p:txBody>
      </p:sp>
      <p:sp>
        <p:nvSpPr>
          <p:cNvPr id="28" name="Google Shape;28;p2"/>
          <p:cNvSpPr/>
          <p:nvPr/>
        </p:nvSpPr>
        <p:spPr>
          <a:xfrm>
            <a:off x="4558840" y="1094460"/>
            <a:ext cx="41148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Background and Motivation</a:t>
            </a:r>
            <a:endParaRPr b="0" i="0" sz="1200" u="none" cap="none" strike="noStrike">
              <a:solidFill>
                <a:srgbClr val="000000"/>
              </a:solidFill>
              <a:latin typeface="Outfit"/>
              <a:ea typeface="Outfit"/>
              <a:cs typeface="Outfit"/>
              <a:sym typeface="Outfit"/>
            </a:endParaRPr>
          </a:p>
        </p:txBody>
      </p:sp>
      <p:sp>
        <p:nvSpPr>
          <p:cNvPr id="29" name="Google Shape;29;p2"/>
          <p:cNvSpPr/>
          <p:nvPr/>
        </p:nvSpPr>
        <p:spPr>
          <a:xfrm>
            <a:off x="4101640" y="146022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02</a:t>
            </a:r>
            <a:endParaRPr b="0" i="0" sz="1200" u="none" cap="none" strike="noStrike">
              <a:solidFill>
                <a:schemeClr val="dk1"/>
              </a:solidFill>
              <a:latin typeface="Calibri"/>
              <a:ea typeface="Calibri"/>
              <a:cs typeface="Calibri"/>
              <a:sym typeface="Calibri"/>
            </a:endParaRPr>
          </a:p>
        </p:txBody>
      </p:sp>
      <p:sp>
        <p:nvSpPr>
          <p:cNvPr id="30" name="Google Shape;30;p2"/>
          <p:cNvSpPr/>
          <p:nvPr/>
        </p:nvSpPr>
        <p:spPr>
          <a:xfrm>
            <a:off x="4558840" y="1460220"/>
            <a:ext cx="41148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Problem Definition</a:t>
            </a:r>
            <a:endParaRPr b="0" i="0" sz="1200" u="none" cap="none" strike="noStrike">
              <a:solidFill>
                <a:srgbClr val="000000"/>
              </a:solidFill>
              <a:latin typeface="Outfit"/>
              <a:ea typeface="Outfit"/>
              <a:cs typeface="Outfit"/>
              <a:sym typeface="Outfit"/>
            </a:endParaRPr>
          </a:p>
        </p:txBody>
      </p:sp>
      <p:sp>
        <p:nvSpPr>
          <p:cNvPr id="31" name="Google Shape;31;p2"/>
          <p:cNvSpPr/>
          <p:nvPr/>
        </p:nvSpPr>
        <p:spPr>
          <a:xfrm>
            <a:off x="4101640" y="182598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03</a:t>
            </a:r>
            <a:endParaRPr b="0" i="0" sz="1200" u="none" cap="none" strike="noStrike">
              <a:solidFill>
                <a:schemeClr val="dk1"/>
              </a:solidFill>
              <a:latin typeface="Calibri"/>
              <a:ea typeface="Calibri"/>
              <a:cs typeface="Calibri"/>
              <a:sym typeface="Calibri"/>
            </a:endParaRPr>
          </a:p>
        </p:txBody>
      </p:sp>
      <p:sp>
        <p:nvSpPr>
          <p:cNvPr id="32" name="Google Shape;32;p2"/>
          <p:cNvSpPr/>
          <p:nvPr/>
        </p:nvSpPr>
        <p:spPr>
          <a:xfrm>
            <a:off x="4558840" y="1825980"/>
            <a:ext cx="4114800" cy="3600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chemeClr val="dk1"/>
                </a:solidFill>
                <a:latin typeface="Outfit"/>
                <a:ea typeface="Outfit"/>
                <a:cs typeface="Outfit"/>
                <a:sym typeface="Outfit"/>
              </a:rPr>
              <a:t>Purpose and Objectives</a:t>
            </a:r>
            <a:endParaRPr sz="1200">
              <a:solidFill>
                <a:schemeClr val="dk1"/>
              </a:solidFill>
              <a:latin typeface="Outfit"/>
              <a:ea typeface="Outfit"/>
              <a:cs typeface="Outfit"/>
              <a:sym typeface="Outfit"/>
            </a:endParaRPr>
          </a:p>
        </p:txBody>
      </p:sp>
      <p:sp>
        <p:nvSpPr>
          <p:cNvPr id="33" name="Google Shape;33;p2"/>
          <p:cNvSpPr/>
          <p:nvPr/>
        </p:nvSpPr>
        <p:spPr>
          <a:xfrm>
            <a:off x="4101640" y="219174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04</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4558840" y="2191740"/>
            <a:ext cx="4114800" cy="3600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chemeClr val="dk1"/>
                </a:solidFill>
                <a:latin typeface="Outfit"/>
                <a:ea typeface="Outfit"/>
                <a:cs typeface="Outfit"/>
                <a:sym typeface="Outfit"/>
              </a:rPr>
              <a:t>Literature Review</a:t>
            </a:r>
            <a:endParaRPr sz="1200">
              <a:solidFill>
                <a:schemeClr val="dk1"/>
              </a:solidFill>
              <a:latin typeface="Outfit"/>
              <a:ea typeface="Outfit"/>
              <a:cs typeface="Outfit"/>
              <a:sym typeface="Outfit"/>
            </a:endParaRPr>
          </a:p>
        </p:txBody>
      </p:sp>
      <p:sp>
        <p:nvSpPr>
          <p:cNvPr id="35" name="Google Shape;35;p2"/>
          <p:cNvSpPr/>
          <p:nvPr/>
        </p:nvSpPr>
        <p:spPr>
          <a:xfrm>
            <a:off x="4101640" y="255750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05</a:t>
            </a:r>
            <a:endParaRPr b="0" i="0" sz="1200" u="none" cap="none" strike="noStrike">
              <a:solidFill>
                <a:schemeClr val="dk1"/>
              </a:solidFill>
              <a:latin typeface="Calibri"/>
              <a:ea typeface="Calibri"/>
              <a:cs typeface="Calibri"/>
              <a:sym typeface="Calibri"/>
            </a:endParaRPr>
          </a:p>
        </p:txBody>
      </p:sp>
      <p:sp>
        <p:nvSpPr>
          <p:cNvPr id="36" name="Google Shape;36;p2"/>
          <p:cNvSpPr/>
          <p:nvPr/>
        </p:nvSpPr>
        <p:spPr>
          <a:xfrm>
            <a:off x="4558840" y="2557500"/>
            <a:ext cx="41148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lang="en-US" sz="1200">
                <a:latin typeface="Outfit"/>
                <a:ea typeface="Outfit"/>
                <a:cs typeface="Outfit"/>
                <a:sym typeface="Outfit"/>
              </a:rPr>
              <a:t>Methodology</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4101640" y="292326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06</a:t>
            </a:r>
            <a:endParaRPr b="0" i="0" sz="1200" u="none" cap="none" strike="noStrike">
              <a:solidFill>
                <a:schemeClr val="dk1"/>
              </a:solidFill>
              <a:latin typeface="Calibri"/>
              <a:ea typeface="Calibri"/>
              <a:cs typeface="Calibri"/>
              <a:sym typeface="Calibri"/>
            </a:endParaRPr>
          </a:p>
        </p:txBody>
      </p:sp>
      <p:sp>
        <p:nvSpPr>
          <p:cNvPr id="38" name="Google Shape;38;p2"/>
          <p:cNvSpPr/>
          <p:nvPr/>
        </p:nvSpPr>
        <p:spPr>
          <a:xfrm>
            <a:off x="4558840" y="2923260"/>
            <a:ext cx="4114800" cy="3600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Results</a:t>
            </a:r>
            <a:endParaRPr sz="1200">
              <a:latin typeface="Outfit"/>
              <a:ea typeface="Outfit"/>
              <a:cs typeface="Outfit"/>
              <a:sym typeface="Outfit"/>
            </a:endParaRPr>
          </a:p>
        </p:txBody>
      </p:sp>
      <p:sp>
        <p:nvSpPr>
          <p:cNvPr id="39" name="Google Shape;39;p2"/>
          <p:cNvSpPr/>
          <p:nvPr/>
        </p:nvSpPr>
        <p:spPr>
          <a:xfrm>
            <a:off x="4101640" y="3289020"/>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rPr b="0" i="0" lang="en-US" sz="1200" u="none" cap="none" strike="noStrike">
                <a:solidFill>
                  <a:srgbClr val="000000"/>
                </a:solidFill>
                <a:latin typeface="Outfit"/>
                <a:ea typeface="Outfit"/>
                <a:cs typeface="Outfit"/>
                <a:sym typeface="Outfit"/>
              </a:rPr>
              <a:t>07</a:t>
            </a:r>
            <a:endParaRPr b="0" i="0" sz="1200" u="none" cap="none" strike="noStrike">
              <a:solidFill>
                <a:schemeClr val="dk1"/>
              </a:solidFill>
              <a:latin typeface="Calibri"/>
              <a:ea typeface="Calibri"/>
              <a:cs typeface="Calibri"/>
              <a:sym typeface="Calibri"/>
            </a:endParaRPr>
          </a:p>
        </p:txBody>
      </p:sp>
      <p:sp>
        <p:nvSpPr>
          <p:cNvPr id="40" name="Google Shape;40;p2"/>
          <p:cNvSpPr/>
          <p:nvPr/>
        </p:nvSpPr>
        <p:spPr>
          <a:xfrm>
            <a:off x="4558840" y="3289020"/>
            <a:ext cx="4114800" cy="3600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chemeClr val="dk1"/>
                </a:solidFill>
                <a:latin typeface="Outfit"/>
                <a:ea typeface="Outfit"/>
                <a:cs typeface="Outfit"/>
                <a:sym typeface="Outfit"/>
              </a:rPr>
              <a:t>Future Work</a:t>
            </a:r>
            <a:endParaRPr sz="1200">
              <a:solidFill>
                <a:schemeClr val="dk1"/>
              </a:solidFill>
              <a:latin typeface="Outfit"/>
              <a:ea typeface="Outfit"/>
              <a:cs typeface="Outfit"/>
              <a:sym typeface="Outfit"/>
            </a:endParaRPr>
          </a:p>
        </p:txBody>
      </p:sp>
      <p:sp>
        <p:nvSpPr>
          <p:cNvPr id="41" name="Google Shape;41;p2"/>
          <p:cNvSpPr/>
          <p:nvPr/>
        </p:nvSpPr>
        <p:spPr>
          <a:xfrm>
            <a:off x="4558840" y="3654780"/>
            <a:ext cx="41148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t/>
            </a:r>
            <a:endParaRPr b="0" i="0" sz="1200" u="none" cap="none" strike="noStrike">
              <a:solidFill>
                <a:schemeClr val="dk1"/>
              </a:solidFill>
              <a:latin typeface="Calibri"/>
              <a:ea typeface="Calibri"/>
              <a:cs typeface="Calibri"/>
              <a:sym typeface="Calibri"/>
            </a:endParaRPr>
          </a:p>
        </p:txBody>
      </p:sp>
      <p:sp>
        <p:nvSpPr>
          <p:cNvPr id="42" name="Google Shape;42;p2"/>
          <p:cNvSpPr/>
          <p:nvPr/>
        </p:nvSpPr>
        <p:spPr>
          <a:xfrm>
            <a:off x="4101640" y="3654795"/>
            <a:ext cx="6402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t/>
            </a:r>
            <a:endParaRPr b="0" i="0" sz="1200" u="none" cap="none" strike="noStrike">
              <a:solidFill>
                <a:schemeClr val="dk1"/>
              </a:solidFill>
              <a:latin typeface="Calibri"/>
              <a:ea typeface="Calibri"/>
              <a:cs typeface="Calibri"/>
              <a:sym typeface="Calibri"/>
            </a:endParaRPr>
          </a:p>
        </p:txBody>
      </p:sp>
      <p:sp>
        <p:nvSpPr>
          <p:cNvPr id="43" name="Google Shape;43;p2"/>
          <p:cNvSpPr/>
          <p:nvPr/>
        </p:nvSpPr>
        <p:spPr>
          <a:xfrm>
            <a:off x="4558840" y="3654795"/>
            <a:ext cx="41148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t/>
            </a:r>
            <a:endParaRPr b="0" i="0" sz="1200" u="none" cap="none" strike="noStrike">
              <a:solidFill>
                <a:srgbClr val="000000"/>
              </a:solidFill>
              <a:latin typeface="Outfit"/>
              <a:ea typeface="Outfit"/>
              <a:cs typeface="Outfit"/>
              <a:sym typeface="Outfit"/>
            </a:endParaRPr>
          </a:p>
        </p:txBody>
      </p:sp>
      <p:sp>
        <p:nvSpPr>
          <p:cNvPr id="44" name="Google Shape;44;p2"/>
          <p:cNvSpPr/>
          <p:nvPr/>
        </p:nvSpPr>
        <p:spPr>
          <a:xfrm>
            <a:off x="4558840" y="4020555"/>
            <a:ext cx="4114800" cy="360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Outfit"/>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3"/>
          <p:cNvSpPr/>
          <p:nvPr/>
        </p:nvSpPr>
        <p:spPr>
          <a:xfrm>
            <a:off x="3657600" y="0"/>
            <a:ext cx="91440" cy="154305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ew Year Resolution Goal List 2020 - Business office desk with notebook written in handwriting about plan listing of new year goals and resolutions setting. (provided by Getty Images)" id="51" name="Google Shape;51;p3"/>
          <p:cNvPicPr preferRelativeResize="0"/>
          <p:nvPr/>
        </p:nvPicPr>
        <p:blipFill rotWithShape="1">
          <a:blip r:embed="rId4">
            <a:alphaModFix/>
          </a:blip>
          <a:srcRect b="0" l="28361" r="28356" t="0"/>
          <a:stretch/>
        </p:blipFill>
        <p:spPr>
          <a:xfrm>
            <a:off x="320040" y="0"/>
            <a:ext cx="3337559" cy="5143499"/>
          </a:xfrm>
          <a:prstGeom prst="rect">
            <a:avLst/>
          </a:prstGeom>
          <a:noFill/>
          <a:ln>
            <a:noFill/>
          </a:ln>
        </p:spPr>
      </p:pic>
      <p:pic>
        <p:nvPicPr>
          <p:cNvPr descr="https://djgurnpwsdoqjscwqbsj.supabase.co/storage/v1/object/public/users_file_magicslides_io/grayscale_image.png" id="52" name="Google Shape;52;p3"/>
          <p:cNvPicPr preferRelativeResize="0"/>
          <p:nvPr/>
        </p:nvPicPr>
        <p:blipFill rotWithShape="1">
          <a:blip r:embed="rId5">
            <a:alphaModFix/>
          </a:blip>
          <a:srcRect b="0" l="0" r="0" t="0"/>
          <a:stretch/>
        </p:blipFill>
        <p:spPr>
          <a:xfrm>
            <a:off x="4206240" y="1800225"/>
            <a:ext cx="365760" cy="365760"/>
          </a:xfrm>
          <a:prstGeom prst="rect">
            <a:avLst/>
          </a:prstGeom>
          <a:noFill/>
          <a:ln>
            <a:noFill/>
          </a:ln>
        </p:spPr>
      </p:pic>
      <p:sp>
        <p:nvSpPr>
          <p:cNvPr id="53" name="Google Shape;53;p3"/>
          <p:cNvSpPr/>
          <p:nvPr/>
        </p:nvSpPr>
        <p:spPr>
          <a:xfrm>
            <a:off x="0" y="0"/>
            <a:ext cx="32004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3"/>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3"/>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i="0" lang="en-US" sz="1800" u="none" cap="none" strike="noStrike">
                <a:solidFill>
                  <a:srgbClr val="FFD600"/>
                </a:solidFill>
                <a:latin typeface="Outfit"/>
                <a:ea typeface="Outfit"/>
                <a:cs typeface="Outfit"/>
                <a:sym typeface="Outfit"/>
              </a:rPr>
              <a:t>1</a:t>
            </a:r>
            <a:endParaRPr b="0" i="0" sz="1800" u="none" cap="none" strike="noStrike">
              <a:solidFill>
                <a:schemeClr val="dk1"/>
              </a:solidFill>
              <a:latin typeface="Calibri"/>
              <a:ea typeface="Calibri"/>
              <a:cs typeface="Calibri"/>
              <a:sym typeface="Calibri"/>
            </a:endParaRPr>
          </a:p>
        </p:txBody>
      </p:sp>
      <p:sp>
        <p:nvSpPr>
          <p:cNvPr id="56" name="Google Shape;56;p3"/>
          <p:cNvSpPr/>
          <p:nvPr/>
        </p:nvSpPr>
        <p:spPr>
          <a:xfrm>
            <a:off x="4114800" y="925825"/>
            <a:ext cx="48822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Background and Motivation </a:t>
            </a:r>
            <a:endParaRPr b="1" i="0" sz="2800" u="none" cap="none" strike="noStrike">
              <a:solidFill>
                <a:srgbClr val="1A6847"/>
              </a:solidFill>
              <a:latin typeface="Outfit"/>
              <a:ea typeface="Outfit"/>
              <a:cs typeface="Outfit"/>
              <a:sym typeface="Outfit"/>
            </a:endParaRPr>
          </a:p>
        </p:txBody>
      </p:sp>
      <p:sp>
        <p:nvSpPr>
          <p:cNvPr id="57" name="Google Shape;57;p3"/>
          <p:cNvSpPr/>
          <p:nvPr/>
        </p:nvSpPr>
        <p:spPr>
          <a:xfrm>
            <a:off x="4114850" y="1761695"/>
            <a:ext cx="4389000" cy="2314500"/>
          </a:xfrm>
          <a:prstGeom prst="rect">
            <a:avLst/>
          </a:prstGeom>
          <a:noFill/>
          <a:ln>
            <a:noFill/>
          </a:ln>
        </p:spPr>
        <p:txBody>
          <a:bodyPr anchorCtr="0" anchor="t" bIns="45700" lIns="91425" spcFirstLastPara="1" rIns="91425" wrap="square" tIns="45700">
            <a:noAutofit/>
          </a:bodyPr>
          <a:lstStyle/>
          <a:p>
            <a:pPr indent="-304800" lvl="0" marL="457200" rtl="0" algn="l">
              <a:lnSpc>
                <a:spcPct val="115000"/>
              </a:lnSpc>
              <a:spcBef>
                <a:spcPts val="1200"/>
              </a:spcBef>
              <a:spcAft>
                <a:spcPts val="0"/>
              </a:spcAft>
              <a:buSzPts val="1200"/>
              <a:buFont typeface="Outfit"/>
              <a:buChar char="●"/>
            </a:pPr>
            <a:r>
              <a:rPr lang="en-US" sz="1200">
                <a:latin typeface="Outfit"/>
                <a:ea typeface="Outfit"/>
                <a:cs typeface="Outfit"/>
                <a:sym typeface="Outfit"/>
              </a:rPr>
              <a:t>With the enhancement of LLMs, and with the motivation of talking to a machine with human natural language, ChatGPT was released</a:t>
            </a:r>
            <a:endParaRPr sz="1200">
              <a:latin typeface="Outfit"/>
              <a:ea typeface="Outfit"/>
              <a:cs typeface="Outfit"/>
              <a:sym typeface="Outfit"/>
            </a:endParaRPr>
          </a:p>
          <a:p>
            <a:pPr indent="-304800" lvl="0" marL="457200" marR="0" rtl="0" algn="l">
              <a:lnSpc>
                <a:spcPct val="115000"/>
              </a:lnSpc>
              <a:spcBef>
                <a:spcPts val="1200"/>
              </a:spcBef>
              <a:spcAft>
                <a:spcPts val="0"/>
              </a:spcAft>
              <a:buClr>
                <a:srgbClr val="000000"/>
              </a:buClr>
              <a:buSzPts val="1200"/>
              <a:buFont typeface="Outfit"/>
              <a:buChar char="●"/>
            </a:pPr>
            <a:r>
              <a:rPr lang="en-US" sz="1200">
                <a:latin typeface="Outfit"/>
                <a:ea typeface="Outfit"/>
                <a:cs typeface="Outfit"/>
                <a:sym typeface="Outfit"/>
              </a:rPr>
              <a:t>After release of ChatGPT 2022, 24% businesses press releases of LLM- assisted content </a:t>
            </a:r>
            <a:endParaRPr sz="1200">
              <a:latin typeface="Outfit"/>
              <a:ea typeface="Outfit"/>
              <a:cs typeface="Outfit"/>
              <a:sym typeface="Outfit"/>
            </a:endParaRPr>
          </a:p>
          <a:p>
            <a:pPr indent="-304800" lvl="0" marL="457200" marR="0" rtl="0" algn="l">
              <a:lnSpc>
                <a:spcPct val="115000"/>
              </a:lnSpc>
              <a:spcBef>
                <a:spcPts val="0"/>
              </a:spcBef>
              <a:spcAft>
                <a:spcPts val="0"/>
              </a:spcAft>
              <a:buClr>
                <a:srgbClr val="000000"/>
              </a:buClr>
              <a:buSzPts val="1200"/>
              <a:buFont typeface="Outfit"/>
              <a:buChar char="●"/>
            </a:pPr>
            <a:r>
              <a:rPr lang="en-US" sz="1200">
                <a:latin typeface="Outfit"/>
                <a:ea typeface="Outfit"/>
                <a:cs typeface="Outfit"/>
                <a:sym typeface="Outfit"/>
              </a:rPr>
              <a:t>Challenges </a:t>
            </a:r>
            <a:r>
              <a:rPr b="0" i="0" lang="en-US" sz="1200" u="none" cap="none" strike="noStrike">
                <a:solidFill>
                  <a:srgbClr val="000000"/>
                </a:solidFill>
                <a:latin typeface="Outfit"/>
                <a:ea typeface="Outfit"/>
                <a:cs typeface="Outfit"/>
                <a:sym typeface="Outfit"/>
              </a:rPr>
              <a:t>:</a:t>
            </a:r>
            <a:endParaRPr b="0" i="0" sz="1200" u="none" cap="none" strike="noStrike">
              <a:solidFill>
                <a:srgbClr val="000000"/>
              </a:solidFill>
              <a:latin typeface="Outfit"/>
              <a:ea typeface="Outfit"/>
              <a:cs typeface="Outfit"/>
              <a:sym typeface="Outfit"/>
            </a:endParaRPr>
          </a:p>
          <a:p>
            <a:pPr indent="-304800" lvl="0" marL="914400" marR="0" rtl="0" algn="l">
              <a:lnSpc>
                <a:spcPct val="115000"/>
              </a:lnSpc>
              <a:spcBef>
                <a:spcPts val="0"/>
              </a:spcBef>
              <a:spcAft>
                <a:spcPts val="0"/>
              </a:spcAft>
              <a:buClr>
                <a:srgbClr val="000000"/>
              </a:buClr>
              <a:buSzPts val="1200"/>
              <a:buFont typeface="Outfit"/>
              <a:buChar char="-"/>
            </a:pPr>
            <a:r>
              <a:rPr lang="en-US" sz="1200">
                <a:latin typeface="Outfit"/>
                <a:ea typeface="Outfit"/>
                <a:cs typeface="Outfit"/>
                <a:sym typeface="Outfit"/>
              </a:rPr>
              <a:t>Data privacy </a:t>
            </a:r>
            <a:endParaRPr b="0" i="0" sz="1200" u="none" cap="none" strike="noStrike">
              <a:solidFill>
                <a:srgbClr val="000000"/>
              </a:solidFill>
              <a:latin typeface="Outfit"/>
              <a:ea typeface="Outfit"/>
              <a:cs typeface="Outfit"/>
              <a:sym typeface="Outfit"/>
            </a:endParaRPr>
          </a:p>
          <a:p>
            <a:pPr indent="-304800" lvl="0" marL="914400" marR="0" rtl="0" algn="l">
              <a:lnSpc>
                <a:spcPct val="115000"/>
              </a:lnSpc>
              <a:spcBef>
                <a:spcPts val="0"/>
              </a:spcBef>
              <a:spcAft>
                <a:spcPts val="0"/>
              </a:spcAft>
              <a:buClr>
                <a:srgbClr val="000000"/>
              </a:buClr>
              <a:buSzPts val="1200"/>
              <a:buFont typeface="Outfit"/>
              <a:buChar char="-"/>
            </a:pPr>
            <a:r>
              <a:rPr b="0" i="0" lang="en-US" sz="1200" u="none" cap="none" strike="noStrike">
                <a:solidFill>
                  <a:srgbClr val="000000"/>
                </a:solidFill>
                <a:latin typeface="Outfit"/>
                <a:ea typeface="Outfit"/>
                <a:cs typeface="Outfit"/>
                <a:sym typeface="Outfit"/>
              </a:rPr>
              <a:t>domain accuracy</a:t>
            </a:r>
            <a:endParaRPr b="0" i="0" sz="1200" u="none" cap="none" strike="noStrike">
              <a:solidFill>
                <a:srgbClr val="000000"/>
              </a:solidFill>
              <a:latin typeface="Outfit"/>
              <a:ea typeface="Outfit"/>
              <a:cs typeface="Outfit"/>
              <a:sym typeface="Outfit"/>
            </a:endParaRPr>
          </a:p>
          <a:p>
            <a:pPr indent="0" lvl="0" marL="0" marR="0" rtl="0" algn="just">
              <a:lnSpc>
                <a:spcPct val="166666"/>
              </a:lnSpc>
              <a:spcBef>
                <a:spcPts val="1200"/>
              </a:spcBef>
              <a:spcAft>
                <a:spcPts val="0"/>
              </a:spcAft>
              <a:buClr>
                <a:srgbClr val="000000"/>
              </a:buClr>
              <a:buSzPts val="1200"/>
              <a:buFont typeface="Outfit"/>
              <a:buNone/>
            </a:pPr>
            <a:r>
              <a:t/>
            </a:r>
            <a:endParaRPr b="0" i="0" sz="1200" u="none" cap="none" strike="noStrike">
              <a:solidFill>
                <a:srgbClr val="000000"/>
              </a:solidFill>
              <a:latin typeface="Outfit"/>
              <a:ea typeface="Outfit"/>
              <a:cs typeface="Outfit"/>
              <a:sym typeface="Outfi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4"/>
          <p:cNvSpPr/>
          <p:nvPr/>
        </p:nvSpPr>
        <p:spPr>
          <a:xfrm>
            <a:off x="3657600" y="0"/>
            <a:ext cx="91440" cy="154305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Data protection abstract concept vector illustration. (provided by Getty Images)" id="64" name="Google Shape;64;p4"/>
          <p:cNvPicPr preferRelativeResize="0"/>
          <p:nvPr/>
        </p:nvPicPr>
        <p:blipFill rotWithShape="1">
          <a:blip r:embed="rId4">
            <a:alphaModFix/>
          </a:blip>
          <a:srcRect b="0" l="17551" r="17558" t="0"/>
          <a:stretch/>
        </p:blipFill>
        <p:spPr>
          <a:xfrm>
            <a:off x="320040" y="0"/>
            <a:ext cx="3337559" cy="5143501"/>
          </a:xfrm>
          <a:prstGeom prst="rect">
            <a:avLst/>
          </a:prstGeom>
          <a:noFill/>
          <a:ln>
            <a:noFill/>
          </a:ln>
        </p:spPr>
      </p:pic>
      <p:pic>
        <p:nvPicPr>
          <p:cNvPr descr="https://djgurnpwsdoqjscwqbsj.supabase.co/storage/v1/object/public/users_file_magicslides_io/grayscale_image.png" id="65" name="Google Shape;65;p4"/>
          <p:cNvPicPr preferRelativeResize="0"/>
          <p:nvPr/>
        </p:nvPicPr>
        <p:blipFill rotWithShape="1">
          <a:blip r:embed="rId5">
            <a:alphaModFix/>
          </a:blip>
          <a:srcRect b="0" l="0" r="0" t="0"/>
          <a:stretch/>
        </p:blipFill>
        <p:spPr>
          <a:xfrm>
            <a:off x="4206240" y="1800225"/>
            <a:ext cx="365760" cy="365760"/>
          </a:xfrm>
          <a:prstGeom prst="rect">
            <a:avLst/>
          </a:prstGeom>
          <a:noFill/>
          <a:ln>
            <a:noFill/>
          </a:ln>
        </p:spPr>
      </p:pic>
      <p:sp>
        <p:nvSpPr>
          <p:cNvPr id="66" name="Google Shape;66;p4"/>
          <p:cNvSpPr/>
          <p:nvPr/>
        </p:nvSpPr>
        <p:spPr>
          <a:xfrm>
            <a:off x="0" y="0"/>
            <a:ext cx="32004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4"/>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4"/>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i="0" lang="en-US" sz="1800" u="none" cap="none" strike="noStrike">
                <a:solidFill>
                  <a:srgbClr val="FFD600"/>
                </a:solidFill>
                <a:latin typeface="Outfit"/>
                <a:ea typeface="Outfit"/>
                <a:cs typeface="Outfit"/>
                <a:sym typeface="Outfit"/>
              </a:rPr>
              <a:t>2</a:t>
            </a:r>
            <a:endParaRPr b="0" i="0" sz="1800" u="none" cap="none" strike="noStrike">
              <a:solidFill>
                <a:schemeClr val="dk1"/>
              </a:solidFill>
              <a:latin typeface="Calibri"/>
              <a:ea typeface="Calibri"/>
              <a:cs typeface="Calibri"/>
              <a:sym typeface="Calibri"/>
            </a:endParaRPr>
          </a:p>
        </p:txBody>
      </p:sp>
      <p:sp>
        <p:nvSpPr>
          <p:cNvPr id="69" name="Google Shape;69;p4"/>
          <p:cNvSpPr/>
          <p:nvPr/>
        </p:nvSpPr>
        <p:spPr>
          <a:xfrm>
            <a:off x="4114800" y="925830"/>
            <a:ext cx="4389120" cy="5143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Problem Definition </a:t>
            </a:r>
            <a:endParaRPr b="1" i="0" sz="2800" u="none" cap="none" strike="noStrike">
              <a:solidFill>
                <a:srgbClr val="1A6847"/>
              </a:solidFill>
              <a:latin typeface="Outfit"/>
              <a:ea typeface="Outfit"/>
              <a:cs typeface="Outfit"/>
              <a:sym typeface="Outfit"/>
            </a:endParaRPr>
          </a:p>
        </p:txBody>
      </p:sp>
      <p:sp>
        <p:nvSpPr>
          <p:cNvPr id="70" name="Google Shape;70;p4"/>
          <p:cNvSpPr/>
          <p:nvPr/>
        </p:nvSpPr>
        <p:spPr>
          <a:xfrm>
            <a:off x="4572000" y="1697355"/>
            <a:ext cx="3749040" cy="5143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71" name="Google Shape;71;p4"/>
          <p:cNvSpPr/>
          <p:nvPr/>
        </p:nvSpPr>
        <p:spPr>
          <a:xfrm>
            <a:off x="4114800" y="2160270"/>
            <a:ext cx="4389120" cy="2314575"/>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Clr>
                <a:schemeClr val="dk1"/>
              </a:buClr>
              <a:buSzPts val="1200"/>
              <a:buFont typeface="Outfit"/>
              <a:buNone/>
            </a:pPr>
            <a:r>
              <a:t/>
            </a:r>
            <a:endParaRPr b="0" i="0" sz="1200" u="none" cap="none" strike="noStrike">
              <a:solidFill>
                <a:schemeClr val="dk1"/>
              </a:solidFill>
              <a:latin typeface="Outfit"/>
              <a:ea typeface="Outfit"/>
              <a:cs typeface="Outfit"/>
              <a:sym typeface="Outfit"/>
            </a:endParaRPr>
          </a:p>
        </p:txBody>
      </p:sp>
      <p:sp>
        <p:nvSpPr>
          <p:cNvPr id="72" name="Google Shape;72;p4"/>
          <p:cNvSpPr/>
          <p:nvPr/>
        </p:nvSpPr>
        <p:spPr>
          <a:xfrm>
            <a:off x="2743200" y="4754880"/>
            <a:ext cx="18288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800"/>
              <a:buFont typeface="Calibri"/>
              <a:buNone/>
            </a:pPr>
            <a:r>
              <a:rPr b="0" i="0" lang="en-US" sz="800" u="sng" cap="none" strike="noStrike">
                <a:solidFill>
                  <a:srgbClr val="FFFFFF"/>
                </a:solidFill>
                <a:latin typeface="Calibri"/>
                <a:ea typeface="Calibri"/>
                <a:cs typeface="Calibri"/>
                <a:sym typeface="Calibri"/>
                <a:hlinkClick r:id="rId6">
                  <a:extLst>
                    <a:ext uri="{A12FA001-AC4F-418D-AE19-62706E023703}">
                      <ahyp:hlinkClr val="tx"/>
                    </a:ext>
                  </a:extLst>
                </a:hlinkClick>
              </a:rPr>
              <a:t>Photo by Pexels</a:t>
            </a:r>
            <a:endParaRPr b="0" i="0" sz="800" u="none" cap="none" strike="noStrike">
              <a:solidFill>
                <a:schemeClr val="dk1"/>
              </a:solidFill>
              <a:latin typeface="Calibri"/>
              <a:ea typeface="Calibri"/>
              <a:cs typeface="Calibri"/>
              <a:sym typeface="Calibri"/>
            </a:endParaRPr>
          </a:p>
        </p:txBody>
      </p:sp>
      <p:pic>
        <p:nvPicPr>
          <p:cNvPr descr="Fotoğraf : Taramak, bilgisayar, veri, antivirus, kontrol etme ..." id="73" name="Google Shape;73;p4"/>
          <p:cNvPicPr preferRelativeResize="0"/>
          <p:nvPr/>
        </p:nvPicPr>
        <p:blipFill rotWithShape="1">
          <a:blip r:embed="rId7">
            <a:alphaModFix/>
          </a:blip>
          <a:srcRect b="0" l="0" r="0" t="0"/>
          <a:stretch/>
        </p:blipFill>
        <p:spPr>
          <a:xfrm>
            <a:off x="4738250" y="1800225"/>
            <a:ext cx="4073252" cy="2440351"/>
          </a:xfrm>
          <a:prstGeom prst="rect">
            <a:avLst/>
          </a:prstGeom>
          <a:noFill/>
          <a:ln>
            <a:noFill/>
          </a:ln>
        </p:spPr>
      </p:pic>
      <p:sp>
        <p:nvSpPr>
          <p:cNvPr id="74" name="Google Shape;74;p4"/>
          <p:cNvSpPr txBox="1"/>
          <p:nvPr/>
        </p:nvSpPr>
        <p:spPr>
          <a:xfrm>
            <a:off x="5818900" y="4507350"/>
            <a:ext cx="1875000" cy="415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Data Privacy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5"/>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Business people teamwork engaged to achieve a target goals. marketing concept. (provided by Getty Images)" id="81" name="Google Shape;81;p5"/>
          <p:cNvPicPr preferRelativeResize="0"/>
          <p:nvPr/>
        </p:nvPicPr>
        <p:blipFill rotWithShape="1">
          <a:blip r:embed="rId4">
            <a:alphaModFix/>
          </a:blip>
          <a:srcRect b="0" l="28374" r="28375" t="0"/>
          <a:stretch/>
        </p:blipFill>
        <p:spPr>
          <a:xfrm>
            <a:off x="320040" y="0"/>
            <a:ext cx="3337559" cy="5143497"/>
          </a:xfrm>
          <a:prstGeom prst="rect">
            <a:avLst/>
          </a:prstGeom>
          <a:noFill/>
          <a:ln>
            <a:noFill/>
          </a:ln>
        </p:spPr>
      </p:pic>
      <p:pic>
        <p:nvPicPr>
          <p:cNvPr descr="https://djgurnpwsdoqjscwqbsj.supabase.co/storage/v1/object/public/users_file_magicslides_io/grayscale_image.png" id="82" name="Google Shape;82;p5"/>
          <p:cNvPicPr preferRelativeResize="0"/>
          <p:nvPr/>
        </p:nvPicPr>
        <p:blipFill rotWithShape="1">
          <a:blip r:embed="rId5">
            <a:alphaModFix/>
          </a:blip>
          <a:srcRect b="0" l="0" r="0" t="0"/>
          <a:stretch/>
        </p:blipFill>
        <p:spPr>
          <a:xfrm>
            <a:off x="4206240" y="1800225"/>
            <a:ext cx="365760" cy="365760"/>
          </a:xfrm>
          <a:prstGeom prst="rect">
            <a:avLst/>
          </a:prstGeom>
          <a:noFill/>
          <a:ln>
            <a:noFill/>
          </a:ln>
        </p:spPr>
      </p:pic>
      <p:sp>
        <p:nvSpPr>
          <p:cNvPr id="83" name="Google Shape;83;p5"/>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5"/>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5"/>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i="0" lang="en-US" sz="1800" u="none" cap="none" strike="noStrike">
                <a:solidFill>
                  <a:srgbClr val="FFD600"/>
                </a:solidFill>
                <a:latin typeface="Outfit"/>
                <a:ea typeface="Outfit"/>
                <a:cs typeface="Outfit"/>
                <a:sym typeface="Outfit"/>
              </a:rPr>
              <a:t>3</a:t>
            </a:r>
            <a:endParaRPr b="0" i="0" sz="1800" u="none" cap="none" strike="noStrike">
              <a:solidFill>
                <a:schemeClr val="dk1"/>
              </a:solidFill>
              <a:latin typeface="Calibri"/>
              <a:ea typeface="Calibri"/>
              <a:cs typeface="Calibri"/>
              <a:sym typeface="Calibri"/>
            </a:endParaRPr>
          </a:p>
        </p:txBody>
      </p:sp>
      <p:sp>
        <p:nvSpPr>
          <p:cNvPr id="86" name="Google Shape;86;p5"/>
          <p:cNvSpPr/>
          <p:nvPr/>
        </p:nvSpPr>
        <p:spPr>
          <a:xfrm>
            <a:off x="4114800" y="925830"/>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Purpose and Objectives</a:t>
            </a:r>
            <a:endParaRPr b="1" i="0" sz="2800" u="none" cap="none" strike="noStrike">
              <a:solidFill>
                <a:srgbClr val="1A6847"/>
              </a:solidFill>
              <a:latin typeface="Outfit"/>
              <a:ea typeface="Outfit"/>
              <a:cs typeface="Outfit"/>
              <a:sym typeface="Outfit"/>
            </a:endParaRPr>
          </a:p>
        </p:txBody>
      </p:sp>
      <p:sp>
        <p:nvSpPr>
          <p:cNvPr id="87" name="Google Shape;87;p5"/>
          <p:cNvSpPr/>
          <p:nvPr/>
        </p:nvSpPr>
        <p:spPr>
          <a:xfrm>
            <a:off x="4572000" y="1697355"/>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88" name="Google Shape;88;p5"/>
          <p:cNvSpPr/>
          <p:nvPr/>
        </p:nvSpPr>
        <p:spPr>
          <a:xfrm>
            <a:off x="4114800" y="2160270"/>
            <a:ext cx="4389000" cy="231450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1200"/>
              </a:spcBef>
              <a:spcAft>
                <a:spcPts val="0"/>
              </a:spcAft>
              <a:buClr>
                <a:schemeClr val="dk1"/>
              </a:buClr>
              <a:buSzPts val="1100"/>
              <a:buFont typeface="Arial"/>
              <a:buNone/>
            </a:pPr>
            <a:r>
              <a:rPr b="1" lang="en-US" sz="1200">
                <a:solidFill>
                  <a:schemeClr val="dk1"/>
                </a:solidFill>
                <a:latin typeface="Outfit"/>
                <a:ea typeface="Outfit"/>
                <a:cs typeface="Outfit"/>
                <a:sym typeface="Outfit"/>
              </a:rPr>
              <a:t>Aim</a:t>
            </a:r>
            <a:r>
              <a:rPr lang="en-US" sz="1200">
                <a:solidFill>
                  <a:schemeClr val="dk1"/>
                </a:solidFill>
                <a:latin typeface="Outfit"/>
                <a:ea typeface="Outfit"/>
                <a:cs typeface="Outfit"/>
                <a:sym typeface="Outfit"/>
              </a:rPr>
              <a:t>: To develop scalable and privacy-aware localized LLM.</a:t>
            </a:r>
            <a:endParaRPr sz="1200">
              <a:solidFill>
                <a:schemeClr val="dk1"/>
              </a:solidFill>
              <a:latin typeface="Outfit"/>
              <a:ea typeface="Outfit"/>
              <a:cs typeface="Outfit"/>
              <a:sym typeface="Outfit"/>
            </a:endParaRPr>
          </a:p>
          <a:p>
            <a:pPr indent="0" lvl="0" marL="0" rtl="0" algn="l">
              <a:lnSpc>
                <a:spcPct val="115000"/>
              </a:lnSpc>
              <a:spcBef>
                <a:spcPts val="1200"/>
              </a:spcBef>
              <a:spcAft>
                <a:spcPts val="0"/>
              </a:spcAft>
              <a:buClr>
                <a:schemeClr val="dk1"/>
              </a:buClr>
              <a:buSzPts val="1100"/>
              <a:buFont typeface="Arial"/>
              <a:buNone/>
            </a:pPr>
            <a:r>
              <a:rPr lang="en-US" sz="1200">
                <a:solidFill>
                  <a:schemeClr val="dk1"/>
                </a:solidFill>
                <a:latin typeface="Outfit"/>
                <a:ea typeface="Outfit"/>
                <a:cs typeface="Outfit"/>
                <a:sym typeface="Outfit"/>
              </a:rPr>
              <a:t>✔ Address data privacy in enterprise LLM use.</a:t>
            </a:r>
            <a:endParaRPr sz="1200">
              <a:solidFill>
                <a:schemeClr val="dk1"/>
              </a:solidFill>
              <a:latin typeface="Outfit"/>
              <a:ea typeface="Outfit"/>
              <a:cs typeface="Outfit"/>
              <a:sym typeface="Outfit"/>
            </a:endParaRPr>
          </a:p>
          <a:p>
            <a:pPr indent="0" lvl="0" marL="0" marR="0" rtl="0" algn="l">
              <a:lnSpc>
                <a:spcPct val="115000"/>
              </a:lnSpc>
              <a:spcBef>
                <a:spcPts val="1200"/>
              </a:spcBef>
              <a:spcAft>
                <a:spcPts val="0"/>
              </a:spcAft>
              <a:buClr>
                <a:schemeClr val="dk1"/>
              </a:buClr>
              <a:buSzPts val="1100"/>
              <a:buFont typeface="Arial"/>
              <a:buNone/>
            </a:pPr>
            <a:r>
              <a:rPr lang="en-US" sz="1200">
                <a:solidFill>
                  <a:schemeClr val="dk1"/>
                </a:solidFill>
                <a:latin typeface="Outfit"/>
                <a:ea typeface="Outfit"/>
                <a:cs typeface="Outfit"/>
                <a:sym typeface="Outfit"/>
              </a:rPr>
              <a:t>✔ Reduce memory &amp; computational needs.</a:t>
            </a:r>
            <a:endParaRPr sz="1200">
              <a:solidFill>
                <a:schemeClr val="dk1"/>
              </a:solidFill>
              <a:latin typeface="Outfit"/>
              <a:ea typeface="Outfit"/>
              <a:cs typeface="Outfit"/>
              <a:sym typeface="Outfit"/>
            </a:endParaRPr>
          </a:p>
          <a:p>
            <a:pPr indent="0" lvl="0" marL="0" marR="0" rtl="0" algn="just">
              <a:lnSpc>
                <a:spcPct val="166666"/>
              </a:lnSpc>
              <a:spcBef>
                <a:spcPts val="1200"/>
              </a:spcBef>
              <a:spcAft>
                <a:spcPts val="0"/>
              </a:spcAft>
              <a:buClr>
                <a:schemeClr val="dk1"/>
              </a:buClr>
              <a:buSzPts val="1200"/>
              <a:buFont typeface="Outfit"/>
              <a:buNone/>
            </a:pPr>
            <a:r>
              <a:t/>
            </a:r>
            <a:endParaRPr b="0" i="0" sz="1200" u="none" cap="none" strike="noStrike">
              <a:solidFill>
                <a:schemeClr val="dk1"/>
              </a:solidFill>
              <a:latin typeface="Outfit"/>
              <a:ea typeface="Outfit"/>
              <a:cs typeface="Outfit"/>
              <a:sym typeface="Outfit"/>
            </a:endParaRPr>
          </a:p>
          <a:p>
            <a:pPr indent="0" lvl="0" marL="0" marR="0" rtl="0" algn="just">
              <a:lnSpc>
                <a:spcPct val="166666"/>
              </a:lnSpc>
              <a:spcBef>
                <a:spcPts val="0"/>
              </a:spcBef>
              <a:spcAft>
                <a:spcPts val="0"/>
              </a:spcAft>
              <a:buClr>
                <a:srgbClr val="000000"/>
              </a:buClr>
              <a:buSzPts val="1200"/>
              <a:buFont typeface="Outfit"/>
              <a:buNone/>
            </a:pPr>
            <a:r>
              <a:t/>
            </a:r>
            <a:endParaRPr b="0" i="0" sz="1200" u="none" cap="none" strike="noStrike">
              <a:solidFill>
                <a:srgbClr val="000000"/>
              </a:solidFill>
              <a:latin typeface="Outfit"/>
              <a:ea typeface="Outfit"/>
              <a:cs typeface="Outfit"/>
              <a:sym typeface="Outfi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6"/>
          <p:cNvSpPr/>
          <p:nvPr/>
        </p:nvSpPr>
        <p:spPr>
          <a:xfrm>
            <a:off x="3657600" y="0"/>
            <a:ext cx="91440" cy="154305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Opened the Holy Bible close up prayer time on eyeglasses (provided by Getty Images)" id="95" name="Google Shape;95;p6"/>
          <p:cNvPicPr preferRelativeResize="0"/>
          <p:nvPr/>
        </p:nvPicPr>
        <p:blipFill rotWithShape="1">
          <a:blip r:embed="rId4">
            <a:alphaModFix/>
          </a:blip>
          <a:srcRect b="0" l="28374" r="28375" t="0"/>
          <a:stretch/>
        </p:blipFill>
        <p:spPr>
          <a:xfrm>
            <a:off x="320040" y="0"/>
            <a:ext cx="3337559" cy="5143501"/>
          </a:xfrm>
          <a:prstGeom prst="rect">
            <a:avLst/>
          </a:prstGeom>
          <a:noFill/>
          <a:ln>
            <a:noFill/>
          </a:ln>
        </p:spPr>
      </p:pic>
      <p:pic>
        <p:nvPicPr>
          <p:cNvPr descr="https://djgurnpwsdoqjscwqbsj.supabase.co/storage/v1/object/public/users_file_magicslides_io/grayscale_image.png" id="96" name="Google Shape;96;p6"/>
          <p:cNvPicPr preferRelativeResize="0"/>
          <p:nvPr/>
        </p:nvPicPr>
        <p:blipFill rotWithShape="1">
          <a:blip r:embed="rId5">
            <a:alphaModFix/>
          </a:blip>
          <a:srcRect b="0" l="0" r="0" t="0"/>
          <a:stretch/>
        </p:blipFill>
        <p:spPr>
          <a:xfrm>
            <a:off x="4206240" y="1800225"/>
            <a:ext cx="365760" cy="365760"/>
          </a:xfrm>
          <a:prstGeom prst="rect">
            <a:avLst/>
          </a:prstGeom>
          <a:noFill/>
          <a:ln>
            <a:noFill/>
          </a:ln>
        </p:spPr>
      </p:pic>
      <p:sp>
        <p:nvSpPr>
          <p:cNvPr id="97" name="Google Shape;97;p6"/>
          <p:cNvSpPr/>
          <p:nvPr/>
        </p:nvSpPr>
        <p:spPr>
          <a:xfrm>
            <a:off x="0" y="0"/>
            <a:ext cx="32004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6"/>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6"/>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i="0" lang="en-US" sz="1800" u="none" cap="none" strike="noStrike">
                <a:solidFill>
                  <a:srgbClr val="FFD600"/>
                </a:solidFill>
                <a:latin typeface="Outfit"/>
                <a:ea typeface="Outfit"/>
                <a:cs typeface="Outfit"/>
                <a:sym typeface="Outfit"/>
              </a:rPr>
              <a:t>4</a:t>
            </a:r>
            <a:endParaRPr b="0" i="0" sz="1800" u="none" cap="none" strike="noStrike">
              <a:solidFill>
                <a:schemeClr val="dk1"/>
              </a:solidFill>
              <a:latin typeface="Calibri"/>
              <a:ea typeface="Calibri"/>
              <a:cs typeface="Calibri"/>
              <a:sym typeface="Calibri"/>
            </a:endParaRPr>
          </a:p>
        </p:txBody>
      </p:sp>
      <p:sp>
        <p:nvSpPr>
          <p:cNvPr id="100" name="Google Shape;100;p6"/>
          <p:cNvSpPr/>
          <p:nvPr/>
        </p:nvSpPr>
        <p:spPr>
          <a:xfrm>
            <a:off x="4114800" y="925830"/>
            <a:ext cx="4389120" cy="51435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Literature Review</a:t>
            </a:r>
            <a:endParaRPr b="1" i="0" sz="2800" u="none" cap="none" strike="noStrike">
              <a:solidFill>
                <a:srgbClr val="1A6847"/>
              </a:solidFill>
              <a:latin typeface="Outfit"/>
              <a:ea typeface="Outfit"/>
              <a:cs typeface="Outfit"/>
              <a:sym typeface="Outfit"/>
            </a:endParaRPr>
          </a:p>
        </p:txBody>
      </p:sp>
      <p:sp>
        <p:nvSpPr>
          <p:cNvPr id="101" name="Google Shape;101;p6"/>
          <p:cNvSpPr/>
          <p:nvPr/>
        </p:nvSpPr>
        <p:spPr>
          <a:xfrm>
            <a:off x="4572000" y="1697355"/>
            <a:ext cx="3749040" cy="5143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102" name="Google Shape;102;p6"/>
          <p:cNvSpPr/>
          <p:nvPr/>
        </p:nvSpPr>
        <p:spPr>
          <a:xfrm>
            <a:off x="4084125" y="1626345"/>
            <a:ext cx="4389000" cy="23145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a:p>
            <a:pPr indent="0" lvl="0" marL="0" rtl="0" algn="l">
              <a:lnSpc>
                <a:spcPct val="115000"/>
              </a:lnSpc>
              <a:spcBef>
                <a:spcPts val="1400"/>
              </a:spcBef>
              <a:spcAft>
                <a:spcPts val="0"/>
              </a:spcAft>
              <a:buClr>
                <a:schemeClr val="dk1"/>
              </a:buClr>
              <a:buSzPts val="1100"/>
              <a:buFont typeface="Arial"/>
              <a:buNone/>
            </a:pPr>
            <a:r>
              <a:rPr b="1" lang="en-US" sz="1300">
                <a:solidFill>
                  <a:schemeClr val="dk1"/>
                </a:solidFill>
              </a:rPr>
              <a:t>Most studies follow a similar sequence when applying Apache Spark to healthcare:</a:t>
            </a:r>
            <a:endParaRPr b="1" sz="13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US" sz="1100">
                <a:solidFill>
                  <a:schemeClr val="dk1"/>
                </a:solidFill>
              </a:rPr>
              <a:t>Data Collection</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Data Preprocessing:</a:t>
            </a:r>
            <a:r>
              <a:rPr lang="en-US" sz="1100">
                <a:solidFill>
                  <a:schemeClr val="dk1"/>
                </a:solidFill>
              </a:rPr>
              <a:t> Clean data, handle missing values, normalize or encode features, and remove inconsistencies.</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Feature Engineering / Selection:</a:t>
            </a:r>
            <a:r>
              <a:rPr lang="en-US" sz="1100">
                <a:solidFill>
                  <a:schemeClr val="dk1"/>
                </a:solidFill>
              </a:rPr>
              <a:t> Extract relevant features.</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Modeling:</a:t>
            </a:r>
            <a:r>
              <a:rPr lang="en-US" sz="1100">
                <a:solidFill>
                  <a:schemeClr val="dk1"/>
                </a:solidFill>
              </a:rPr>
              <a:t> Train models using Spark MLlib or deep learning frameworks (e.g., Random Forest, Gradient Boosting, TCN).</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Evaluation:</a:t>
            </a:r>
            <a:r>
              <a:rPr lang="en-US" sz="1100">
                <a:solidFill>
                  <a:schemeClr val="dk1"/>
                </a:solidFill>
              </a:rPr>
              <a:t> Validate models using metrics: Accuracy, AUC (</a:t>
            </a:r>
            <a:r>
              <a:rPr b="1" lang="en-US" sz="1100">
                <a:solidFill>
                  <a:schemeClr val="dk1"/>
                </a:solidFill>
              </a:rPr>
              <a:t>AUC (Area Under the Curve)</a:t>
            </a:r>
            <a:r>
              <a:rPr lang="en-US" sz="1100">
                <a:solidFill>
                  <a:schemeClr val="dk1"/>
                </a:solidFill>
              </a:rPr>
              <a:t> is a way to measure how good a model is at </a:t>
            </a:r>
            <a:r>
              <a:rPr b="1" lang="en-US" sz="1100">
                <a:solidFill>
                  <a:schemeClr val="dk1"/>
                </a:solidFill>
              </a:rPr>
              <a:t>telling two groups apart</a:t>
            </a:r>
            <a:r>
              <a:rPr lang="en-US" sz="1100">
                <a:solidFill>
                  <a:schemeClr val="dk1"/>
                </a:solidFill>
              </a:rPr>
              <a:t>), RMSE (Root Mean Squared Error), MAE (Mean Absolute Error) and real-time performance like Throughput, Latency.</a:t>
            </a:r>
            <a:endParaRPr sz="1100">
              <a:solidFill>
                <a:schemeClr val="dk1"/>
              </a:solidFill>
            </a:endParaRPr>
          </a:p>
          <a:p>
            <a:pPr indent="0" lvl="0" marL="0" marR="0" rtl="0" algn="just">
              <a:lnSpc>
                <a:spcPct val="166666"/>
              </a:lnSpc>
              <a:spcBef>
                <a:spcPts val="1200"/>
              </a:spcBef>
              <a:spcAft>
                <a:spcPts val="0"/>
              </a:spcAft>
              <a:buNone/>
            </a:pPr>
            <a:r>
              <a:t/>
            </a:r>
            <a:endParaRPr sz="1200">
              <a:solidFill>
                <a:schemeClr val="dk1"/>
              </a:solidFill>
              <a:latin typeface="Outfit"/>
              <a:ea typeface="Outfit"/>
              <a:cs typeface="Outfit"/>
              <a:sym typeface="Outfi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g3ad127638c4_0_355"/>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Opened the Holy Bible close up prayer time on eyeglasses (provided by Getty Images)" id="109" name="Google Shape;109;g3ad127638c4_0_355"/>
          <p:cNvPicPr preferRelativeResize="0"/>
          <p:nvPr/>
        </p:nvPicPr>
        <p:blipFill rotWithShape="1">
          <a:blip r:embed="rId3">
            <a:alphaModFix/>
          </a:blip>
          <a:srcRect b="0" l="28376" r="28372" t="0"/>
          <a:stretch/>
        </p:blipFill>
        <p:spPr>
          <a:xfrm>
            <a:off x="320050" y="0"/>
            <a:ext cx="1870950" cy="1891149"/>
          </a:xfrm>
          <a:prstGeom prst="rect">
            <a:avLst/>
          </a:prstGeom>
          <a:noFill/>
          <a:ln>
            <a:noFill/>
          </a:ln>
        </p:spPr>
      </p:pic>
      <p:pic>
        <p:nvPicPr>
          <p:cNvPr descr="https://djgurnpwsdoqjscwqbsj.supabase.co/storage/v1/object/public/users_file_magicslides_io/grayscale_image.png" id="110" name="Google Shape;110;g3ad127638c4_0_355"/>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111" name="Google Shape;111;g3ad127638c4_0_355"/>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g3ad127638c4_0_355"/>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g3ad127638c4_0_355"/>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5</a:t>
            </a:r>
            <a:endParaRPr b="0" i="0" sz="1800" u="none" cap="none" strike="noStrike">
              <a:solidFill>
                <a:schemeClr val="dk1"/>
              </a:solidFill>
              <a:latin typeface="Calibri"/>
              <a:ea typeface="Calibri"/>
              <a:cs typeface="Calibri"/>
              <a:sym typeface="Calibri"/>
            </a:endParaRPr>
          </a:p>
        </p:txBody>
      </p:sp>
      <p:sp>
        <p:nvSpPr>
          <p:cNvPr id="114" name="Google Shape;114;g3ad127638c4_0_355"/>
          <p:cNvSpPr/>
          <p:nvPr/>
        </p:nvSpPr>
        <p:spPr>
          <a:xfrm>
            <a:off x="4114800" y="575792"/>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Literature Review</a:t>
            </a:r>
            <a:endParaRPr b="1" i="0" sz="2800" u="none" cap="none" strike="noStrike">
              <a:solidFill>
                <a:srgbClr val="1A6847"/>
              </a:solidFill>
              <a:latin typeface="Outfit"/>
              <a:ea typeface="Outfit"/>
              <a:cs typeface="Outfit"/>
              <a:sym typeface="Outfit"/>
            </a:endParaRPr>
          </a:p>
        </p:txBody>
      </p:sp>
      <p:sp>
        <p:nvSpPr>
          <p:cNvPr id="115" name="Google Shape;115;g3ad127638c4_0_355"/>
          <p:cNvSpPr/>
          <p:nvPr/>
        </p:nvSpPr>
        <p:spPr>
          <a:xfrm>
            <a:off x="4572000" y="1697355"/>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116" name="Google Shape;116;g3ad127638c4_0_355"/>
          <p:cNvSpPr/>
          <p:nvPr/>
        </p:nvSpPr>
        <p:spPr>
          <a:xfrm>
            <a:off x="4006025" y="1135445"/>
            <a:ext cx="4389000" cy="2314500"/>
          </a:xfrm>
          <a:prstGeom prst="rect">
            <a:avLst/>
          </a:prstGeom>
          <a:noFill/>
          <a:ln>
            <a:noFill/>
          </a:ln>
        </p:spPr>
        <p:txBody>
          <a:bodyPr anchorCtr="0" anchor="t" bIns="45700" lIns="91425" spcFirstLastPara="1" rIns="91425" wrap="square" tIns="45700">
            <a:noAutofit/>
          </a:bodyPr>
          <a:lstStyle/>
          <a:p>
            <a:pPr indent="-311150" lvl="0" marL="457200" marR="0" rtl="0" algn="just">
              <a:lnSpc>
                <a:spcPct val="166666"/>
              </a:lnSpc>
              <a:spcBef>
                <a:spcPts val="0"/>
              </a:spcBef>
              <a:spcAft>
                <a:spcPts val="0"/>
              </a:spcAft>
              <a:buClr>
                <a:schemeClr val="dk1"/>
              </a:buClr>
              <a:buSzPts val="1300"/>
              <a:buFont typeface="Outfit"/>
              <a:buAutoNum type="arabicPeriod"/>
            </a:pPr>
            <a:r>
              <a:rPr b="1" lang="en-US" sz="1300">
                <a:solidFill>
                  <a:schemeClr val="dk1"/>
                </a:solidFill>
                <a:latin typeface="Outfit"/>
                <a:ea typeface="Outfit"/>
                <a:cs typeface="Outfit"/>
                <a:sym typeface="Outfit"/>
              </a:rPr>
              <a:t>Predictors of Outpatients’ No-show</a:t>
            </a:r>
            <a:endParaRPr b="1" sz="1300">
              <a:solidFill>
                <a:schemeClr val="dk1"/>
              </a:solidFill>
              <a:latin typeface="Outfit"/>
              <a:ea typeface="Outfit"/>
              <a:cs typeface="Outfit"/>
              <a:sym typeface="Outfit"/>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Goal</a:t>
            </a:r>
            <a:r>
              <a:rPr lang="en-US" sz="1200">
                <a:solidFill>
                  <a:schemeClr val="dk1"/>
                </a:solidFill>
                <a:latin typeface="Outfit"/>
                <a:ea typeface="Outfit"/>
                <a:cs typeface="Outfit"/>
                <a:sym typeface="Outfit"/>
              </a:rPr>
              <a:t>:  Identify why patients miss appointments.</a:t>
            </a:r>
            <a:endParaRPr sz="1200">
              <a:solidFill>
                <a:schemeClr val="dk1"/>
              </a:solidFill>
              <a:latin typeface="Outfit"/>
              <a:ea typeface="Outfit"/>
              <a:cs typeface="Outfit"/>
              <a:sym typeface="Outfit"/>
            </a:endParaRPr>
          </a:p>
          <a:p>
            <a:pPr indent="-304800" lvl="0" marL="457200" marR="0" rtl="0" algn="just">
              <a:lnSpc>
                <a:spcPct val="115000"/>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Method: </a:t>
            </a:r>
            <a:r>
              <a:rPr lang="en-US" sz="1200">
                <a:solidFill>
                  <a:schemeClr val="dk1"/>
                </a:solidFill>
                <a:latin typeface="Outfit"/>
                <a:ea typeface="Outfit"/>
                <a:cs typeface="Outfit"/>
                <a:sym typeface="Outfit"/>
              </a:rPr>
              <a:t>Predictive modeling using large-scale appointment data.</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a:t>
            </a:r>
            <a:r>
              <a:rPr lang="en-US" sz="1100">
                <a:solidFill>
                  <a:schemeClr val="dk1"/>
                </a:solidFill>
              </a:rPr>
              <a:t>2M+ outpatient records from hospital EMRs.</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Preprocessing:</a:t>
            </a:r>
            <a:r>
              <a:rPr lang="en-US" sz="1100">
                <a:solidFill>
                  <a:schemeClr val="dk1"/>
                </a:solidFill>
              </a:rPr>
              <a:t>Cleaned records, handled missing values, normalized features.</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Feature Engineering / Selection: </a:t>
            </a:r>
            <a:r>
              <a:rPr lang="en-US" sz="1100">
                <a:solidFill>
                  <a:schemeClr val="dk1"/>
                </a:solidFill>
              </a:rPr>
              <a:t>using information gain, which measures how much a feature reduces prediction uncertainty when used to split the data.</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Modeling: </a:t>
            </a:r>
            <a:r>
              <a:rPr lang="en-US" sz="1100">
                <a:solidFill>
                  <a:schemeClr val="dk1"/>
                </a:solidFill>
              </a:rPr>
              <a:t>Random Forest, Gradient Boosting, Logistic Regression, SVM, MLP using Spark MLlib.</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Evaluation:</a:t>
            </a:r>
            <a:r>
              <a:rPr lang="en-US" sz="1100">
                <a:solidFill>
                  <a:schemeClr val="dk1"/>
                </a:solidFill>
              </a:rPr>
              <a:t> Accuracy,  AUC, cross-validation.</a:t>
            </a:r>
            <a:endParaRPr sz="1200">
              <a:solidFill>
                <a:schemeClr val="dk1"/>
              </a:solidFill>
              <a:latin typeface="Outfit"/>
              <a:ea typeface="Outfit"/>
              <a:cs typeface="Outfit"/>
              <a:sym typeface="Outfit"/>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Technologies</a:t>
            </a:r>
            <a:r>
              <a:rPr lang="en-US" sz="1200">
                <a:solidFill>
                  <a:schemeClr val="dk1"/>
                </a:solidFill>
                <a:latin typeface="Outfit"/>
                <a:ea typeface="Outfit"/>
                <a:cs typeface="Outfit"/>
                <a:sym typeface="Outfit"/>
              </a:rPr>
              <a:t>: Apache Spark, Spark MLlib.</a:t>
            </a:r>
            <a:endParaRPr b="1" sz="1100">
              <a:solidFill>
                <a:schemeClr val="dk1"/>
              </a:solidFill>
            </a:endParaRPr>
          </a:p>
          <a:p>
            <a:pPr indent="0" lvl="0" marL="0" marR="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p:txBody>
      </p:sp>
      <p:sp>
        <p:nvSpPr>
          <p:cNvPr id="117" name="Google Shape;117;g3ad127638c4_0_355"/>
          <p:cNvSpPr txBox="1"/>
          <p:nvPr/>
        </p:nvSpPr>
        <p:spPr>
          <a:xfrm>
            <a:off x="389100" y="1973450"/>
            <a:ext cx="3749100" cy="3123900"/>
          </a:xfrm>
          <a:prstGeom prst="rect">
            <a:avLst/>
          </a:prstGeom>
          <a:noFill/>
          <a:ln>
            <a:noFill/>
          </a:ln>
        </p:spPr>
        <p:txBody>
          <a:bodyPr anchorCtr="0" anchor="t" bIns="91425" lIns="91425" spcFirstLastPara="1" rIns="91425" wrap="square" tIns="91425">
            <a:noAutofit/>
          </a:bodyPr>
          <a:lstStyle/>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Gradient Boosting performed best (79% accuracy, 0.81 AUC)</a:t>
            </a:r>
            <a:endParaRPr sz="1200">
              <a:solidFill>
                <a:schemeClr val="dk1"/>
              </a:solidFill>
              <a:latin typeface="Outfit"/>
              <a:ea typeface="Outfit"/>
              <a:cs typeface="Outfit"/>
              <a:sym typeface="Outfit"/>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Real-time prediction.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Include more behavioral/contextual factors.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To test across multiple hospitals.</a:t>
            </a:r>
            <a:endParaRPr sz="1200">
              <a:solidFill>
                <a:schemeClr val="dk1"/>
              </a:solidFill>
              <a:latin typeface="Outfit"/>
              <a:ea typeface="Outfit"/>
              <a:cs typeface="Outfit"/>
              <a:sym typeface="Outfit"/>
            </a:endParaRPr>
          </a:p>
          <a:p>
            <a:pPr indent="0" lvl="0" marL="0" rtl="0" algn="l">
              <a:lnSpc>
                <a:spcPct val="115000"/>
              </a:lnSpc>
              <a:spcBef>
                <a:spcPts val="1200"/>
              </a:spcBef>
              <a:spcAft>
                <a:spcPts val="1200"/>
              </a:spcAft>
              <a:buNone/>
            </a:pPr>
            <a:r>
              <a:t/>
            </a:r>
            <a:endParaRPr sz="1200">
              <a:solidFill>
                <a:schemeClr val="dk1"/>
              </a:solidFill>
              <a:latin typeface="Outfit"/>
              <a:ea typeface="Outfit"/>
              <a:cs typeface="Outfit"/>
              <a:sym typeface="Outfi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g3ad127638c4_0_391"/>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Opened the Holy Bible close up prayer time on eyeglasses (provided by Getty Images)" id="124" name="Google Shape;124;g3ad127638c4_0_391"/>
          <p:cNvPicPr preferRelativeResize="0"/>
          <p:nvPr/>
        </p:nvPicPr>
        <p:blipFill rotWithShape="1">
          <a:blip r:embed="rId3">
            <a:alphaModFix/>
          </a:blip>
          <a:srcRect b="0" l="28376" r="28372" t="0"/>
          <a:stretch/>
        </p:blipFill>
        <p:spPr>
          <a:xfrm>
            <a:off x="320050" y="0"/>
            <a:ext cx="1870950" cy="1891149"/>
          </a:xfrm>
          <a:prstGeom prst="rect">
            <a:avLst/>
          </a:prstGeom>
          <a:noFill/>
          <a:ln>
            <a:noFill/>
          </a:ln>
        </p:spPr>
      </p:pic>
      <p:pic>
        <p:nvPicPr>
          <p:cNvPr descr="https://djgurnpwsdoqjscwqbsj.supabase.co/storage/v1/object/public/users_file_magicslides_io/grayscale_image.png" id="125" name="Google Shape;125;g3ad127638c4_0_391"/>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126" name="Google Shape;126;g3ad127638c4_0_391"/>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g3ad127638c4_0_391"/>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g3ad127638c4_0_391"/>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6</a:t>
            </a:r>
            <a:endParaRPr b="0" i="0" sz="1800" u="none" cap="none" strike="noStrike">
              <a:solidFill>
                <a:schemeClr val="dk1"/>
              </a:solidFill>
              <a:latin typeface="Calibri"/>
              <a:ea typeface="Calibri"/>
              <a:cs typeface="Calibri"/>
              <a:sym typeface="Calibri"/>
            </a:endParaRPr>
          </a:p>
        </p:txBody>
      </p:sp>
      <p:sp>
        <p:nvSpPr>
          <p:cNvPr id="129" name="Google Shape;129;g3ad127638c4_0_391"/>
          <p:cNvSpPr/>
          <p:nvPr/>
        </p:nvSpPr>
        <p:spPr>
          <a:xfrm>
            <a:off x="4114800" y="575792"/>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Literature Review</a:t>
            </a:r>
            <a:endParaRPr b="1" i="0" sz="2800" u="none" cap="none" strike="noStrike">
              <a:solidFill>
                <a:srgbClr val="1A6847"/>
              </a:solidFill>
              <a:latin typeface="Outfit"/>
              <a:ea typeface="Outfit"/>
              <a:cs typeface="Outfit"/>
              <a:sym typeface="Outfit"/>
            </a:endParaRPr>
          </a:p>
        </p:txBody>
      </p:sp>
      <p:sp>
        <p:nvSpPr>
          <p:cNvPr id="130" name="Google Shape;130;g3ad127638c4_0_391"/>
          <p:cNvSpPr/>
          <p:nvPr/>
        </p:nvSpPr>
        <p:spPr>
          <a:xfrm>
            <a:off x="4572000" y="1697355"/>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131" name="Google Shape;131;g3ad127638c4_0_391"/>
          <p:cNvSpPr/>
          <p:nvPr/>
        </p:nvSpPr>
        <p:spPr>
          <a:xfrm>
            <a:off x="4006025" y="1135445"/>
            <a:ext cx="4389000" cy="23145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None/>
            </a:pPr>
            <a:r>
              <a:rPr b="1" lang="en-US" sz="1300">
                <a:solidFill>
                  <a:schemeClr val="dk1"/>
                </a:solidFill>
                <a:latin typeface="Outfit"/>
                <a:ea typeface="Outfit"/>
                <a:cs typeface="Outfit"/>
                <a:sym typeface="Outfit"/>
              </a:rPr>
              <a:t>  2.  	</a:t>
            </a:r>
            <a:r>
              <a:rPr b="1" lang="en-US" sz="1300">
                <a:solidFill>
                  <a:schemeClr val="dk1"/>
                </a:solidFill>
                <a:latin typeface="Outfit"/>
                <a:ea typeface="Outfit"/>
                <a:cs typeface="Outfit"/>
                <a:sym typeface="Outfit"/>
              </a:rPr>
              <a:t>Real-time Health Status Prediction</a:t>
            </a:r>
            <a:endParaRPr b="1" sz="1300">
              <a:solidFill>
                <a:schemeClr val="dk1"/>
              </a:solidFill>
              <a:latin typeface="Outfit"/>
              <a:ea typeface="Outfit"/>
              <a:cs typeface="Outfit"/>
              <a:sym typeface="Outfit"/>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Goal</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Predict patient health risks in real-time.</a:t>
            </a:r>
            <a:endParaRPr sz="1200">
              <a:solidFill>
                <a:schemeClr val="dk1"/>
              </a:solidFill>
              <a:latin typeface="Outfit"/>
              <a:ea typeface="Outfit"/>
              <a:cs typeface="Outfit"/>
              <a:sym typeface="Outfit"/>
            </a:endParaRPr>
          </a:p>
          <a:p>
            <a:pPr indent="-304800" lvl="0" marL="457200" marR="0" rtl="0" algn="just">
              <a:lnSpc>
                <a:spcPct val="115000"/>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Method:  </a:t>
            </a:r>
            <a:r>
              <a:rPr lang="en-US" sz="1200">
                <a:solidFill>
                  <a:schemeClr val="dk1"/>
                </a:solidFill>
                <a:latin typeface="Outfit"/>
                <a:ea typeface="Outfit"/>
                <a:cs typeface="Outfit"/>
                <a:sym typeface="Outfit"/>
              </a:rPr>
              <a:t>ML on streaming + historical data.</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a:t>
            </a:r>
            <a:r>
              <a:rPr lang="en-US" sz="1100">
                <a:solidFill>
                  <a:schemeClr val="dk1"/>
                </a:solidFill>
              </a:rPr>
              <a:t>IoT sensor streams + historical health records.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Preprocessing:</a:t>
            </a:r>
            <a:r>
              <a:rPr lang="en-US" sz="1100">
                <a:solidFill>
                  <a:schemeClr val="dk1"/>
                </a:solidFill>
              </a:rPr>
              <a:t>Cleaned sensor data, handled missing/noisy values, normalized streams.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Feature Engineering / Selection: </a:t>
            </a:r>
            <a:r>
              <a:rPr lang="en-US" sz="1100">
                <a:solidFill>
                  <a:schemeClr val="dk1"/>
                </a:solidFill>
              </a:rPr>
              <a:t>U</a:t>
            </a:r>
            <a:r>
              <a:rPr lang="en-US" sz="1100">
                <a:solidFill>
                  <a:schemeClr val="dk1"/>
                </a:solidFill>
              </a:rPr>
              <a:t>sing information gain, which measures how much a feature reduces prediction uncertainty when used to split the data.</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Modeling: </a:t>
            </a:r>
            <a:r>
              <a:rPr lang="en-US" sz="1100">
                <a:solidFill>
                  <a:schemeClr val="dk1"/>
                </a:solidFill>
              </a:rPr>
              <a:t>Decision Tree, Random Forest, Gradient Boosting (on Spark Streaming pipeline).</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Evaluation:</a:t>
            </a:r>
            <a:r>
              <a:rPr lang="en-US" sz="1100">
                <a:solidFill>
                  <a:schemeClr val="dk1"/>
                </a:solidFill>
              </a:rPr>
              <a:t> </a:t>
            </a:r>
            <a:r>
              <a:rPr lang="en-US" sz="1100">
                <a:solidFill>
                  <a:schemeClr val="dk1"/>
                </a:solidFill>
              </a:rPr>
              <a:t>Accuracy, Precision, Recall, F1-score.</a:t>
            </a:r>
            <a:endParaRPr sz="1100">
              <a:solidFill>
                <a:schemeClr val="dk1"/>
              </a:solidFill>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Technologies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Apache Spark (batch + streaming).</a:t>
            </a:r>
            <a:endParaRPr b="1" sz="1100">
              <a:solidFill>
                <a:schemeClr val="dk1"/>
              </a:solidFill>
            </a:endParaRPr>
          </a:p>
          <a:p>
            <a:pPr indent="0" lvl="0" marL="0" marR="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p:txBody>
      </p:sp>
      <p:sp>
        <p:nvSpPr>
          <p:cNvPr id="132" name="Google Shape;132;g3ad127638c4_0_391"/>
          <p:cNvSpPr txBox="1"/>
          <p:nvPr/>
        </p:nvSpPr>
        <p:spPr>
          <a:xfrm>
            <a:off x="389100" y="1973450"/>
            <a:ext cx="3749100" cy="3123900"/>
          </a:xfrm>
          <a:prstGeom prst="rect">
            <a:avLst/>
          </a:prstGeom>
          <a:noFill/>
          <a:ln>
            <a:noFill/>
          </a:ln>
        </p:spPr>
        <p:txBody>
          <a:bodyPr anchorCtr="0" anchor="t" bIns="91425" lIns="91425" spcFirstLastPara="1" rIns="91425" wrap="square" tIns="91425">
            <a:noAutofit/>
          </a:bodyPr>
          <a:lstStyle/>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accuracy improved when historical + streaming data combined. ( 78%)</a:t>
            </a:r>
            <a:endParaRPr sz="1200">
              <a:solidFill>
                <a:schemeClr val="dk1"/>
              </a:solidFill>
              <a:latin typeface="Outfit"/>
              <a:ea typeface="Outfit"/>
              <a:cs typeface="Outfit"/>
              <a:sym typeface="Outfit"/>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Add more health indicators (features) for broader prediction.</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Scale to larger IoT networks.</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Multi-institution validation.</a:t>
            </a:r>
            <a:endParaRPr sz="1200">
              <a:solidFill>
                <a:schemeClr val="dk1"/>
              </a:solidFill>
              <a:latin typeface="Outfit"/>
              <a:ea typeface="Outfit"/>
              <a:cs typeface="Outfit"/>
              <a:sym typeface="Outfi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g3ad127638c4_1_17"/>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Opened the Holy Bible close up prayer time on eyeglasses (provided by Getty Images)" id="139" name="Google Shape;139;g3ad127638c4_1_17"/>
          <p:cNvPicPr preferRelativeResize="0"/>
          <p:nvPr/>
        </p:nvPicPr>
        <p:blipFill rotWithShape="1">
          <a:blip r:embed="rId3">
            <a:alphaModFix/>
          </a:blip>
          <a:srcRect b="0" l="28376" r="28372" t="0"/>
          <a:stretch/>
        </p:blipFill>
        <p:spPr>
          <a:xfrm>
            <a:off x="320050" y="0"/>
            <a:ext cx="1870950" cy="1891149"/>
          </a:xfrm>
          <a:prstGeom prst="rect">
            <a:avLst/>
          </a:prstGeom>
          <a:noFill/>
          <a:ln>
            <a:noFill/>
          </a:ln>
        </p:spPr>
      </p:pic>
      <p:pic>
        <p:nvPicPr>
          <p:cNvPr descr="https://djgurnpwsdoqjscwqbsj.supabase.co/storage/v1/object/public/users_file_magicslides_io/grayscale_image.png" id="140" name="Google Shape;140;g3ad127638c4_1_17"/>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141" name="Google Shape;141;g3ad127638c4_1_17"/>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g3ad127638c4_1_17"/>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g3ad127638c4_1_17"/>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7</a:t>
            </a:r>
            <a:endParaRPr b="0" i="0" sz="1800" u="none" cap="none" strike="noStrike">
              <a:solidFill>
                <a:schemeClr val="dk1"/>
              </a:solidFill>
              <a:latin typeface="Calibri"/>
              <a:ea typeface="Calibri"/>
              <a:cs typeface="Calibri"/>
              <a:sym typeface="Calibri"/>
            </a:endParaRPr>
          </a:p>
        </p:txBody>
      </p:sp>
      <p:sp>
        <p:nvSpPr>
          <p:cNvPr id="144" name="Google Shape;144;g3ad127638c4_1_17"/>
          <p:cNvSpPr/>
          <p:nvPr/>
        </p:nvSpPr>
        <p:spPr>
          <a:xfrm>
            <a:off x="4114800" y="575792"/>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Literature Review</a:t>
            </a:r>
            <a:endParaRPr b="1" i="0" sz="2800" u="none" cap="none" strike="noStrike">
              <a:solidFill>
                <a:srgbClr val="1A6847"/>
              </a:solidFill>
              <a:latin typeface="Outfit"/>
              <a:ea typeface="Outfit"/>
              <a:cs typeface="Outfit"/>
              <a:sym typeface="Outfit"/>
            </a:endParaRPr>
          </a:p>
        </p:txBody>
      </p:sp>
      <p:sp>
        <p:nvSpPr>
          <p:cNvPr id="145" name="Google Shape;145;g3ad127638c4_1_17"/>
          <p:cNvSpPr/>
          <p:nvPr/>
        </p:nvSpPr>
        <p:spPr>
          <a:xfrm>
            <a:off x="4572000" y="1697355"/>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146" name="Google Shape;146;g3ad127638c4_1_17"/>
          <p:cNvSpPr/>
          <p:nvPr/>
        </p:nvSpPr>
        <p:spPr>
          <a:xfrm>
            <a:off x="4006025" y="1135445"/>
            <a:ext cx="4389000" cy="2314500"/>
          </a:xfrm>
          <a:prstGeom prst="rect">
            <a:avLst/>
          </a:prstGeom>
          <a:noFill/>
          <a:ln>
            <a:noFill/>
          </a:ln>
        </p:spPr>
        <p:txBody>
          <a:bodyPr anchorCtr="0" anchor="t" bIns="45700" lIns="91425" spcFirstLastPara="1" rIns="91425" wrap="square" tIns="45700">
            <a:noAutofit/>
          </a:bodyPr>
          <a:lstStyle/>
          <a:p>
            <a:pPr indent="0" lvl="0" marL="0" rtl="0" algn="just">
              <a:lnSpc>
                <a:spcPct val="166666"/>
              </a:lnSpc>
              <a:spcBef>
                <a:spcPts val="0"/>
              </a:spcBef>
              <a:spcAft>
                <a:spcPts val="0"/>
              </a:spcAft>
              <a:buNone/>
            </a:pPr>
            <a:r>
              <a:rPr b="1" lang="en-US" sz="1300">
                <a:solidFill>
                  <a:schemeClr val="dk1"/>
                </a:solidFill>
                <a:latin typeface="Outfit"/>
                <a:ea typeface="Outfit"/>
                <a:cs typeface="Outfit"/>
                <a:sym typeface="Outfit"/>
              </a:rPr>
              <a:t>  3.  	EHR Analysis for Diabetes Management</a:t>
            </a:r>
            <a:endParaRPr b="1" sz="1300">
              <a:solidFill>
                <a:schemeClr val="dk1"/>
              </a:solidFill>
              <a:latin typeface="Outfit"/>
              <a:ea typeface="Outfit"/>
              <a:cs typeface="Outfit"/>
              <a:sym typeface="Outfit"/>
            </a:endParaRPr>
          </a:p>
          <a:p>
            <a:pPr indent="0" lvl="0" marL="0" rtl="0" algn="just">
              <a:lnSpc>
                <a:spcPct val="166666"/>
              </a:lnSpc>
              <a:spcBef>
                <a:spcPts val="0"/>
              </a:spcBef>
              <a:spcAft>
                <a:spcPts val="0"/>
              </a:spcAft>
              <a:buNone/>
            </a:pPr>
            <a:r>
              <a:rPr b="1" lang="en-US" sz="1300">
                <a:solidFill>
                  <a:schemeClr val="dk1"/>
                </a:solidFill>
                <a:latin typeface="Outfit"/>
                <a:ea typeface="Outfit"/>
                <a:cs typeface="Outfit"/>
                <a:sym typeface="Outfit"/>
              </a:rPr>
              <a:t>Real-time Health Status Prediction</a:t>
            </a:r>
            <a:endParaRPr b="1" sz="1300">
              <a:solidFill>
                <a:schemeClr val="dk1"/>
              </a:solidFill>
              <a:latin typeface="Outfit"/>
              <a:ea typeface="Outfit"/>
              <a:cs typeface="Outfit"/>
              <a:sym typeface="Outfit"/>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Goal</a:t>
            </a:r>
            <a:r>
              <a:rPr lang="en-US" sz="1200">
                <a:solidFill>
                  <a:schemeClr val="dk1"/>
                </a:solidFill>
                <a:latin typeface="Outfit"/>
                <a:ea typeface="Outfit"/>
                <a:cs typeface="Outfit"/>
                <a:sym typeface="Outfit"/>
              </a:rPr>
              <a:t>:  Improve diabetes prediction and management.</a:t>
            </a:r>
            <a:endParaRPr sz="1200">
              <a:solidFill>
                <a:schemeClr val="dk1"/>
              </a:solidFill>
              <a:latin typeface="Outfit"/>
              <a:ea typeface="Outfit"/>
              <a:cs typeface="Outfit"/>
              <a:sym typeface="Outfit"/>
            </a:endParaRPr>
          </a:p>
          <a:p>
            <a:pPr indent="-304800" lvl="0" marL="457200" rtl="0" algn="just">
              <a:lnSpc>
                <a:spcPct val="115000"/>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Method:  </a:t>
            </a:r>
            <a:r>
              <a:rPr lang="en-US" sz="1200">
                <a:solidFill>
                  <a:schemeClr val="dk1"/>
                </a:solidFill>
                <a:latin typeface="Outfit"/>
                <a:ea typeface="Outfit"/>
                <a:cs typeface="Outfit"/>
                <a:sym typeface="Outfit"/>
              </a:rPr>
              <a:t>ML on large-scale EHR (Electronic Health Record) data.</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a:t>
            </a:r>
            <a:r>
              <a:rPr lang="en-US" sz="1100">
                <a:solidFill>
                  <a:schemeClr val="dk1"/>
                </a:solidFill>
              </a:rPr>
              <a:t>EHR datasets across hospitals.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Preprocessing: </a:t>
            </a:r>
            <a:r>
              <a:rPr lang="en-US" sz="1100">
                <a:solidFill>
                  <a:schemeClr val="dk1"/>
                </a:solidFill>
              </a:rPr>
              <a:t>Cleaned records, handled missing/inconsistent values, normalized numerical features.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Feature Engineering / Selection: </a:t>
            </a:r>
            <a:r>
              <a:rPr lang="en-US" sz="1100">
                <a:solidFill>
                  <a:schemeClr val="dk1"/>
                </a:solidFill>
              </a:rPr>
              <a:t>Extracted clinical and demographic features; used ranking/selection methods to choose predictive features.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Modeling: </a:t>
            </a:r>
            <a:r>
              <a:rPr lang="en-US" sz="1100">
                <a:solidFill>
                  <a:schemeClr val="dk1"/>
                </a:solidFill>
              </a:rPr>
              <a:t>Random Forest, Logistic Regression, Gradient Boosting (Spark MLlib).</a:t>
            </a:r>
            <a:endParaRPr b="1"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Evaluation: </a:t>
            </a:r>
            <a:r>
              <a:rPr lang="en-US" sz="1100">
                <a:solidFill>
                  <a:schemeClr val="dk1"/>
                </a:solidFill>
              </a:rPr>
              <a:t>Accuracy, Precision, Recall, F1-score.</a:t>
            </a:r>
            <a:endParaRPr sz="1100">
              <a:solidFill>
                <a:schemeClr val="dk1"/>
              </a:solidFill>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Technologies</a:t>
            </a:r>
            <a:r>
              <a:rPr lang="en-US" sz="1200">
                <a:solidFill>
                  <a:schemeClr val="dk1"/>
                </a:solidFill>
                <a:latin typeface="Outfit"/>
                <a:ea typeface="Outfit"/>
                <a:cs typeface="Outfit"/>
                <a:sym typeface="Outfit"/>
              </a:rPr>
              <a:t>: Apache Spark, ML modules</a:t>
            </a:r>
            <a:endParaRPr sz="1200">
              <a:solidFill>
                <a:schemeClr val="dk1"/>
              </a:solidFill>
              <a:latin typeface="Outfit"/>
              <a:ea typeface="Outfit"/>
              <a:cs typeface="Outfit"/>
              <a:sym typeface="Outfit"/>
            </a:endParaRPr>
          </a:p>
          <a:p>
            <a:pPr indent="0" lvl="0" marL="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a:p>
            <a:pPr indent="0" lvl="0" marL="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a:p>
            <a:pPr indent="0" lvl="0" marL="0" marR="0" rtl="0" algn="just">
              <a:lnSpc>
                <a:spcPct val="166666"/>
              </a:lnSpc>
              <a:spcBef>
                <a:spcPts val="0"/>
              </a:spcBef>
              <a:spcAft>
                <a:spcPts val="0"/>
              </a:spcAft>
              <a:buNone/>
            </a:pPr>
            <a:r>
              <a:t/>
            </a:r>
            <a:endParaRPr b="1" sz="1300">
              <a:solidFill>
                <a:schemeClr val="dk1"/>
              </a:solidFill>
              <a:latin typeface="Outfit"/>
              <a:ea typeface="Outfit"/>
              <a:cs typeface="Outfit"/>
              <a:sym typeface="Outfit"/>
            </a:endParaRPr>
          </a:p>
        </p:txBody>
      </p:sp>
      <p:sp>
        <p:nvSpPr>
          <p:cNvPr id="147" name="Google Shape;147;g3ad127638c4_1_17"/>
          <p:cNvSpPr txBox="1"/>
          <p:nvPr/>
        </p:nvSpPr>
        <p:spPr>
          <a:xfrm>
            <a:off x="389100" y="1973450"/>
            <a:ext cx="3749100" cy="3123900"/>
          </a:xfrm>
          <a:prstGeom prst="rect">
            <a:avLst/>
          </a:prstGeom>
          <a:noFill/>
          <a:ln>
            <a:noFill/>
          </a:ln>
        </p:spPr>
        <p:txBody>
          <a:bodyPr anchorCtr="0" anchor="t" bIns="91425" lIns="91425" spcFirstLastPara="1" rIns="91425" wrap="square" tIns="91425">
            <a:noAutofit/>
          </a:bodyPr>
          <a:lstStyle/>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scalable analytics enabled effective diabetes prediction. (85%)</a:t>
            </a:r>
            <a:endParaRPr sz="1200">
              <a:solidFill>
                <a:schemeClr val="dk1"/>
              </a:solidFill>
              <a:latin typeface="Outfit"/>
              <a:ea typeface="Outfit"/>
              <a:cs typeface="Outfit"/>
              <a:sym typeface="Outfit"/>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Data integration.</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Privacy improvements.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Expand datasets</a:t>
            </a:r>
            <a:r>
              <a:rPr lang="en-US" sz="1200">
                <a:solidFill>
                  <a:schemeClr val="dk1"/>
                </a:solidFill>
                <a:latin typeface="Outfit"/>
                <a:ea typeface="Outfit"/>
                <a:cs typeface="Outfit"/>
                <a:sym typeface="Outfit"/>
              </a:rPr>
              <a:t> and improve interpretability (</a:t>
            </a:r>
            <a:r>
              <a:rPr lang="en-US" sz="1100">
                <a:solidFill>
                  <a:schemeClr val="dk1"/>
                </a:solidFill>
              </a:rPr>
              <a:t>Understandability</a:t>
            </a:r>
            <a:r>
              <a:rPr lang="en-US" sz="1200">
                <a:solidFill>
                  <a:schemeClr val="dk1"/>
                </a:solidFill>
                <a:latin typeface="Outfit"/>
                <a:ea typeface="Outfit"/>
                <a:cs typeface="Outfit"/>
                <a:sym typeface="Outfit"/>
              </a:rPr>
              <a:t>).</a:t>
            </a:r>
            <a:endParaRPr sz="1200">
              <a:solidFill>
                <a:schemeClr val="dk1"/>
              </a:solidFill>
              <a:latin typeface="Outfit"/>
              <a:ea typeface="Outfit"/>
              <a:cs typeface="Outfit"/>
              <a:sym typeface="Outfi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ad127638c4_1_31"/>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Opened the Holy Bible close up prayer time on eyeglasses (provided by Getty Images)" id="154" name="Google Shape;154;g3ad127638c4_1_31"/>
          <p:cNvPicPr preferRelativeResize="0"/>
          <p:nvPr/>
        </p:nvPicPr>
        <p:blipFill rotWithShape="1">
          <a:blip r:embed="rId4">
            <a:alphaModFix/>
          </a:blip>
          <a:srcRect b="0" l="28376" r="28372" t="0"/>
          <a:stretch/>
        </p:blipFill>
        <p:spPr>
          <a:xfrm>
            <a:off x="320050" y="0"/>
            <a:ext cx="1870950" cy="1891149"/>
          </a:xfrm>
          <a:prstGeom prst="rect">
            <a:avLst/>
          </a:prstGeom>
          <a:noFill/>
          <a:ln>
            <a:noFill/>
          </a:ln>
        </p:spPr>
      </p:pic>
      <p:pic>
        <p:nvPicPr>
          <p:cNvPr descr="https://djgurnpwsdoqjscwqbsj.supabase.co/storage/v1/object/public/users_file_magicslides_io/grayscale_image.png" id="155" name="Google Shape;155;g3ad127638c4_1_31"/>
          <p:cNvPicPr preferRelativeResize="0"/>
          <p:nvPr/>
        </p:nvPicPr>
        <p:blipFill rotWithShape="1">
          <a:blip r:embed="rId5">
            <a:alphaModFix/>
          </a:blip>
          <a:srcRect b="0" l="0" r="0" t="0"/>
          <a:stretch/>
        </p:blipFill>
        <p:spPr>
          <a:xfrm>
            <a:off x="4206240" y="1800225"/>
            <a:ext cx="365760" cy="365760"/>
          </a:xfrm>
          <a:prstGeom prst="rect">
            <a:avLst/>
          </a:prstGeom>
          <a:noFill/>
          <a:ln>
            <a:noFill/>
          </a:ln>
        </p:spPr>
      </p:pic>
      <p:sp>
        <p:nvSpPr>
          <p:cNvPr id="156" name="Google Shape;156;g3ad127638c4_1_31"/>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g3ad127638c4_1_31"/>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g3ad127638c4_1_31"/>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8</a:t>
            </a:r>
            <a:endParaRPr b="0" i="0" sz="1800" u="none" cap="none" strike="noStrike">
              <a:solidFill>
                <a:schemeClr val="dk1"/>
              </a:solidFill>
              <a:latin typeface="Calibri"/>
              <a:ea typeface="Calibri"/>
              <a:cs typeface="Calibri"/>
              <a:sym typeface="Calibri"/>
            </a:endParaRPr>
          </a:p>
        </p:txBody>
      </p:sp>
      <p:sp>
        <p:nvSpPr>
          <p:cNvPr id="159" name="Google Shape;159;g3ad127638c4_1_31"/>
          <p:cNvSpPr/>
          <p:nvPr/>
        </p:nvSpPr>
        <p:spPr>
          <a:xfrm>
            <a:off x="4114800" y="575792"/>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Literature Review</a:t>
            </a:r>
            <a:endParaRPr b="1" i="0" sz="2800" u="none" cap="none" strike="noStrike">
              <a:solidFill>
                <a:srgbClr val="1A6847"/>
              </a:solidFill>
              <a:latin typeface="Outfit"/>
              <a:ea typeface="Outfit"/>
              <a:cs typeface="Outfit"/>
              <a:sym typeface="Outfit"/>
            </a:endParaRPr>
          </a:p>
        </p:txBody>
      </p:sp>
      <p:sp>
        <p:nvSpPr>
          <p:cNvPr id="160" name="Google Shape;160;g3ad127638c4_1_31"/>
          <p:cNvSpPr/>
          <p:nvPr/>
        </p:nvSpPr>
        <p:spPr>
          <a:xfrm>
            <a:off x="4572000" y="1697355"/>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161" name="Google Shape;161;g3ad127638c4_1_31"/>
          <p:cNvSpPr/>
          <p:nvPr/>
        </p:nvSpPr>
        <p:spPr>
          <a:xfrm>
            <a:off x="4006025" y="1135451"/>
            <a:ext cx="4389000" cy="26022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None/>
            </a:pPr>
            <a:r>
              <a:rPr b="1" lang="en-US" sz="1300">
                <a:solidFill>
                  <a:schemeClr val="dk1"/>
                </a:solidFill>
                <a:latin typeface="Outfit"/>
                <a:ea typeface="Outfit"/>
                <a:cs typeface="Outfit"/>
                <a:sym typeface="Outfit"/>
              </a:rPr>
              <a:t>  4.  	</a:t>
            </a:r>
            <a:r>
              <a:rPr b="1" lang="en-US" sz="1300">
                <a:solidFill>
                  <a:schemeClr val="dk1"/>
                </a:solidFill>
                <a:latin typeface="Outfit"/>
                <a:ea typeface="Outfit"/>
                <a:cs typeface="Outfit"/>
                <a:sym typeface="Outfit"/>
              </a:rPr>
              <a:t>Apache Spark in Healthcare (Review)</a:t>
            </a:r>
            <a:endParaRPr b="1" sz="1300">
              <a:solidFill>
                <a:schemeClr val="dk1"/>
              </a:solidFill>
              <a:latin typeface="Outfit"/>
              <a:ea typeface="Outfit"/>
              <a:cs typeface="Outfit"/>
              <a:sym typeface="Outfit"/>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Goal</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Show how Spark improves healthcare operations and analytics.</a:t>
            </a:r>
            <a:endParaRPr sz="1200">
              <a:solidFill>
                <a:schemeClr val="dk1"/>
              </a:solidFill>
              <a:latin typeface="Outfit"/>
              <a:ea typeface="Outfit"/>
              <a:cs typeface="Outfit"/>
              <a:sym typeface="Outfit"/>
            </a:endParaRPr>
          </a:p>
          <a:p>
            <a:pPr indent="-304800" lvl="0" marL="457200" marR="0" rtl="0" algn="just">
              <a:lnSpc>
                <a:spcPct val="115000"/>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Method:  </a:t>
            </a:r>
            <a:r>
              <a:rPr lang="en-US" sz="1200">
                <a:solidFill>
                  <a:schemeClr val="dk1"/>
                </a:solidFill>
                <a:latin typeface="Outfit"/>
                <a:ea typeface="Outfit"/>
                <a:cs typeface="Outfit"/>
                <a:sym typeface="Outfit"/>
              </a:rPr>
              <a:t>Review of case studies and Spark-based ML/AI pipelines.</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a:t>
            </a:r>
            <a:r>
              <a:rPr lang="en-US" sz="1100">
                <a:solidFill>
                  <a:schemeClr val="dk1"/>
                </a:solidFill>
              </a:rPr>
              <a:t>EHR, imaging, remote monitoring datasets</a:t>
            </a:r>
            <a:r>
              <a:rPr lang="en-US" sz="1100">
                <a:solidFill>
                  <a:schemeClr val="dk1"/>
                </a:solidFill>
              </a:rPr>
              <a:t>.</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Data Preprocessing: </a:t>
            </a:r>
            <a:r>
              <a:rPr lang="en-US" sz="1100">
                <a:solidFill>
                  <a:schemeClr val="dk1"/>
                </a:solidFill>
              </a:rPr>
              <a:t>Standardized pipelines for batch and streaming analyses.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Feature Engineering / Selection: </a:t>
            </a:r>
            <a:r>
              <a:rPr lang="en-US" sz="1100">
                <a:solidFill>
                  <a:schemeClr val="dk1"/>
                </a:solidFill>
              </a:rPr>
              <a:t>Using information gain or standard ranking methods described in studies to select predictive features.</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Modeling: </a:t>
            </a:r>
            <a:r>
              <a:rPr lang="en-US" sz="1100">
                <a:solidFill>
                  <a:schemeClr val="dk1"/>
                </a:solidFill>
              </a:rPr>
              <a:t>ML models (Random Forest, Logistic Regression) and AI frameworks integrated with Spark.</a:t>
            </a:r>
            <a:endParaRPr sz="1100">
              <a:solidFill>
                <a:schemeClr val="dk1"/>
              </a:solidFill>
            </a:endParaRPr>
          </a:p>
          <a:p>
            <a:pPr indent="-304800" lvl="1" marL="914400" rtl="0" algn="l">
              <a:lnSpc>
                <a:spcPct val="115000"/>
              </a:lnSpc>
              <a:spcBef>
                <a:spcPts val="0"/>
              </a:spcBef>
              <a:spcAft>
                <a:spcPts val="0"/>
              </a:spcAft>
              <a:buClr>
                <a:schemeClr val="dk1"/>
              </a:buClr>
              <a:buSzPts val="1200"/>
              <a:buFont typeface="Outfit"/>
              <a:buChar char="-"/>
            </a:pPr>
            <a:r>
              <a:rPr b="1" lang="en-US" sz="1100">
                <a:solidFill>
                  <a:schemeClr val="dk1"/>
                </a:solidFill>
              </a:rPr>
              <a:t>Evaluation: </a:t>
            </a:r>
            <a:r>
              <a:rPr lang="en-US" sz="1100">
                <a:solidFill>
                  <a:schemeClr val="dk1"/>
                </a:solidFill>
              </a:rPr>
              <a:t>Efficiency, speed, scalability.</a:t>
            </a:r>
            <a:endParaRPr sz="1100">
              <a:solidFill>
                <a:schemeClr val="dk1"/>
              </a:solidFill>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Technologies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Apache Spark, ML/AI frameworks.</a:t>
            </a:r>
            <a:endParaRPr b="1" sz="1100">
              <a:solidFill>
                <a:schemeClr val="dk1"/>
              </a:solidFill>
            </a:endParaRPr>
          </a:p>
          <a:p>
            <a:pPr indent="0" lvl="0" marL="0" marR="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p:txBody>
      </p:sp>
      <p:sp>
        <p:nvSpPr>
          <p:cNvPr id="162" name="Google Shape;162;g3ad127638c4_1_31"/>
          <p:cNvSpPr txBox="1"/>
          <p:nvPr/>
        </p:nvSpPr>
        <p:spPr>
          <a:xfrm>
            <a:off x="389100" y="1973450"/>
            <a:ext cx="3749100" cy="3123900"/>
          </a:xfrm>
          <a:prstGeom prst="rect">
            <a:avLst/>
          </a:prstGeom>
          <a:noFill/>
          <a:ln>
            <a:noFill/>
          </a:ln>
        </p:spPr>
        <p:txBody>
          <a:bodyPr anchorCtr="0" anchor="t" bIns="91425" lIns="91425" spcFirstLastPara="1" rIns="91425" wrap="square" tIns="91425">
            <a:noAutofit/>
          </a:bodyPr>
          <a:lstStyle/>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Data processing speed improved </a:t>
            </a:r>
            <a:r>
              <a:rPr lang="en-US" sz="1200">
                <a:solidFill>
                  <a:schemeClr val="dk1"/>
                </a:solidFill>
                <a:latin typeface="Outfit"/>
                <a:ea typeface="Outfit"/>
                <a:cs typeface="Outfit"/>
                <a:sym typeface="Outfit"/>
                <a:extLst>
                  <a:ext uri="http://customooxmlschemas.google.com/">
                    <go:slidesCustomData xmlns:go="http://customooxmlschemas.google.com/" textRoundtripDataId="0"/>
                  </a:ext>
                </a:extLst>
              </a:rPr>
              <a:t>2–5x;</a:t>
            </a:r>
            <a:r>
              <a:rPr lang="en-US" sz="1200">
                <a:solidFill>
                  <a:schemeClr val="dk1"/>
                </a:solidFill>
                <a:latin typeface="Outfit"/>
                <a:ea typeface="Outfit"/>
                <a:cs typeface="Outfit"/>
                <a:sym typeface="Outfit"/>
              </a:rPr>
              <a:t> predictive insights more scalable.</a:t>
            </a:r>
            <a:endParaRPr sz="1200">
              <a:solidFill>
                <a:schemeClr val="dk1"/>
              </a:solidFill>
              <a:latin typeface="Outfit"/>
              <a:ea typeface="Outfit"/>
              <a:cs typeface="Outfit"/>
              <a:sym typeface="Outfit"/>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Real-time analytics.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IoMT integration (Internet of Medical Things).</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Security/privacy.</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Scalability.</a:t>
            </a:r>
            <a:endParaRPr sz="1200">
              <a:solidFill>
                <a:schemeClr val="dk1"/>
              </a:solidFill>
              <a:latin typeface="Outfit"/>
              <a:ea typeface="Outfit"/>
              <a:cs typeface="Outfit"/>
              <a:sym typeface="Outfi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ad127638c4_1_45"/>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Opened the Holy Bible close up prayer time on eyeglasses (provided by Getty Images)" id="169" name="Google Shape;169;g3ad127638c4_1_45"/>
          <p:cNvPicPr preferRelativeResize="0"/>
          <p:nvPr/>
        </p:nvPicPr>
        <p:blipFill rotWithShape="1">
          <a:blip r:embed="rId3">
            <a:alphaModFix/>
          </a:blip>
          <a:srcRect b="0" l="28376" r="28372" t="0"/>
          <a:stretch/>
        </p:blipFill>
        <p:spPr>
          <a:xfrm>
            <a:off x="320050" y="0"/>
            <a:ext cx="1870950" cy="1891149"/>
          </a:xfrm>
          <a:prstGeom prst="rect">
            <a:avLst/>
          </a:prstGeom>
          <a:noFill/>
          <a:ln>
            <a:noFill/>
          </a:ln>
        </p:spPr>
      </p:pic>
      <p:pic>
        <p:nvPicPr>
          <p:cNvPr descr="https://djgurnpwsdoqjscwqbsj.supabase.co/storage/v1/object/public/users_file_magicslides_io/grayscale_image.png" id="170" name="Google Shape;170;g3ad127638c4_1_45"/>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171" name="Google Shape;171;g3ad127638c4_1_45"/>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g3ad127638c4_1_45"/>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g3ad127638c4_1_45"/>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9</a:t>
            </a:r>
            <a:endParaRPr b="0" i="0" sz="1800" u="none" cap="none" strike="noStrike">
              <a:solidFill>
                <a:schemeClr val="dk1"/>
              </a:solidFill>
              <a:latin typeface="Calibri"/>
              <a:ea typeface="Calibri"/>
              <a:cs typeface="Calibri"/>
              <a:sym typeface="Calibri"/>
            </a:endParaRPr>
          </a:p>
        </p:txBody>
      </p:sp>
      <p:sp>
        <p:nvSpPr>
          <p:cNvPr id="174" name="Google Shape;174;g3ad127638c4_1_45"/>
          <p:cNvSpPr/>
          <p:nvPr/>
        </p:nvSpPr>
        <p:spPr>
          <a:xfrm>
            <a:off x="4114800" y="575792"/>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1200"/>
              </a:spcBef>
              <a:spcAft>
                <a:spcPts val="1200"/>
              </a:spcAft>
              <a:buClr>
                <a:schemeClr val="dk1"/>
              </a:buClr>
              <a:buSzPts val="1100"/>
              <a:buFont typeface="Arial"/>
              <a:buNone/>
            </a:pPr>
            <a:r>
              <a:rPr b="1" lang="en-US" sz="2800">
                <a:solidFill>
                  <a:srgbClr val="1A6847"/>
                </a:solidFill>
                <a:latin typeface="Outfit"/>
                <a:ea typeface="Outfit"/>
                <a:cs typeface="Outfit"/>
                <a:sym typeface="Outfit"/>
              </a:rPr>
              <a:t>Literature Review</a:t>
            </a:r>
            <a:endParaRPr b="1" i="0" sz="2800" u="none" cap="none" strike="noStrike">
              <a:solidFill>
                <a:srgbClr val="1A6847"/>
              </a:solidFill>
              <a:latin typeface="Outfit"/>
              <a:ea typeface="Outfit"/>
              <a:cs typeface="Outfit"/>
              <a:sym typeface="Outfit"/>
            </a:endParaRPr>
          </a:p>
        </p:txBody>
      </p:sp>
      <p:sp>
        <p:nvSpPr>
          <p:cNvPr id="175" name="Google Shape;175;g3ad127638c4_1_45"/>
          <p:cNvSpPr/>
          <p:nvPr/>
        </p:nvSpPr>
        <p:spPr>
          <a:xfrm>
            <a:off x="4572000" y="1697355"/>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176" name="Google Shape;176;g3ad127638c4_1_45"/>
          <p:cNvSpPr/>
          <p:nvPr/>
        </p:nvSpPr>
        <p:spPr>
          <a:xfrm>
            <a:off x="4006025" y="1135445"/>
            <a:ext cx="4389000" cy="23145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None/>
            </a:pPr>
            <a:r>
              <a:rPr b="1" lang="en-US" sz="1300">
                <a:solidFill>
                  <a:schemeClr val="dk1"/>
                </a:solidFill>
                <a:latin typeface="Outfit"/>
                <a:ea typeface="Outfit"/>
                <a:cs typeface="Outfit"/>
                <a:sym typeface="Outfit"/>
              </a:rPr>
              <a:t>  5.  	</a:t>
            </a:r>
            <a:r>
              <a:rPr b="1" lang="en-US" sz="1300">
                <a:solidFill>
                  <a:schemeClr val="dk1"/>
                </a:solidFill>
                <a:latin typeface="Outfit"/>
                <a:ea typeface="Outfit"/>
                <a:cs typeface="Outfit"/>
                <a:sym typeface="Outfit"/>
              </a:rPr>
              <a:t>Real-time SBP &amp; HR Prediction using TCN &amp; Spark</a:t>
            </a:r>
            <a:endParaRPr b="1" sz="1300">
              <a:solidFill>
                <a:schemeClr val="dk1"/>
              </a:solidFill>
              <a:latin typeface="Outfit"/>
              <a:ea typeface="Outfit"/>
              <a:cs typeface="Outfit"/>
              <a:sym typeface="Outfit"/>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Goal</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Predict blood pressure and heart rate in real-time.</a:t>
            </a:r>
            <a:endParaRPr sz="1200">
              <a:solidFill>
                <a:schemeClr val="dk1"/>
              </a:solidFill>
              <a:latin typeface="Outfit"/>
              <a:ea typeface="Outfit"/>
              <a:cs typeface="Outfit"/>
              <a:sym typeface="Outfit"/>
            </a:endParaRPr>
          </a:p>
          <a:p>
            <a:pPr indent="-304800" lvl="0" marL="457200" marR="0" rtl="0" algn="just">
              <a:lnSpc>
                <a:spcPct val="115000"/>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Method: </a:t>
            </a:r>
            <a:r>
              <a:rPr lang="en-US" sz="1200">
                <a:solidFill>
                  <a:schemeClr val="dk1"/>
                </a:solidFill>
                <a:latin typeface="Outfit"/>
                <a:ea typeface="Outfit"/>
                <a:cs typeface="Outfit"/>
                <a:sym typeface="Outfit"/>
              </a:rPr>
              <a:t>Multi-task deep learning on streaming physiological data.</a:t>
            </a:r>
            <a:endParaRPr sz="1200">
              <a:solidFill>
                <a:schemeClr val="dk1"/>
              </a:solidFill>
              <a:latin typeface="Outfit"/>
              <a:ea typeface="Outfit"/>
              <a:cs typeface="Outfit"/>
              <a:sym typeface="Outfit"/>
            </a:endParaRPr>
          </a:p>
          <a:p>
            <a:pPr indent="-304800" lvl="1" marL="914400" rtl="0" algn="just">
              <a:lnSpc>
                <a:spcPct val="115000"/>
              </a:lnSpc>
              <a:spcBef>
                <a:spcPts val="0"/>
              </a:spcBef>
              <a:spcAft>
                <a:spcPts val="0"/>
              </a:spcAft>
              <a:buClr>
                <a:schemeClr val="dk1"/>
              </a:buClr>
              <a:buSzPts val="1200"/>
              <a:buFont typeface="Outfit"/>
              <a:buChar char="-"/>
            </a:pPr>
            <a:r>
              <a:rPr b="1" lang="en-US" sz="1100">
                <a:solidFill>
                  <a:schemeClr val="dk1"/>
                </a:solidFill>
              </a:rPr>
              <a:t>Data: </a:t>
            </a:r>
            <a:r>
              <a:rPr lang="en-US" sz="1100">
                <a:solidFill>
                  <a:schemeClr val="dk1"/>
                </a:solidFill>
              </a:rPr>
              <a:t>Physiological dataset (systolic blood pressure (SBP) and heart rate (HR))</a:t>
            </a:r>
            <a:r>
              <a:rPr b="1" lang="en-US" sz="1100">
                <a:solidFill>
                  <a:schemeClr val="dk1"/>
                </a:solidFill>
              </a:rPr>
              <a:t>.</a:t>
            </a:r>
            <a:endParaRPr b="1" sz="1100">
              <a:solidFill>
                <a:schemeClr val="dk1"/>
              </a:solidFill>
            </a:endParaRPr>
          </a:p>
          <a:p>
            <a:pPr indent="-304800" lvl="1" marL="914400" rtl="0" algn="just">
              <a:lnSpc>
                <a:spcPct val="115000"/>
              </a:lnSpc>
              <a:spcBef>
                <a:spcPts val="0"/>
              </a:spcBef>
              <a:spcAft>
                <a:spcPts val="0"/>
              </a:spcAft>
              <a:buClr>
                <a:schemeClr val="dk1"/>
              </a:buClr>
              <a:buSzPts val="1200"/>
              <a:buFont typeface="Outfit"/>
              <a:buChar char="-"/>
            </a:pPr>
            <a:r>
              <a:rPr b="1" lang="en-US" sz="1100">
                <a:solidFill>
                  <a:schemeClr val="dk1"/>
                </a:solidFill>
              </a:rPr>
              <a:t>Data Preprocessing: </a:t>
            </a:r>
            <a:r>
              <a:rPr lang="en-US" sz="1100">
                <a:solidFill>
                  <a:schemeClr val="dk1"/>
                </a:solidFill>
              </a:rPr>
              <a:t>Sliding-window time-series, normalization and  handled missing data.</a:t>
            </a:r>
            <a:endParaRPr sz="1100">
              <a:solidFill>
                <a:schemeClr val="dk1"/>
              </a:solidFill>
            </a:endParaRPr>
          </a:p>
          <a:p>
            <a:pPr indent="-304800" lvl="1" marL="914400" rtl="0" algn="just">
              <a:lnSpc>
                <a:spcPct val="115000"/>
              </a:lnSpc>
              <a:spcBef>
                <a:spcPts val="0"/>
              </a:spcBef>
              <a:spcAft>
                <a:spcPts val="0"/>
              </a:spcAft>
              <a:buClr>
                <a:schemeClr val="dk1"/>
              </a:buClr>
              <a:buSzPts val="1200"/>
              <a:buFont typeface="Outfit"/>
              <a:buChar char="-"/>
            </a:pPr>
            <a:r>
              <a:rPr b="1" lang="en-US" sz="1100">
                <a:solidFill>
                  <a:schemeClr val="dk1"/>
                </a:solidFill>
              </a:rPr>
              <a:t>Feature Engineering / Selection: </a:t>
            </a:r>
            <a:r>
              <a:rPr lang="en-US" sz="1100">
                <a:solidFill>
                  <a:schemeClr val="dk1"/>
                </a:solidFill>
              </a:rPr>
              <a:t>Using information gain and temporal feature analysis to select predictive features.</a:t>
            </a:r>
            <a:endParaRPr sz="1100">
              <a:solidFill>
                <a:schemeClr val="dk1"/>
              </a:solidFill>
            </a:endParaRPr>
          </a:p>
          <a:p>
            <a:pPr indent="-304800" lvl="1" marL="914400" rtl="0" algn="just">
              <a:lnSpc>
                <a:spcPct val="115000"/>
              </a:lnSpc>
              <a:spcBef>
                <a:spcPts val="0"/>
              </a:spcBef>
              <a:spcAft>
                <a:spcPts val="0"/>
              </a:spcAft>
              <a:buClr>
                <a:schemeClr val="dk1"/>
              </a:buClr>
              <a:buSzPts val="1200"/>
              <a:buFont typeface="Outfit"/>
              <a:buChar char="-"/>
            </a:pPr>
            <a:r>
              <a:rPr b="1" lang="en-US" sz="1100">
                <a:solidFill>
                  <a:schemeClr val="dk1"/>
                </a:solidFill>
              </a:rPr>
              <a:t>Modeling:</a:t>
            </a:r>
            <a:r>
              <a:rPr lang="en-US" sz="1100">
                <a:solidFill>
                  <a:schemeClr val="dk1"/>
                </a:solidFill>
              </a:rPr>
              <a:t> Multi-task Temporal Convolutional Network (TCN) with Spark + Kafka streaming pipeline.</a:t>
            </a:r>
            <a:endParaRPr sz="1100">
              <a:solidFill>
                <a:schemeClr val="dk1"/>
              </a:solidFill>
            </a:endParaRPr>
          </a:p>
          <a:p>
            <a:pPr indent="-304800" lvl="1" marL="914400" rtl="0" algn="just">
              <a:lnSpc>
                <a:spcPct val="115000"/>
              </a:lnSpc>
              <a:spcBef>
                <a:spcPts val="0"/>
              </a:spcBef>
              <a:spcAft>
                <a:spcPts val="0"/>
              </a:spcAft>
              <a:buClr>
                <a:schemeClr val="dk1"/>
              </a:buClr>
              <a:buSzPts val="1200"/>
              <a:buFont typeface="Outfit"/>
              <a:buChar char="-"/>
            </a:pPr>
            <a:r>
              <a:rPr b="1" lang="en-US" sz="1100">
                <a:solidFill>
                  <a:schemeClr val="dk1"/>
                </a:solidFill>
              </a:rPr>
              <a:t>Evaluation: </a:t>
            </a:r>
            <a:r>
              <a:rPr lang="en-US" sz="1100">
                <a:solidFill>
                  <a:schemeClr val="dk1"/>
                </a:solidFill>
              </a:rPr>
              <a:t>RMSE, MAE.</a:t>
            </a:r>
            <a:endParaRPr sz="1100">
              <a:solidFill>
                <a:schemeClr val="dk1"/>
              </a:solidFill>
            </a:endParaRPr>
          </a:p>
          <a:p>
            <a:pPr indent="-304800" lvl="0" marL="457200" marR="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Technologies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Spark Streaming, Kafka, TCN.</a:t>
            </a:r>
            <a:endParaRPr b="1" sz="1100">
              <a:solidFill>
                <a:schemeClr val="dk1"/>
              </a:solidFill>
            </a:endParaRPr>
          </a:p>
          <a:p>
            <a:pPr indent="0" lvl="0" marL="0" marR="0" rtl="0" algn="just">
              <a:lnSpc>
                <a:spcPct val="166666"/>
              </a:lnSpc>
              <a:spcBef>
                <a:spcPts val="0"/>
              </a:spcBef>
              <a:spcAft>
                <a:spcPts val="0"/>
              </a:spcAft>
              <a:buNone/>
            </a:pPr>
            <a:r>
              <a:t/>
            </a:r>
            <a:endParaRPr sz="1200">
              <a:solidFill>
                <a:schemeClr val="dk1"/>
              </a:solidFill>
              <a:latin typeface="Outfit"/>
              <a:ea typeface="Outfit"/>
              <a:cs typeface="Outfit"/>
              <a:sym typeface="Outfit"/>
            </a:endParaRPr>
          </a:p>
        </p:txBody>
      </p:sp>
      <p:sp>
        <p:nvSpPr>
          <p:cNvPr id="177" name="Google Shape;177;g3ad127638c4_1_45"/>
          <p:cNvSpPr txBox="1"/>
          <p:nvPr/>
        </p:nvSpPr>
        <p:spPr>
          <a:xfrm>
            <a:off x="389100" y="1973450"/>
            <a:ext cx="3749100" cy="3123900"/>
          </a:xfrm>
          <a:prstGeom prst="rect">
            <a:avLst/>
          </a:prstGeom>
          <a:noFill/>
          <a:ln>
            <a:noFill/>
          </a:ln>
        </p:spPr>
        <p:txBody>
          <a:bodyPr anchorCtr="0" anchor="t" bIns="91425" lIns="91425" spcFirstLastPara="1" rIns="91425" wrap="square" tIns="91425">
            <a:noAutofit/>
          </a:bodyPr>
          <a:lstStyle/>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a:t>
            </a:r>
            <a:r>
              <a:rPr lang="en-US" sz="1200">
                <a:solidFill>
                  <a:schemeClr val="dk1"/>
                </a:solidFill>
                <a:latin typeface="Outfit"/>
                <a:ea typeface="Outfit"/>
                <a:cs typeface="Outfit"/>
                <a:sym typeface="Outfit"/>
              </a:rPr>
              <a:t>Multi-task TCN outperforms single-task → RMSE ~5.1, MAE ~3.8; low-latency real-time monitoring feasible.</a:t>
            </a:r>
            <a:endParaRPr sz="1200">
              <a:solidFill>
                <a:schemeClr val="dk1"/>
              </a:solidFill>
              <a:latin typeface="Outfit"/>
              <a:ea typeface="Outfit"/>
              <a:cs typeface="Outfit"/>
              <a:sym typeface="Outfit"/>
            </a:endParaRPr>
          </a:p>
          <a:p>
            <a:pPr indent="-304800" lvl="0" marL="457200" rtl="0" algn="just">
              <a:lnSpc>
                <a:spcPct val="166666"/>
              </a:lnSpc>
              <a:spcBef>
                <a:spcPts val="0"/>
              </a:spcBef>
              <a:spcAft>
                <a:spcPts val="0"/>
              </a:spcAft>
              <a:buClr>
                <a:schemeClr val="dk1"/>
              </a:buClr>
              <a:buSzPts val="1200"/>
              <a:buFont typeface="Outfit"/>
              <a:buChar char="-"/>
            </a:pPr>
            <a:r>
              <a:rPr b="1" lang="en-US" sz="1200">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 Multi-parameter monitoring.</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 Clinical validation.</a:t>
            </a:r>
            <a:endParaRPr sz="1200">
              <a:solidFill>
                <a:schemeClr val="dk1"/>
              </a:solidFill>
              <a:latin typeface="Outfit"/>
              <a:ea typeface="Outfit"/>
              <a:cs typeface="Outfit"/>
              <a:sym typeface="Outfit"/>
            </a:endParaRPr>
          </a:p>
          <a:p>
            <a:pPr indent="-304800" lvl="1" marL="914400" rtl="0" algn="l">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 Longer forecasting horizons.</a:t>
            </a:r>
            <a:endParaRPr sz="1200">
              <a:solidFill>
                <a:schemeClr val="dk1"/>
              </a:solidFill>
              <a:latin typeface="Outfit"/>
              <a:ea typeface="Outfit"/>
              <a:cs typeface="Outfit"/>
              <a:sym typeface="Outfit"/>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8"/>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ttps://images.pexels.com/photos/18069495/pexels-photo-18069495.png?auto=compress&amp;cs=tinysrgb&amp;fit=crop&amp;h=1200&amp;w=800" id="184" name="Google Shape;184;p8"/>
          <p:cNvPicPr preferRelativeResize="0"/>
          <p:nvPr/>
        </p:nvPicPr>
        <p:blipFill rotWithShape="1">
          <a:blip r:embed="rId4">
            <a:alphaModFix/>
          </a:blip>
          <a:srcRect b="0" l="0" r="0" t="0"/>
          <a:stretch/>
        </p:blipFill>
        <p:spPr>
          <a:xfrm>
            <a:off x="320040" y="0"/>
            <a:ext cx="3337560" cy="5143500"/>
          </a:xfrm>
          <a:prstGeom prst="rect">
            <a:avLst/>
          </a:prstGeom>
          <a:noFill/>
          <a:ln>
            <a:noFill/>
          </a:ln>
        </p:spPr>
      </p:pic>
      <p:pic>
        <p:nvPicPr>
          <p:cNvPr descr="https://djgurnpwsdoqjscwqbsj.supabase.co/storage/v1/object/public/users_file_magicslides_io/grayscale_image.png" id="185" name="Google Shape;185;p8"/>
          <p:cNvPicPr preferRelativeResize="0"/>
          <p:nvPr/>
        </p:nvPicPr>
        <p:blipFill rotWithShape="1">
          <a:blip r:embed="rId5">
            <a:alphaModFix/>
          </a:blip>
          <a:srcRect b="0" l="0" r="0" t="0"/>
          <a:stretch/>
        </p:blipFill>
        <p:spPr>
          <a:xfrm>
            <a:off x="4206240" y="1800225"/>
            <a:ext cx="365760" cy="365760"/>
          </a:xfrm>
          <a:prstGeom prst="rect">
            <a:avLst/>
          </a:prstGeom>
          <a:noFill/>
          <a:ln>
            <a:noFill/>
          </a:ln>
        </p:spPr>
      </p:pic>
      <p:sp>
        <p:nvSpPr>
          <p:cNvPr id="186" name="Google Shape;186;p8"/>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8"/>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8"/>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10</a:t>
            </a:r>
            <a:endParaRPr b="0" i="0" sz="1800" u="none" cap="none" strike="noStrike">
              <a:solidFill>
                <a:schemeClr val="dk1"/>
              </a:solidFill>
              <a:latin typeface="Calibri"/>
              <a:ea typeface="Calibri"/>
              <a:cs typeface="Calibri"/>
              <a:sym typeface="Calibri"/>
            </a:endParaRPr>
          </a:p>
        </p:txBody>
      </p:sp>
      <p:sp>
        <p:nvSpPr>
          <p:cNvPr id="189" name="Google Shape;189;p8"/>
          <p:cNvSpPr/>
          <p:nvPr/>
        </p:nvSpPr>
        <p:spPr>
          <a:xfrm>
            <a:off x="5614375" y="228955"/>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Methodology</a:t>
            </a:r>
            <a:endParaRPr b="0" i="0" sz="2800" u="none" cap="none" strike="noStrike">
              <a:solidFill>
                <a:schemeClr val="dk1"/>
              </a:solidFill>
              <a:latin typeface="Calibri"/>
              <a:ea typeface="Calibri"/>
              <a:cs typeface="Calibri"/>
              <a:sym typeface="Calibri"/>
            </a:endParaRPr>
          </a:p>
        </p:txBody>
      </p:sp>
      <p:sp>
        <p:nvSpPr>
          <p:cNvPr id="190" name="Google Shape;190;p8"/>
          <p:cNvSpPr/>
          <p:nvPr/>
        </p:nvSpPr>
        <p:spPr>
          <a:xfrm>
            <a:off x="2743200" y="4754880"/>
            <a:ext cx="18288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800"/>
              <a:buFont typeface="Calibri"/>
              <a:buNone/>
            </a:pPr>
            <a:r>
              <a:rPr b="0" i="0" lang="en-US" sz="800" u="sng" cap="none" strike="noStrike">
                <a:solidFill>
                  <a:srgbClr val="FFFFFF"/>
                </a:solidFill>
                <a:latin typeface="Calibri"/>
                <a:ea typeface="Calibri"/>
                <a:cs typeface="Calibri"/>
                <a:sym typeface="Calibri"/>
                <a:hlinkClick r:id="rId6">
                  <a:extLst>
                    <a:ext uri="{A12FA001-AC4F-418D-AE19-62706E023703}">
                      <ahyp:hlinkClr val="tx"/>
                    </a:ext>
                  </a:extLst>
                </a:hlinkClick>
              </a:rPr>
              <a:t>Photo by Pexels</a:t>
            </a:r>
            <a:endParaRPr b="0" i="0" sz="800" u="none" cap="none" strike="noStrike">
              <a:solidFill>
                <a:schemeClr val="dk1"/>
              </a:solidFill>
              <a:latin typeface="Calibri"/>
              <a:ea typeface="Calibri"/>
              <a:cs typeface="Calibri"/>
              <a:sym typeface="Calibri"/>
            </a:endParaRPr>
          </a:p>
        </p:txBody>
      </p:sp>
      <p:pic>
        <p:nvPicPr>
          <p:cNvPr id="191" name="Google Shape;191;p8" title="bigdata_diagram.drawio(2).png"/>
          <p:cNvPicPr preferRelativeResize="0"/>
          <p:nvPr/>
        </p:nvPicPr>
        <p:blipFill>
          <a:blip r:embed="rId7">
            <a:alphaModFix/>
          </a:blip>
          <a:stretch>
            <a:fillRect/>
          </a:stretch>
        </p:blipFill>
        <p:spPr>
          <a:xfrm>
            <a:off x="6125075" y="743450"/>
            <a:ext cx="1416350" cy="42602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g3b35341c20b_0_3"/>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LP Natural Language Processing cognitive computing technology concept. (provided by Getty Images)" id="198" name="Google Shape;198;g3b35341c20b_0_3"/>
          <p:cNvPicPr preferRelativeResize="0"/>
          <p:nvPr/>
        </p:nvPicPr>
        <p:blipFill rotWithShape="1">
          <a:blip r:embed="rId3">
            <a:alphaModFix/>
          </a:blip>
          <a:srcRect b="0" l="36421" r="36424" t="0"/>
          <a:stretch/>
        </p:blipFill>
        <p:spPr>
          <a:xfrm>
            <a:off x="320040" y="0"/>
            <a:ext cx="3337559" cy="5143500"/>
          </a:xfrm>
          <a:prstGeom prst="rect">
            <a:avLst/>
          </a:prstGeom>
          <a:noFill/>
          <a:ln>
            <a:noFill/>
          </a:ln>
        </p:spPr>
      </p:pic>
      <p:pic>
        <p:nvPicPr>
          <p:cNvPr descr="https://djgurnpwsdoqjscwqbsj.supabase.co/storage/v1/object/public/users_file_magicslides_io/grayscale_image.png" id="199" name="Google Shape;199;g3b35341c20b_0_3"/>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200" name="Google Shape;200;g3b35341c20b_0_3"/>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g3b35341c20b_0_3"/>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g3b35341c20b_0_3"/>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11</a:t>
            </a:r>
            <a:endParaRPr b="0" i="0" sz="1800" u="none" cap="none" strike="noStrike">
              <a:solidFill>
                <a:schemeClr val="dk1"/>
              </a:solidFill>
              <a:latin typeface="Calibri"/>
              <a:ea typeface="Calibri"/>
              <a:cs typeface="Calibri"/>
              <a:sym typeface="Calibri"/>
            </a:endParaRPr>
          </a:p>
        </p:txBody>
      </p:sp>
      <p:sp>
        <p:nvSpPr>
          <p:cNvPr id="203" name="Google Shape;203;g3b35341c20b_0_3"/>
          <p:cNvSpPr/>
          <p:nvPr/>
        </p:nvSpPr>
        <p:spPr>
          <a:xfrm>
            <a:off x="4114800" y="925830"/>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Data collection</a:t>
            </a:r>
            <a:endParaRPr b="0" i="0" sz="2800" u="none" cap="none" strike="noStrike">
              <a:solidFill>
                <a:schemeClr val="dk1"/>
              </a:solidFill>
              <a:latin typeface="Calibri"/>
              <a:ea typeface="Calibri"/>
              <a:cs typeface="Calibri"/>
              <a:sym typeface="Calibri"/>
            </a:endParaRPr>
          </a:p>
        </p:txBody>
      </p:sp>
      <p:sp>
        <p:nvSpPr>
          <p:cNvPr id="204" name="Google Shape;204;g3b35341c20b_0_3"/>
          <p:cNvSpPr/>
          <p:nvPr/>
        </p:nvSpPr>
        <p:spPr>
          <a:xfrm>
            <a:off x="4114800" y="2160275"/>
            <a:ext cx="4623900" cy="23145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Clr>
                <a:srgbClr val="000000"/>
              </a:buClr>
              <a:buSzPts val="1200"/>
              <a:buFont typeface="Outfit"/>
              <a:buNone/>
            </a:pPr>
            <a:r>
              <a:rPr lang="en-US" sz="1200">
                <a:solidFill>
                  <a:schemeClr val="dk1"/>
                </a:solidFill>
              </a:rPr>
              <a:t>Three different datasets were used: the first dataset is used for creating the knowledge base, the second dataset is used for domain specific classification, and the third dataset is used for non-domain specific classification.</a:t>
            </a:r>
            <a:endParaRPr sz="12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rPr lang="en-US" sz="1200">
                <a:solidFill>
                  <a:schemeClr val="dk1"/>
                </a:solidFill>
              </a:rPr>
              <a:t>1- The first dataset contains five CSV files: doctors.csv, patients.csv, appointments.csv, treatments.csv and billing.csv.</a:t>
            </a:r>
            <a:endParaRPr sz="12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rPr lang="en-US" sz="1200">
                <a:solidFill>
                  <a:schemeClr val="dk1"/>
                </a:solidFill>
              </a:rPr>
              <a:t>2- A dialogues between doctors and patients</a:t>
            </a:r>
            <a:endParaRPr sz="12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rPr lang="en-US" sz="1200">
                <a:solidFill>
                  <a:schemeClr val="dk1"/>
                </a:solidFill>
              </a:rPr>
              <a:t>3- A dialogues representing non-domain-specific content.</a:t>
            </a:r>
            <a:endParaRPr sz="12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t/>
            </a:r>
            <a:endParaRPr sz="12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g3ad127638c4_1_106"/>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LP Natural Language Processing cognitive computing technology concept. (provided by Getty Images)" id="211" name="Google Shape;211;g3ad127638c4_1_106"/>
          <p:cNvPicPr preferRelativeResize="0"/>
          <p:nvPr/>
        </p:nvPicPr>
        <p:blipFill rotWithShape="1">
          <a:blip r:embed="rId3">
            <a:alphaModFix/>
          </a:blip>
          <a:srcRect b="0" l="36421" r="36424" t="0"/>
          <a:stretch/>
        </p:blipFill>
        <p:spPr>
          <a:xfrm>
            <a:off x="320040" y="0"/>
            <a:ext cx="3337559" cy="5143500"/>
          </a:xfrm>
          <a:prstGeom prst="rect">
            <a:avLst/>
          </a:prstGeom>
          <a:noFill/>
          <a:ln>
            <a:noFill/>
          </a:ln>
        </p:spPr>
      </p:pic>
      <p:pic>
        <p:nvPicPr>
          <p:cNvPr descr="https://djgurnpwsdoqjscwqbsj.supabase.co/storage/v1/object/public/users_file_magicslides_io/grayscale_image.png" id="212" name="Google Shape;212;g3ad127638c4_1_106"/>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213" name="Google Shape;213;g3ad127638c4_1_106"/>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g3ad127638c4_1_106"/>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g3ad127638c4_1_106"/>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11</a:t>
            </a:r>
            <a:endParaRPr b="0" i="0" sz="1800" u="none" cap="none" strike="noStrike">
              <a:solidFill>
                <a:schemeClr val="dk1"/>
              </a:solidFill>
              <a:latin typeface="Calibri"/>
              <a:ea typeface="Calibri"/>
              <a:cs typeface="Calibri"/>
              <a:sym typeface="Calibri"/>
            </a:endParaRPr>
          </a:p>
        </p:txBody>
      </p:sp>
      <p:sp>
        <p:nvSpPr>
          <p:cNvPr id="216" name="Google Shape;216;g3ad127638c4_1_106"/>
          <p:cNvSpPr/>
          <p:nvPr/>
        </p:nvSpPr>
        <p:spPr>
          <a:xfrm>
            <a:off x="4114800" y="925830"/>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Data Analysis</a:t>
            </a:r>
            <a:endParaRPr b="0" i="0" sz="2800" u="none" cap="none" strike="noStrike">
              <a:solidFill>
                <a:schemeClr val="dk1"/>
              </a:solidFill>
              <a:latin typeface="Calibri"/>
              <a:ea typeface="Calibri"/>
              <a:cs typeface="Calibri"/>
              <a:sym typeface="Calibri"/>
            </a:endParaRPr>
          </a:p>
        </p:txBody>
      </p:sp>
      <p:sp>
        <p:nvSpPr>
          <p:cNvPr id="217" name="Google Shape;217;g3ad127638c4_1_106"/>
          <p:cNvSpPr/>
          <p:nvPr/>
        </p:nvSpPr>
        <p:spPr>
          <a:xfrm>
            <a:off x="4522875" y="1697350"/>
            <a:ext cx="4462800" cy="514500"/>
          </a:xfrm>
          <a:prstGeom prst="rect">
            <a:avLst/>
          </a:prstGeom>
          <a:noFill/>
          <a:ln>
            <a:noFill/>
          </a:ln>
        </p:spPr>
        <p:txBody>
          <a:bodyPr anchorCtr="0" anchor="ctr" bIns="45700" lIns="91425" spcFirstLastPara="1" rIns="91425" wrap="square" tIns="45700">
            <a:noAutofit/>
          </a:bodyPr>
          <a:lstStyle/>
          <a:p>
            <a:pPr indent="0" lvl="0" marL="0" rtl="0" algn="l">
              <a:lnSpc>
                <a:spcPct val="115000"/>
              </a:lnSpc>
              <a:spcBef>
                <a:spcPts val="1800"/>
              </a:spcBef>
              <a:spcAft>
                <a:spcPts val="0"/>
              </a:spcAft>
              <a:buClr>
                <a:schemeClr val="dk1"/>
              </a:buClr>
              <a:buSzPts val="1100"/>
              <a:buFont typeface="Arial"/>
              <a:buNone/>
            </a:pPr>
            <a:r>
              <a:rPr b="1" lang="en-US" sz="1700">
                <a:solidFill>
                  <a:schemeClr val="dk1"/>
                </a:solidFill>
              </a:rPr>
              <a:t>Questions that used for data analysis:-</a:t>
            </a:r>
            <a:endParaRPr b="1" sz="1700">
              <a:solidFill>
                <a:schemeClr val="dk1"/>
              </a:solidFill>
            </a:endParaRPr>
          </a:p>
          <a:p>
            <a:pPr indent="0" lvl="0" marL="0" marR="0" rtl="0" algn="l">
              <a:lnSpc>
                <a:spcPct val="100000"/>
              </a:lnSpc>
              <a:spcBef>
                <a:spcPts val="400"/>
              </a:spcBef>
              <a:spcAft>
                <a:spcPts val="0"/>
              </a:spcAft>
              <a:buClr>
                <a:schemeClr val="dk1"/>
              </a:buClr>
              <a:buSzPts val="1600"/>
              <a:buFont typeface="Calibri"/>
              <a:buNone/>
            </a:pPr>
            <a:r>
              <a:t/>
            </a:r>
            <a:endParaRPr sz="1600">
              <a:solidFill>
                <a:schemeClr val="dk1"/>
              </a:solidFill>
              <a:latin typeface="Calibri"/>
              <a:ea typeface="Calibri"/>
              <a:cs typeface="Calibri"/>
              <a:sym typeface="Calibri"/>
            </a:endParaRPr>
          </a:p>
        </p:txBody>
      </p:sp>
      <p:sp>
        <p:nvSpPr>
          <p:cNvPr id="218" name="Google Shape;218;g3ad127638c4_1_106"/>
          <p:cNvSpPr/>
          <p:nvPr/>
        </p:nvSpPr>
        <p:spPr>
          <a:xfrm>
            <a:off x="4114800" y="2160275"/>
            <a:ext cx="4623900" cy="23145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A — Which gender goes to the hospital more?</a:t>
            </a:r>
            <a:endParaRPr sz="1200">
              <a:latin typeface="Outfit"/>
              <a:ea typeface="Outfit"/>
              <a:cs typeface="Outfit"/>
              <a:sym typeface="Outfit"/>
            </a:endParaRPr>
          </a:p>
          <a:p>
            <a:pPr indent="0" lvl="0" marL="0" rtl="0" algn="l">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B — Which hospital branch has the most experienced doctors?</a:t>
            </a:r>
            <a:endParaRPr sz="1200">
              <a:latin typeface="Outfit"/>
              <a:ea typeface="Outfit"/>
              <a:cs typeface="Outfit"/>
              <a:sym typeface="Outfit"/>
            </a:endParaRPr>
          </a:p>
          <a:p>
            <a:pPr indent="0" lvl="0" marL="0" rtl="0" algn="l">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C — Which specialization dominates the others?</a:t>
            </a:r>
            <a:endParaRPr sz="1200">
              <a:latin typeface="Outfit"/>
              <a:ea typeface="Outfit"/>
              <a:cs typeface="Outfit"/>
              <a:sym typeface="Outfit"/>
            </a:endParaRPr>
          </a:p>
          <a:p>
            <a:pPr indent="0" lvl="0" marL="0" rtl="0" algn="l">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D — What is the most common reason for visits?</a:t>
            </a:r>
            <a:endParaRPr sz="1200">
              <a:latin typeface="Outfit"/>
              <a:ea typeface="Outfit"/>
              <a:cs typeface="Outfit"/>
              <a:sym typeface="Outfit"/>
            </a:endParaRPr>
          </a:p>
          <a:p>
            <a:pPr indent="0" lvl="0" marL="0" rtl="0" algn="l">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E — What is the ranking of treatments by cost?</a:t>
            </a:r>
            <a:endParaRPr sz="1200">
              <a:latin typeface="Outfit"/>
              <a:ea typeface="Outfit"/>
              <a:cs typeface="Outfit"/>
              <a:sym typeface="Outfit"/>
            </a:endParaRPr>
          </a:p>
          <a:p>
            <a:pPr indent="0" lvl="0" marL="0" marR="0" rtl="0" algn="just">
              <a:lnSpc>
                <a:spcPct val="166666"/>
              </a:lnSpc>
              <a:spcBef>
                <a:spcPts val="1200"/>
              </a:spcBef>
              <a:spcAft>
                <a:spcPts val="0"/>
              </a:spcAft>
              <a:buClr>
                <a:srgbClr val="000000"/>
              </a:buClr>
              <a:buSzPts val="1200"/>
              <a:buFont typeface="Outfit"/>
              <a:buNone/>
            </a:pPr>
            <a:r>
              <a:t/>
            </a:r>
            <a:endParaRPr sz="1200">
              <a:latin typeface="Outfit"/>
              <a:ea typeface="Outfit"/>
              <a:cs typeface="Outfit"/>
              <a:sym typeface="Outfi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g3ad127638c4_1_165"/>
          <p:cNvSpPr/>
          <p:nvPr/>
        </p:nvSpPr>
        <p:spPr>
          <a:xfrm>
            <a:off x="-652700" y="-10040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g3ad127638c4_1_165"/>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g3ad127638c4_1_165"/>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12</a:t>
            </a:r>
            <a:endParaRPr b="0" i="0" sz="1800" u="none" cap="none" strike="noStrike">
              <a:solidFill>
                <a:schemeClr val="dk1"/>
              </a:solidFill>
              <a:latin typeface="Calibri"/>
              <a:ea typeface="Calibri"/>
              <a:cs typeface="Calibri"/>
              <a:sym typeface="Calibri"/>
            </a:endParaRPr>
          </a:p>
        </p:txBody>
      </p:sp>
      <p:sp>
        <p:nvSpPr>
          <p:cNvPr id="227" name="Google Shape;227;g3ad127638c4_1_165"/>
          <p:cNvSpPr/>
          <p:nvPr/>
        </p:nvSpPr>
        <p:spPr>
          <a:xfrm>
            <a:off x="4672675" y="-28645"/>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1800">
                <a:solidFill>
                  <a:srgbClr val="1A6847"/>
                </a:solidFill>
                <a:latin typeface="Outfit"/>
                <a:ea typeface="Outfit"/>
                <a:cs typeface="Outfit"/>
                <a:sym typeface="Outfit"/>
              </a:rPr>
              <a:t>Results</a:t>
            </a:r>
            <a:endParaRPr b="0" i="0" sz="1800" u="none" cap="none" strike="noStrike">
              <a:solidFill>
                <a:schemeClr val="dk1"/>
              </a:solidFill>
              <a:latin typeface="Calibri"/>
              <a:ea typeface="Calibri"/>
              <a:cs typeface="Calibri"/>
              <a:sym typeface="Calibri"/>
            </a:endParaRPr>
          </a:p>
        </p:txBody>
      </p:sp>
      <p:pic>
        <p:nvPicPr>
          <p:cNvPr id="228" name="Google Shape;228;g3ad127638c4_1_165" title="result_1_gender.png"/>
          <p:cNvPicPr preferRelativeResize="0"/>
          <p:nvPr/>
        </p:nvPicPr>
        <p:blipFill>
          <a:blip r:embed="rId3">
            <a:alphaModFix/>
          </a:blip>
          <a:stretch>
            <a:fillRect/>
          </a:stretch>
        </p:blipFill>
        <p:spPr>
          <a:xfrm>
            <a:off x="5886338" y="0"/>
            <a:ext cx="2409575" cy="2237025"/>
          </a:xfrm>
          <a:prstGeom prst="rect">
            <a:avLst/>
          </a:prstGeom>
          <a:solidFill>
            <a:srgbClr val="1A6847"/>
          </a:solidFill>
          <a:ln cap="flat" cmpd="sng" w="12700">
            <a:solidFill>
              <a:srgbClr val="1A6847"/>
            </a:solidFill>
            <a:prstDash val="solid"/>
            <a:round/>
            <a:headEnd len="sm" w="sm" type="none"/>
            <a:tailEnd len="sm" w="sm" type="none"/>
          </a:ln>
        </p:spPr>
      </p:pic>
      <p:pic>
        <p:nvPicPr>
          <p:cNvPr id="229" name="Google Shape;229;g3ad127638c4_1_165" title="experience_doctor.png"/>
          <p:cNvPicPr preferRelativeResize="0"/>
          <p:nvPr/>
        </p:nvPicPr>
        <p:blipFill>
          <a:blip r:embed="rId4">
            <a:alphaModFix/>
          </a:blip>
          <a:stretch>
            <a:fillRect/>
          </a:stretch>
        </p:blipFill>
        <p:spPr>
          <a:xfrm>
            <a:off x="5338525" y="2237025"/>
            <a:ext cx="3505200" cy="2882375"/>
          </a:xfrm>
          <a:prstGeom prst="rect">
            <a:avLst/>
          </a:prstGeom>
          <a:noFill/>
          <a:ln>
            <a:noFill/>
          </a:ln>
        </p:spPr>
      </p:pic>
      <p:pic>
        <p:nvPicPr>
          <p:cNvPr id="230" name="Google Shape;230;g3ad127638c4_1_165" title="speciliest_dominace.png"/>
          <p:cNvPicPr preferRelativeResize="0"/>
          <p:nvPr/>
        </p:nvPicPr>
        <p:blipFill>
          <a:blip r:embed="rId5">
            <a:alphaModFix/>
          </a:blip>
          <a:stretch>
            <a:fillRect/>
          </a:stretch>
        </p:blipFill>
        <p:spPr>
          <a:xfrm>
            <a:off x="-109750" y="400450"/>
            <a:ext cx="5132151" cy="235050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g3ad127638c4_1_123"/>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g3ad127638c4_1_123"/>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13</a:t>
            </a:r>
            <a:endParaRPr b="0" i="0" sz="1800" u="none" cap="none" strike="noStrike">
              <a:solidFill>
                <a:schemeClr val="dk1"/>
              </a:solidFill>
              <a:latin typeface="Calibri"/>
              <a:ea typeface="Calibri"/>
              <a:cs typeface="Calibri"/>
              <a:sym typeface="Calibri"/>
            </a:endParaRPr>
          </a:p>
        </p:txBody>
      </p:sp>
      <p:pic>
        <p:nvPicPr>
          <p:cNvPr id="238" name="Google Shape;238;g3ad127638c4_1_123" title="treatment_cost.png"/>
          <p:cNvPicPr preferRelativeResize="0"/>
          <p:nvPr/>
        </p:nvPicPr>
        <p:blipFill>
          <a:blip r:embed="rId3">
            <a:alphaModFix/>
          </a:blip>
          <a:stretch>
            <a:fillRect/>
          </a:stretch>
        </p:blipFill>
        <p:spPr>
          <a:xfrm>
            <a:off x="93250" y="1998725"/>
            <a:ext cx="5443050" cy="3387250"/>
          </a:xfrm>
          <a:prstGeom prst="rect">
            <a:avLst/>
          </a:prstGeom>
          <a:noFill/>
          <a:ln>
            <a:noFill/>
          </a:ln>
        </p:spPr>
      </p:pic>
      <p:pic>
        <p:nvPicPr>
          <p:cNvPr id="239" name="Google Shape;239;g3ad127638c4_1_123" title="reason_for_visit.png"/>
          <p:cNvPicPr preferRelativeResize="0"/>
          <p:nvPr/>
        </p:nvPicPr>
        <p:blipFill>
          <a:blip r:embed="rId4">
            <a:alphaModFix/>
          </a:blip>
          <a:stretch>
            <a:fillRect/>
          </a:stretch>
        </p:blipFill>
        <p:spPr>
          <a:xfrm>
            <a:off x="4572000" y="0"/>
            <a:ext cx="4459675" cy="24657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g3ad127638c4_1_185"/>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LP Natural Language Processing cognitive computing technology concept. (provided by Getty Images)" id="246" name="Google Shape;246;g3ad127638c4_1_185"/>
          <p:cNvPicPr preferRelativeResize="0"/>
          <p:nvPr/>
        </p:nvPicPr>
        <p:blipFill rotWithShape="1">
          <a:blip r:embed="rId3">
            <a:alphaModFix/>
          </a:blip>
          <a:srcRect b="0" l="36421" r="36424" t="0"/>
          <a:stretch/>
        </p:blipFill>
        <p:spPr>
          <a:xfrm>
            <a:off x="320040" y="0"/>
            <a:ext cx="3337559" cy="5143500"/>
          </a:xfrm>
          <a:prstGeom prst="rect">
            <a:avLst/>
          </a:prstGeom>
          <a:noFill/>
          <a:ln>
            <a:noFill/>
          </a:ln>
        </p:spPr>
      </p:pic>
      <p:pic>
        <p:nvPicPr>
          <p:cNvPr descr="https://djgurnpwsdoqjscwqbsj.supabase.co/storage/v1/object/public/users_file_magicslides_io/grayscale_image.png" id="247" name="Google Shape;247;g3ad127638c4_1_185"/>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248" name="Google Shape;248;g3ad127638c4_1_185"/>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g3ad127638c4_1_185"/>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g3ad127638c4_1_185"/>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14</a:t>
            </a:r>
            <a:endParaRPr b="0" i="0" sz="1800" u="none" cap="none" strike="noStrike">
              <a:solidFill>
                <a:schemeClr val="dk1"/>
              </a:solidFill>
              <a:latin typeface="Calibri"/>
              <a:ea typeface="Calibri"/>
              <a:cs typeface="Calibri"/>
              <a:sym typeface="Calibri"/>
            </a:endParaRPr>
          </a:p>
        </p:txBody>
      </p:sp>
      <p:sp>
        <p:nvSpPr>
          <p:cNvPr id="251" name="Google Shape;251;g3ad127638c4_1_185"/>
          <p:cNvSpPr/>
          <p:nvPr/>
        </p:nvSpPr>
        <p:spPr>
          <a:xfrm>
            <a:off x="4114800" y="925830"/>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Feature Enrichment via Model Prediction</a:t>
            </a:r>
            <a:endParaRPr b="1" sz="2800">
              <a:solidFill>
                <a:srgbClr val="1A6847"/>
              </a:solidFill>
              <a:latin typeface="Outfit"/>
              <a:ea typeface="Outfit"/>
              <a:cs typeface="Outfit"/>
              <a:sym typeface="Outfit"/>
            </a:endParaRPr>
          </a:p>
        </p:txBody>
      </p:sp>
      <p:sp>
        <p:nvSpPr>
          <p:cNvPr id="252" name="Google Shape;252;g3ad127638c4_1_185"/>
          <p:cNvSpPr/>
          <p:nvPr/>
        </p:nvSpPr>
        <p:spPr>
          <a:xfrm>
            <a:off x="4114800" y="1800225"/>
            <a:ext cx="4623900" cy="23145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Clr>
                <a:srgbClr val="000000"/>
              </a:buClr>
              <a:buSzPts val="1200"/>
              <a:buFont typeface="Outfit"/>
              <a:buNone/>
            </a:pPr>
            <a:r>
              <a:rPr lang="en-US" sz="1200">
                <a:latin typeface="Outfit"/>
                <a:ea typeface="Outfit"/>
                <a:cs typeface="Outfit"/>
                <a:sym typeface="Outfit"/>
              </a:rPr>
              <a:t>With the help of RandomForestRegressor algorithm, we predict the expected number of visitors for the next month to help the healthcare management system prepare and allocate resources efficiently.</a:t>
            </a:r>
            <a:endParaRPr sz="1200">
              <a:latin typeface="Outfit"/>
              <a:ea typeface="Outfit"/>
              <a:cs typeface="Outfit"/>
              <a:sym typeface="Outfit"/>
            </a:endParaRPr>
          </a:p>
          <a:p>
            <a:pPr indent="0" lvl="0" marL="0" marR="0" rtl="0" algn="just">
              <a:lnSpc>
                <a:spcPct val="166666"/>
              </a:lnSpc>
              <a:spcBef>
                <a:spcPts val="0"/>
              </a:spcBef>
              <a:spcAft>
                <a:spcPts val="0"/>
              </a:spcAft>
              <a:buClr>
                <a:srgbClr val="000000"/>
              </a:buClr>
              <a:buSzPts val="1200"/>
              <a:buFont typeface="Outfit"/>
              <a:buNone/>
            </a:pPr>
            <a:r>
              <a:rPr b="1" lang="en-US" sz="1100">
                <a:solidFill>
                  <a:schemeClr val="dk1"/>
                </a:solidFill>
              </a:rPr>
              <a:t>Evaluation: </a:t>
            </a:r>
            <a:r>
              <a:rPr lang="en-US" sz="1100">
                <a:solidFill>
                  <a:schemeClr val="dk1"/>
                </a:solidFill>
              </a:rPr>
              <a:t>R² (R-squared), RMSE (Root Mean Squared Error) and  RRMSE (Relative RMSE)</a:t>
            </a:r>
            <a:endParaRPr sz="11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rPr b="1" lang="en-US" sz="1100">
                <a:solidFill>
                  <a:schemeClr val="dk1"/>
                </a:solidFill>
              </a:rPr>
              <a:t>Result</a:t>
            </a:r>
            <a:r>
              <a:rPr lang="en-US" sz="1100">
                <a:solidFill>
                  <a:schemeClr val="dk1"/>
                </a:solidFill>
              </a:rPr>
              <a:t>: </a:t>
            </a:r>
            <a:endParaRPr sz="1100">
              <a:solidFill>
                <a:schemeClr val="dk1"/>
              </a:solidFill>
            </a:endParaRPr>
          </a:p>
          <a:p>
            <a:pPr indent="-298450" lvl="0" marL="457200" marR="0" rtl="0" algn="just">
              <a:lnSpc>
                <a:spcPct val="166666"/>
              </a:lnSpc>
              <a:spcBef>
                <a:spcPts val="0"/>
              </a:spcBef>
              <a:spcAft>
                <a:spcPts val="0"/>
              </a:spcAft>
              <a:buClr>
                <a:schemeClr val="dk1"/>
              </a:buClr>
              <a:buSzPts val="1100"/>
              <a:buChar char="-"/>
            </a:pPr>
            <a:r>
              <a:rPr lang="en-US" sz="1100">
                <a:solidFill>
                  <a:schemeClr val="dk1"/>
                </a:solidFill>
              </a:rPr>
              <a:t>R² =  0.94</a:t>
            </a:r>
            <a:endParaRPr sz="1100">
              <a:solidFill>
                <a:schemeClr val="dk1"/>
              </a:solidFill>
            </a:endParaRPr>
          </a:p>
          <a:p>
            <a:pPr indent="-298450" lvl="0" marL="457200" marR="0" rtl="0" algn="just">
              <a:lnSpc>
                <a:spcPct val="166666"/>
              </a:lnSpc>
              <a:spcBef>
                <a:spcPts val="0"/>
              </a:spcBef>
              <a:spcAft>
                <a:spcPts val="0"/>
              </a:spcAft>
              <a:buClr>
                <a:schemeClr val="dk1"/>
              </a:buClr>
              <a:buSzPts val="1100"/>
              <a:buChar char="-"/>
            </a:pPr>
            <a:r>
              <a:rPr lang="en-US" sz="1100">
                <a:solidFill>
                  <a:schemeClr val="dk1"/>
                </a:solidFill>
              </a:rPr>
              <a:t>RMSE = 54539.63</a:t>
            </a:r>
            <a:endParaRPr sz="1100">
              <a:solidFill>
                <a:schemeClr val="dk1"/>
              </a:solidFill>
            </a:endParaRPr>
          </a:p>
          <a:p>
            <a:pPr indent="-298450" lvl="0" marL="457200" marR="0" rtl="0" algn="just">
              <a:lnSpc>
                <a:spcPct val="166666"/>
              </a:lnSpc>
              <a:spcBef>
                <a:spcPts val="0"/>
              </a:spcBef>
              <a:spcAft>
                <a:spcPts val="0"/>
              </a:spcAft>
              <a:buClr>
                <a:schemeClr val="dk1"/>
              </a:buClr>
              <a:buSzPts val="1100"/>
              <a:buChar char="-"/>
            </a:pPr>
            <a:r>
              <a:rPr lang="en-US" sz="1100">
                <a:solidFill>
                  <a:schemeClr val="dk1"/>
                </a:solidFill>
              </a:rPr>
              <a:t>RRMSE = 8.42% overall error expressed relative to the data's scale</a:t>
            </a:r>
            <a:endParaRPr sz="11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t/>
            </a:r>
            <a:endParaRPr sz="1200">
              <a:latin typeface="Outfit"/>
              <a:ea typeface="Outfit"/>
              <a:cs typeface="Outfit"/>
              <a:sym typeface="Outfi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g39b08b23871_0_0"/>
          <p:cNvSpPr txBox="1"/>
          <p:nvPr/>
        </p:nvSpPr>
        <p:spPr>
          <a:xfrm>
            <a:off x="5134300" y="1041400"/>
            <a:ext cx="3218100" cy="15216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SzPts val="1400"/>
              <a:buChar char="●"/>
            </a:pPr>
            <a:r>
              <a:rPr lang="en-US"/>
              <a:t>“A cat is an animal.”</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“A dog is an animal.”</a:t>
            </a:r>
            <a:endParaRPr/>
          </a:p>
          <a:p>
            <a:pPr indent="0" lvl="0" marL="457200" rtl="0" algn="l">
              <a:spcBef>
                <a:spcPts val="0"/>
              </a:spcBef>
              <a:spcAft>
                <a:spcPts val="0"/>
              </a:spcAft>
              <a:buNone/>
            </a:pPr>
            <a:r>
              <a:t/>
            </a:r>
            <a:endParaRPr/>
          </a:p>
          <a:p>
            <a:pPr indent="-317500" lvl="0" marL="457200" marR="0" rtl="0" algn="l">
              <a:lnSpc>
                <a:spcPct val="100000"/>
              </a:lnSpc>
              <a:spcBef>
                <a:spcPts val="0"/>
              </a:spcBef>
              <a:spcAft>
                <a:spcPts val="0"/>
              </a:spcAft>
              <a:buSzPts val="1400"/>
              <a:buChar char="●"/>
            </a:pPr>
            <a:r>
              <a:rPr lang="en-US"/>
              <a:t>“Animals can run and eat.”</a:t>
            </a:r>
            <a:endParaRPr/>
          </a:p>
        </p:txBody>
      </p:sp>
      <p:pic>
        <p:nvPicPr>
          <p:cNvPr id="259" name="Google Shape;259;g39b08b23871_0_0" title="Screenshot 2025-10-19 202542.png"/>
          <p:cNvPicPr preferRelativeResize="0"/>
          <p:nvPr/>
        </p:nvPicPr>
        <p:blipFill rotWithShape="1">
          <a:blip r:embed="rId4">
            <a:alphaModFix/>
          </a:blip>
          <a:srcRect b="0" l="0" r="0" t="0"/>
          <a:stretch/>
        </p:blipFill>
        <p:spPr>
          <a:xfrm>
            <a:off x="5413738" y="3303475"/>
            <a:ext cx="3076575" cy="714375"/>
          </a:xfrm>
          <a:prstGeom prst="rect">
            <a:avLst/>
          </a:prstGeom>
          <a:noFill/>
          <a:ln>
            <a:noFill/>
          </a:ln>
        </p:spPr>
      </p:pic>
      <p:cxnSp>
        <p:nvCxnSpPr>
          <p:cNvPr id="260" name="Google Shape;260;g39b08b23871_0_0"/>
          <p:cNvCxnSpPr/>
          <p:nvPr/>
        </p:nvCxnSpPr>
        <p:spPr>
          <a:xfrm>
            <a:off x="6952025" y="2612175"/>
            <a:ext cx="0" cy="592500"/>
          </a:xfrm>
          <a:prstGeom prst="straightConnector1">
            <a:avLst/>
          </a:prstGeom>
          <a:noFill/>
          <a:ln cap="flat" cmpd="sng" w="9525">
            <a:solidFill>
              <a:schemeClr val="dk2"/>
            </a:solidFill>
            <a:prstDash val="solid"/>
            <a:round/>
            <a:headEnd len="sm" w="sm" type="none"/>
            <a:tailEnd len="med" w="med" type="triangle"/>
          </a:ln>
        </p:spPr>
      </p:cxnSp>
      <p:pic>
        <p:nvPicPr>
          <p:cNvPr id="261" name="Google Shape;261;g39b08b23871_0_0" title="Screenshot 2025-10-19 202040.png"/>
          <p:cNvPicPr preferRelativeResize="0"/>
          <p:nvPr/>
        </p:nvPicPr>
        <p:blipFill rotWithShape="1">
          <a:blip r:embed="rId5">
            <a:alphaModFix/>
          </a:blip>
          <a:srcRect b="0" l="0" r="0" t="0"/>
          <a:stretch/>
        </p:blipFill>
        <p:spPr>
          <a:xfrm>
            <a:off x="-59087" y="2165350"/>
            <a:ext cx="3611512" cy="2778625"/>
          </a:xfrm>
          <a:prstGeom prst="rect">
            <a:avLst/>
          </a:prstGeom>
          <a:noFill/>
          <a:ln>
            <a:noFill/>
          </a:ln>
        </p:spPr>
      </p:pic>
      <p:sp>
        <p:nvSpPr>
          <p:cNvPr id="262" name="Google Shape;262;g39b08b23871_0_0"/>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g39b08b23871_0_0"/>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15</a:t>
            </a:r>
            <a:endParaRPr b="0" i="0" sz="1800" u="none" cap="none" strike="noStrike">
              <a:solidFill>
                <a:schemeClr val="dk1"/>
              </a:solidFill>
              <a:latin typeface="Calibri"/>
              <a:ea typeface="Calibri"/>
              <a:cs typeface="Calibri"/>
              <a:sym typeface="Calibri"/>
            </a:endParaRPr>
          </a:p>
        </p:txBody>
      </p:sp>
      <p:sp>
        <p:nvSpPr>
          <p:cNvPr id="264" name="Google Shape;264;g39b08b23871_0_0"/>
          <p:cNvSpPr txBox="1"/>
          <p:nvPr/>
        </p:nvSpPr>
        <p:spPr>
          <a:xfrm>
            <a:off x="4753000" y="172950"/>
            <a:ext cx="4305300" cy="89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300">
                <a:solidFill>
                  <a:srgbClr val="1A6847"/>
                </a:solidFill>
                <a:latin typeface="Outfit"/>
                <a:ea typeface="Outfit"/>
                <a:cs typeface="Outfit"/>
                <a:sym typeface="Outfit"/>
              </a:rPr>
              <a:t>Faiss:</a:t>
            </a:r>
            <a:r>
              <a:rPr b="1" lang="en-US" sz="2300">
                <a:solidFill>
                  <a:srgbClr val="1A6847"/>
                </a:solidFill>
                <a:latin typeface="Outfit"/>
                <a:ea typeface="Outfit"/>
                <a:cs typeface="Outfit"/>
                <a:sym typeface="Outfit"/>
              </a:rPr>
              <a:t> knowledge base construction </a:t>
            </a:r>
            <a:endParaRPr sz="900"/>
          </a:p>
        </p:txBody>
      </p:sp>
      <p:sp>
        <p:nvSpPr>
          <p:cNvPr id="265" name="Google Shape;265;g39b08b23871_0_0"/>
          <p:cNvSpPr/>
          <p:nvPr/>
        </p:nvSpPr>
        <p:spPr>
          <a:xfrm>
            <a:off x="5380350" y="3482350"/>
            <a:ext cx="535500" cy="53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lt1"/>
              </a:highlight>
            </a:endParaRPr>
          </a:p>
        </p:txBody>
      </p:sp>
      <p:sp>
        <p:nvSpPr>
          <p:cNvPr id="266" name="Google Shape;266;g39b08b23871_0_0"/>
          <p:cNvSpPr txBox="1"/>
          <p:nvPr/>
        </p:nvSpPr>
        <p:spPr>
          <a:xfrm>
            <a:off x="5419500" y="3493275"/>
            <a:ext cx="631500" cy="33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700"/>
              <a:t>Animal</a:t>
            </a:r>
            <a:endParaRPr sz="700"/>
          </a:p>
          <a:p>
            <a:pPr indent="0" lvl="0" marL="0" rtl="0" algn="l">
              <a:spcBef>
                <a:spcPts val="0"/>
              </a:spcBef>
              <a:spcAft>
                <a:spcPts val="0"/>
              </a:spcAft>
              <a:buNone/>
            </a:pPr>
            <a:r>
              <a:t/>
            </a:r>
            <a:endParaRPr sz="700"/>
          </a:p>
          <a:p>
            <a:pPr indent="0" lvl="0" marL="0" rtl="0" algn="l">
              <a:spcBef>
                <a:spcPts val="0"/>
              </a:spcBef>
              <a:spcAft>
                <a:spcPts val="0"/>
              </a:spcAft>
              <a:buNone/>
            </a:pPr>
            <a:r>
              <a:rPr lang="en-US" sz="700"/>
              <a:t>   cat</a:t>
            </a:r>
            <a:endParaRPr sz="700"/>
          </a:p>
        </p:txBody>
      </p:sp>
      <p:pic>
        <p:nvPicPr>
          <p:cNvPr id="267" name="Google Shape;267;g39b08b23871_0_0" title="Screenshot 2025-12-03 232146.png"/>
          <p:cNvPicPr preferRelativeResize="0"/>
          <p:nvPr/>
        </p:nvPicPr>
        <p:blipFill>
          <a:blip r:embed="rId6">
            <a:alphaModFix/>
          </a:blip>
          <a:stretch>
            <a:fillRect/>
          </a:stretch>
        </p:blipFill>
        <p:spPr>
          <a:xfrm>
            <a:off x="146075" y="457189"/>
            <a:ext cx="4202774" cy="1398736"/>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g39b0403c200_0_0"/>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g39b0403c200_0_0"/>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16</a:t>
            </a:r>
            <a:endParaRPr b="0" i="0" sz="1800" u="none" cap="none" strike="noStrike">
              <a:solidFill>
                <a:schemeClr val="dk1"/>
              </a:solidFill>
              <a:latin typeface="Calibri"/>
              <a:ea typeface="Calibri"/>
              <a:cs typeface="Calibri"/>
              <a:sym typeface="Calibri"/>
            </a:endParaRPr>
          </a:p>
        </p:txBody>
      </p:sp>
      <p:pic>
        <p:nvPicPr>
          <p:cNvPr id="275" name="Google Shape;275;g39b0403c200_0_0" title="result3.png"/>
          <p:cNvPicPr preferRelativeResize="0"/>
          <p:nvPr/>
        </p:nvPicPr>
        <p:blipFill rotWithShape="1">
          <a:blip r:embed="rId4">
            <a:alphaModFix/>
          </a:blip>
          <a:srcRect b="0" l="0" r="0" t="28202"/>
          <a:stretch/>
        </p:blipFill>
        <p:spPr>
          <a:xfrm>
            <a:off x="1330400" y="2390475"/>
            <a:ext cx="6328576" cy="2105250"/>
          </a:xfrm>
          <a:prstGeom prst="rect">
            <a:avLst/>
          </a:prstGeom>
          <a:noFill/>
          <a:ln>
            <a:noFill/>
          </a:ln>
        </p:spPr>
      </p:pic>
      <p:sp>
        <p:nvSpPr>
          <p:cNvPr id="276" name="Google Shape;276;g39b0403c200_0_0"/>
          <p:cNvSpPr txBox="1"/>
          <p:nvPr/>
        </p:nvSpPr>
        <p:spPr>
          <a:xfrm>
            <a:off x="0" y="347375"/>
            <a:ext cx="9144000" cy="1110300"/>
          </a:xfrm>
          <a:prstGeom prst="rect">
            <a:avLst/>
          </a:prstGeom>
          <a:noFill/>
          <a:ln>
            <a:noFill/>
          </a:ln>
        </p:spPr>
        <p:txBody>
          <a:bodyPr anchorCtr="0" anchor="t" bIns="91425" lIns="91425" spcFirstLastPara="1" rIns="91425" wrap="square" tIns="91425">
            <a:noAutofit/>
          </a:bodyPr>
          <a:lstStyle/>
          <a:p>
            <a:pPr indent="-298450" lvl="0" marL="457200" rtl="0" algn="just">
              <a:lnSpc>
                <a:spcPct val="115000"/>
              </a:lnSpc>
              <a:spcBef>
                <a:spcPts val="1200"/>
              </a:spcBef>
              <a:spcAft>
                <a:spcPts val="0"/>
              </a:spcAft>
              <a:buClr>
                <a:schemeClr val="dk1"/>
              </a:buClr>
              <a:buSzPts val="1100"/>
              <a:buChar char="●"/>
            </a:pPr>
            <a:r>
              <a:rPr b="1" lang="en-US" sz="1100">
                <a:solidFill>
                  <a:schemeClr val="dk1"/>
                </a:solidFill>
              </a:rPr>
              <a:t>Precision@k:</a:t>
            </a:r>
            <a:r>
              <a:rPr lang="en-US" sz="1100">
                <a:solidFill>
                  <a:schemeClr val="dk1"/>
                </a:solidFill>
              </a:rPr>
              <a:t> Fraction of top‑k retrieved facts that are correct.</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Recall@k:</a:t>
            </a:r>
            <a:r>
              <a:rPr lang="en-US" sz="1100">
                <a:solidFill>
                  <a:schemeClr val="dk1"/>
                </a:solidFill>
              </a:rPr>
              <a:t> Fraction of all relevant facts that appear in the top‑k results.</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MRR (Mean Reciprocal Rank):</a:t>
            </a:r>
            <a:r>
              <a:rPr lang="en-US" sz="1100">
                <a:solidFill>
                  <a:schemeClr val="dk1"/>
                </a:solidFill>
              </a:rPr>
              <a:t> Average of reciprocal ranks of the first correct fact; higher values indicate correct results appear earlier.</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NDCG@k (Normalized Discounted Cumulative Gain):</a:t>
            </a:r>
            <a:r>
              <a:rPr lang="en-US" sz="1100">
                <a:solidFill>
                  <a:schemeClr val="dk1"/>
                </a:solidFill>
              </a:rPr>
              <a:t> Measures ranking quality, giving higher weight to relevant facts appearing at the top.</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Top1_distance:</a:t>
            </a:r>
            <a:r>
              <a:rPr lang="en-US" sz="1100">
                <a:solidFill>
                  <a:schemeClr val="dk1"/>
                </a:solidFill>
              </a:rPr>
              <a:t> Embedding distance between the query and the closest retrieved fact.</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Mean_topk_distance:</a:t>
            </a:r>
            <a:r>
              <a:rPr lang="en-US" sz="1100">
                <a:solidFill>
                  <a:schemeClr val="dk1"/>
                </a:solidFill>
              </a:rPr>
              <a:t> Average embedding distance across the top‑k retrieved facts.</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Abstention Accuracy:</a:t>
            </a:r>
            <a:r>
              <a:rPr lang="en-US" sz="1100">
                <a:solidFill>
                  <a:schemeClr val="dk1"/>
                </a:solidFill>
              </a:rPr>
              <a:t> Fraction of queries not present in the KB that the system correctly identifies as absent.</a:t>
            </a: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b="1" lang="en-US" sz="1100">
                <a:solidFill>
                  <a:schemeClr val="dk1"/>
                </a:solidFill>
              </a:rPr>
              <a:t>AUC_noise:</a:t>
            </a:r>
            <a:r>
              <a:rPr lang="en-US" sz="1100">
                <a:solidFill>
                  <a:schemeClr val="dk1"/>
                </a:solidFill>
              </a:rPr>
              <a:t> measures the </a:t>
            </a:r>
            <a:r>
              <a:rPr b="1" lang="en-US" sz="1100">
                <a:solidFill>
                  <a:schemeClr val="dk1"/>
                </a:solidFill>
              </a:rPr>
              <a:t>probability the correct fact is closer than noise</a:t>
            </a:r>
            <a:r>
              <a:rPr lang="en-US" sz="1100">
                <a:solidFill>
                  <a:schemeClr val="dk1"/>
                </a:solidFill>
              </a:rPr>
              <a:t>. High AUC = KB fact is clearly separable from random vectors.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g3ad381497b3_0_23"/>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LP Natural Language Processing cognitive computing technology concept. (provided by Getty Images)" id="283" name="Google Shape;283;g3ad381497b3_0_23"/>
          <p:cNvPicPr preferRelativeResize="0"/>
          <p:nvPr/>
        </p:nvPicPr>
        <p:blipFill rotWithShape="1">
          <a:blip r:embed="rId3">
            <a:alphaModFix/>
          </a:blip>
          <a:srcRect b="0" l="36421" r="36424" t="0"/>
          <a:stretch/>
        </p:blipFill>
        <p:spPr>
          <a:xfrm>
            <a:off x="320040" y="0"/>
            <a:ext cx="3337559" cy="5143500"/>
          </a:xfrm>
          <a:prstGeom prst="rect">
            <a:avLst/>
          </a:prstGeom>
          <a:noFill/>
          <a:ln>
            <a:noFill/>
          </a:ln>
        </p:spPr>
      </p:pic>
      <p:sp>
        <p:nvSpPr>
          <p:cNvPr id="284" name="Google Shape;284;g3ad381497b3_0_23"/>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g3ad381497b3_0_23"/>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g3ad381497b3_0_23"/>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17</a:t>
            </a:r>
            <a:endParaRPr b="0" i="0" sz="1800" u="none" cap="none" strike="noStrike">
              <a:solidFill>
                <a:schemeClr val="dk1"/>
              </a:solidFill>
              <a:latin typeface="Calibri"/>
              <a:ea typeface="Calibri"/>
              <a:cs typeface="Calibri"/>
              <a:sym typeface="Calibri"/>
            </a:endParaRPr>
          </a:p>
        </p:txBody>
      </p:sp>
      <p:sp>
        <p:nvSpPr>
          <p:cNvPr id="287" name="Google Shape;287;g3ad381497b3_0_23"/>
          <p:cNvSpPr/>
          <p:nvPr/>
        </p:nvSpPr>
        <p:spPr>
          <a:xfrm>
            <a:off x="4114800" y="457205"/>
            <a:ext cx="4389000" cy="514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GloRA</a:t>
            </a:r>
            <a:endParaRPr b="1" sz="2800">
              <a:solidFill>
                <a:srgbClr val="1A6847"/>
              </a:solidFill>
              <a:latin typeface="Outfit"/>
              <a:ea typeface="Outfit"/>
              <a:cs typeface="Outfit"/>
              <a:sym typeface="Outfit"/>
            </a:endParaRPr>
          </a:p>
        </p:txBody>
      </p:sp>
      <p:sp>
        <p:nvSpPr>
          <p:cNvPr id="288" name="Google Shape;288;g3ad381497b3_0_23"/>
          <p:cNvSpPr/>
          <p:nvPr/>
        </p:nvSpPr>
        <p:spPr>
          <a:xfrm>
            <a:off x="4114800" y="1120525"/>
            <a:ext cx="4623900" cy="2314500"/>
          </a:xfrm>
          <a:prstGeom prst="rect">
            <a:avLst/>
          </a:prstGeom>
          <a:noFill/>
          <a:ln>
            <a:noFill/>
          </a:ln>
        </p:spPr>
        <p:txBody>
          <a:bodyPr anchorCtr="0" anchor="t" bIns="45700" lIns="91425" spcFirstLastPara="1" rIns="91425" wrap="square" tIns="45700">
            <a:noAutofit/>
          </a:bodyPr>
          <a:lstStyle/>
          <a:p>
            <a:pPr indent="0" lvl="0" marL="0" rtl="0" algn="just">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QLoRA (</a:t>
            </a:r>
            <a:r>
              <a:rPr b="1" lang="en-US" sz="1100">
                <a:solidFill>
                  <a:schemeClr val="dk1"/>
                </a:solidFill>
              </a:rPr>
              <a:t>Quantized Low-Rank Adaptation</a:t>
            </a:r>
            <a:r>
              <a:rPr lang="en-US" sz="1200">
                <a:latin typeface="Outfit"/>
                <a:ea typeface="Outfit"/>
                <a:cs typeface="Outfit"/>
                <a:sym typeface="Outfit"/>
              </a:rPr>
              <a:t>) fine-tuning teaches the model how to answer questions based on the sample of data you give it.</a:t>
            </a:r>
            <a:endParaRPr sz="1200">
              <a:latin typeface="Outfit"/>
              <a:ea typeface="Outfit"/>
              <a:cs typeface="Outfit"/>
              <a:sym typeface="Outfit"/>
            </a:endParaRPr>
          </a:p>
          <a:p>
            <a:pPr indent="0" lvl="0" marL="0" marR="0" rtl="0" algn="just">
              <a:lnSpc>
                <a:spcPct val="166666"/>
              </a:lnSpc>
              <a:spcBef>
                <a:spcPts val="1200"/>
              </a:spcBef>
              <a:spcAft>
                <a:spcPts val="0"/>
              </a:spcAft>
              <a:buClr>
                <a:srgbClr val="000000"/>
              </a:buClr>
              <a:buSzPts val="1200"/>
              <a:buFont typeface="Outfit"/>
              <a:buNone/>
            </a:pPr>
            <a:r>
              <a:rPr lang="en-US" sz="1100">
                <a:solidFill>
                  <a:schemeClr val="dk1"/>
                </a:solidFill>
              </a:rPr>
              <a:t>After training, the model answers new questions in the </a:t>
            </a:r>
            <a:r>
              <a:rPr b="1" lang="en-US" sz="1100">
                <a:solidFill>
                  <a:schemeClr val="dk1"/>
                </a:solidFill>
              </a:rPr>
              <a:t>same style and logic</a:t>
            </a:r>
            <a:r>
              <a:rPr lang="en-US" sz="1100">
                <a:solidFill>
                  <a:schemeClr val="dk1"/>
                </a:solidFill>
              </a:rPr>
              <a:t> as the samples.</a:t>
            </a:r>
            <a:endParaRPr sz="1100">
              <a:solidFill>
                <a:schemeClr val="dk1"/>
              </a:solidFill>
            </a:endParaRPr>
          </a:p>
          <a:p>
            <a:pPr indent="0" lvl="0" marL="0" rtl="0" algn="just">
              <a:lnSpc>
                <a:spcPct val="115000"/>
              </a:lnSpc>
              <a:spcBef>
                <a:spcPts val="1200"/>
              </a:spcBef>
              <a:spcAft>
                <a:spcPts val="0"/>
              </a:spcAft>
              <a:buClr>
                <a:schemeClr val="dk1"/>
              </a:buClr>
              <a:buSzPts val="1100"/>
              <a:buFont typeface="Arial"/>
              <a:buNone/>
            </a:pPr>
            <a:r>
              <a:rPr lang="en-US" sz="1100">
                <a:solidFill>
                  <a:schemeClr val="dk1"/>
                </a:solidFill>
              </a:rPr>
              <a:t>Instead of training the whole model (billions of parameters), QLoRA trains </a:t>
            </a:r>
            <a:r>
              <a:rPr b="1" lang="en-US" sz="1100">
                <a:solidFill>
                  <a:schemeClr val="dk1"/>
                </a:solidFill>
              </a:rPr>
              <a:t>tiny low-rank adapter matrices (LoRA layers)</a:t>
            </a:r>
            <a:r>
              <a:rPr lang="en-US" sz="1100">
                <a:solidFill>
                  <a:schemeClr val="dk1"/>
                </a:solidFill>
              </a:rPr>
              <a:t>.</a:t>
            </a:r>
            <a:endParaRPr sz="1100">
              <a:solidFill>
                <a:schemeClr val="dk1"/>
              </a:solidFill>
            </a:endParaRPr>
          </a:p>
          <a:p>
            <a:pPr indent="-298450" lvl="0" marL="457200" rtl="0" algn="just">
              <a:lnSpc>
                <a:spcPct val="115000"/>
              </a:lnSpc>
              <a:spcBef>
                <a:spcPts val="1200"/>
              </a:spcBef>
              <a:spcAft>
                <a:spcPts val="0"/>
              </a:spcAft>
              <a:buClr>
                <a:schemeClr val="dk1"/>
              </a:buClr>
              <a:buSzPts val="1100"/>
              <a:buChar char="●"/>
            </a:pPr>
            <a:r>
              <a:rPr lang="en-US" sz="1100">
                <a:solidFill>
                  <a:schemeClr val="dk1"/>
                </a:solidFill>
              </a:rPr>
              <a:t>Full model training = huge memory</a:t>
            </a:r>
            <a:br>
              <a:rPr lang="en-US" sz="1100">
                <a:solidFill>
                  <a:schemeClr val="dk1"/>
                </a:solidFill>
              </a:rPr>
            </a:br>
            <a:endParaRPr sz="1100">
              <a:solidFill>
                <a:schemeClr val="dk1"/>
              </a:solidFill>
            </a:endParaRPr>
          </a:p>
          <a:p>
            <a:pPr indent="-298450" lvl="0" marL="457200" rtl="0" algn="just">
              <a:lnSpc>
                <a:spcPct val="115000"/>
              </a:lnSpc>
              <a:spcBef>
                <a:spcPts val="0"/>
              </a:spcBef>
              <a:spcAft>
                <a:spcPts val="0"/>
              </a:spcAft>
              <a:buClr>
                <a:schemeClr val="dk1"/>
              </a:buClr>
              <a:buSzPts val="1100"/>
              <a:buChar char="●"/>
            </a:pPr>
            <a:r>
              <a:rPr lang="en-US" sz="1100">
                <a:solidFill>
                  <a:schemeClr val="dk1"/>
                </a:solidFill>
              </a:rPr>
              <a:t>QLoRA = trains &lt;1% of parameters</a:t>
            </a:r>
            <a:endParaRPr sz="1100">
              <a:solidFill>
                <a:schemeClr val="dk1"/>
              </a:solidFill>
            </a:endParaRPr>
          </a:p>
          <a:p>
            <a:pPr indent="0" lvl="0" marL="457200" rtl="0" algn="just">
              <a:lnSpc>
                <a:spcPct val="115000"/>
              </a:lnSpc>
              <a:spcBef>
                <a:spcPts val="1200"/>
              </a:spcBef>
              <a:spcAft>
                <a:spcPts val="0"/>
              </a:spcAft>
              <a:buNone/>
            </a:pPr>
            <a:r>
              <a:rPr lang="en-US" sz="1100">
                <a:solidFill>
                  <a:schemeClr val="dk1"/>
                </a:solidFill>
              </a:rPr>
              <a:t>By that QLoRA improves computation and memory usage.</a:t>
            </a:r>
            <a:endParaRPr sz="1100">
              <a:solidFill>
                <a:schemeClr val="dk1"/>
              </a:solidFill>
            </a:endParaRPr>
          </a:p>
          <a:p>
            <a:pPr indent="0" lvl="0" marL="0" marR="0" rtl="0" algn="just">
              <a:lnSpc>
                <a:spcPct val="166666"/>
              </a:lnSpc>
              <a:spcBef>
                <a:spcPts val="1200"/>
              </a:spcBef>
              <a:spcAft>
                <a:spcPts val="0"/>
              </a:spcAft>
              <a:buClr>
                <a:srgbClr val="000000"/>
              </a:buClr>
              <a:buSzPts val="1200"/>
              <a:buFont typeface="Outfit"/>
              <a:buNone/>
            </a:pPr>
            <a:r>
              <a:t/>
            </a:r>
            <a:endParaRPr sz="1100">
              <a:solidFill>
                <a:schemeClr val="dk1"/>
              </a:solidFill>
            </a:endParaRPr>
          </a:p>
          <a:p>
            <a:pPr indent="0" lvl="0" marL="0" marR="0" rtl="0" algn="just">
              <a:lnSpc>
                <a:spcPct val="166666"/>
              </a:lnSpc>
              <a:spcBef>
                <a:spcPts val="0"/>
              </a:spcBef>
              <a:spcAft>
                <a:spcPts val="0"/>
              </a:spcAft>
              <a:buClr>
                <a:srgbClr val="000000"/>
              </a:buClr>
              <a:buSzPts val="1200"/>
              <a:buFont typeface="Outfit"/>
              <a:buNone/>
            </a:pPr>
            <a:r>
              <a:t/>
            </a:r>
            <a:endParaRPr sz="1100">
              <a:solidFill>
                <a:schemeClr val="dk1"/>
              </a:solidFill>
            </a:endParaRPr>
          </a:p>
        </p:txBody>
      </p:sp>
      <p:pic>
        <p:nvPicPr>
          <p:cNvPr id="289" name="Google Shape;289;g3ad381497b3_0_23" title="Screenshot 2025-12-23 213353.png"/>
          <p:cNvPicPr preferRelativeResize="0"/>
          <p:nvPr/>
        </p:nvPicPr>
        <p:blipFill>
          <a:blip r:embed="rId4">
            <a:alphaModFix/>
          </a:blip>
          <a:stretch>
            <a:fillRect/>
          </a:stretch>
        </p:blipFill>
        <p:spPr>
          <a:xfrm>
            <a:off x="4245524" y="4098350"/>
            <a:ext cx="4362450" cy="6381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g3ad381497b3_0_39"/>
          <p:cNvSpPr/>
          <p:nvPr/>
        </p:nvSpPr>
        <p:spPr>
          <a:xfrm>
            <a:off x="3657600" y="0"/>
            <a:ext cx="91500" cy="154320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LP Natural Language Processing cognitive computing technology concept. (provided by Getty Images)" id="296" name="Google Shape;296;g3ad381497b3_0_39"/>
          <p:cNvPicPr preferRelativeResize="0"/>
          <p:nvPr/>
        </p:nvPicPr>
        <p:blipFill rotWithShape="1">
          <a:blip r:embed="rId3">
            <a:alphaModFix/>
          </a:blip>
          <a:srcRect b="0" l="36421" r="36424" t="0"/>
          <a:stretch/>
        </p:blipFill>
        <p:spPr>
          <a:xfrm>
            <a:off x="320040" y="0"/>
            <a:ext cx="3337559" cy="5143500"/>
          </a:xfrm>
          <a:prstGeom prst="rect">
            <a:avLst/>
          </a:prstGeom>
          <a:noFill/>
          <a:ln>
            <a:noFill/>
          </a:ln>
        </p:spPr>
      </p:pic>
      <p:sp>
        <p:nvSpPr>
          <p:cNvPr id="297" name="Google Shape;297;g3ad381497b3_0_39"/>
          <p:cNvSpPr/>
          <p:nvPr/>
        </p:nvSpPr>
        <p:spPr>
          <a:xfrm>
            <a:off x="0" y="0"/>
            <a:ext cx="32010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g3ad381497b3_0_39"/>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g3ad381497b3_0_39"/>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18</a:t>
            </a:r>
            <a:endParaRPr b="0" i="0" sz="1800" u="none" cap="none" strike="noStrike">
              <a:solidFill>
                <a:schemeClr val="dk1"/>
              </a:solidFill>
              <a:latin typeface="Calibri"/>
              <a:ea typeface="Calibri"/>
              <a:cs typeface="Calibri"/>
              <a:sym typeface="Calibri"/>
            </a:endParaRPr>
          </a:p>
        </p:txBody>
      </p:sp>
      <p:sp>
        <p:nvSpPr>
          <p:cNvPr id="300" name="Google Shape;300;g3ad381497b3_0_39"/>
          <p:cNvSpPr/>
          <p:nvPr/>
        </p:nvSpPr>
        <p:spPr>
          <a:xfrm>
            <a:off x="4114800" y="925830"/>
            <a:ext cx="4389000" cy="514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Domain, Non-domain classifier</a:t>
            </a:r>
            <a:endParaRPr b="1" sz="2800">
              <a:solidFill>
                <a:srgbClr val="1A6847"/>
              </a:solidFill>
              <a:latin typeface="Outfit"/>
              <a:ea typeface="Outfit"/>
              <a:cs typeface="Outfit"/>
              <a:sym typeface="Outfit"/>
            </a:endParaRPr>
          </a:p>
        </p:txBody>
      </p:sp>
      <p:sp>
        <p:nvSpPr>
          <p:cNvPr id="301" name="Google Shape;301;g3ad381497b3_0_39"/>
          <p:cNvSpPr/>
          <p:nvPr/>
        </p:nvSpPr>
        <p:spPr>
          <a:xfrm>
            <a:off x="4153500" y="1850875"/>
            <a:ext cx="4623900" cy="23145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Clr>
                <a:srgbClr val="000000"/>
              </a:buClr>
              <a:buSzPts val="1200"/>
              <a:buFont typeface="Outfit"/>
              <a:buNone/>
            </a:pPr>
            <a:r>
              <a:rPr lang="en-US" sz="1200">
                <a:latin typeface="Outfit"/>
                <a:ea typeface="Outfit"/>
                <a:cs typeface="Outfit"/>
                <a:sym typeface="Outfit"/>
              </a:rPr>
              <a:t>To classify user input as personal context or domain-specific Context, we use a domain and a non-domain classifier. When the user input is classified as domain-specific, the model generates the appropriate context by retrieving relevant information from the knowledge bases. </a:t>
            </a:r>
            <a:endParaRPr sz="1200">
              <a:latin typeface="Outfit"/>
              <a:ea typeface="Outfit"/>
              <a:cs typeface="Outfit"/>
              <a:sym typeface="Outfit"/>
            </a:endParaRPr>
          </a:p>
          <a:p>
            <a:pPr indent="0" lvl="0" marL="0" marR="0" rtl="0" algn="just">
              <a:lnSpc>
                <a:spcPct val="166666"/>
              </a:lnSpc>
              <a:spcBef>
                <a:spcPts val="0"/>
              </a:spcBef>
              <a:spcAft>
                <a:spcPts val="0"/>
              </a:spcAft>
              <a:buClr>
                <a:srgbClr val="000000"/>
              </a:buClr>
              <a:buSzPts val="1200"/>
              <a:buFont typeface="Outfit"/>
              <a:buNone/>
            </a:pPr>
            <a:r>
              <a:rPr b="1" lang="en-US" sz="1200">
                <a:latin typeface="Outfit"/>
                <a:ea typeface="Outfit"/>
                <a:cs typeface="Outfit"/>
                <a:sym typeface="Outfit"/>
              </a:rPr>
              <a:t>Evaluation</a:t>
            </a:r>
            <a:r>
              <a:rPr lang="en-US" sz="1200">
                <a:latin typeface="Outfit"/>
                <a:ea typeface="Outfit"/>
                <a:cs typeface="Outfit"/>
                <a:sym typeface="Outfit"/>
              </a:rPr>
              <a:t>:</a:t>
            </a:r>
            <a:r>
              <a:rPr lang="en-US" sz="1200">
                <a:latin typeface="Outfit"/>
                <a:ea typeface="Outfit"/>
                <a:cs typeface="Outfit"/>
                <a:sym typeface="Outfit"/>
              </a:rPr>
              <a:t>Accuracy</a:t>
            </a:r>
            <a:r>
              <a:rPr lang="en-US" sz="1200">
                <a:latin typeface="Outfit"/>
                <a:ea typeface="Outfit"/>
                <a:cs typeface="Outfit"/>
                <a:sym typeface="Outfit"/>
              </a:rPr>
              <a:t>, precision, recall and F1 score</a:t>
            </a:r>
            <a:endParaRPr sz="1200">
              <a:latin typeface="Outfit"/>
              <a:ea typeface="Outfit"/>
              <a:cs typeface="Outfit"/>
              <a:sym typeface="Outfit"/>
            </a:endParaRPr>
          </a:p>
          <a:p>
            <a:pPr indent="0" lvl="0" marL="0" marR="0" rtl="0" algn="just">
              <a:lnSpc>
                <a:spcPct val="166666"/>
              </a:lnSpc>
              <a:spcBef>
                <a:spcPts val="0"/>
              </a:spcBef>
              <a:spcAft>
                <a:spcPts val="0"/>
              </a:spcAft>
              <a:buClr>
                <a:srgbClr val="000000"/>
              </a:buClr>
              <a:buSzPts val="1200"/>
              <a:buFont typeface="Outfit"/>
              <a:buNone/>
            </a:pPr>
            <a:r>
              <a:rPr b="1" lang="en-US" sz="1200">
                <a:latin typeface="Outfit"/>
                <a:ea typeface="Outfit"/>
                <a:cs typeface="Outfit"/>
                <a:sym typeface="Outfit"/>
              </a:rPr>
              <a:t>Results: </a:t>
            </a:r>
            <a:endParaRPr b="1" sz="1200">
              <a:latin typeface="Outfit"/>
              <a:ea typeface="Outfit"/>
              <a:cs typeface="Outfit"/>
              <a:sym typeface="Outfit"/>
            </a:endParaRPr>
          </a:p>
        </p:txBody>
      </p:sp>
      <p:pic>
        <p:nvPicPr>
          <p:cNvPr id="302" name="Google Shape;302;g3ad381497b3_0_39" title="result4.png"/>
          <p:cNvPicPr preferRelativeResize="0"/>
          <p:nvPr/>
        </p:nvPicPr>
        <p:blipFill>
          <a:blip r:embed="rId4">
            <a:alphaModFix/>
          </a:blip>
          <a:stretch>
            <a:fillRect/>
          </a:stretch>
        </p:blipFill>
        <p:spPr>
          <a:xfrm>
            <a:off x="5018550" y="3934975"/>
            <a:ext cx="2259200" cy="7699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9"/>
          <p:cNvSpPr/>
          <p:nvPr/>
        </p:nvSpPr>
        <p:spPr>
          <a:xfrm>
            <a:off x="3657600" y="0"/>
            <a:ext cx="91440" cy="154305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NLP Natural Language Processing cognitive computing technology concept. (provided by Getty Images)" id="309" name="Google Shape;309;p9"/>
          <p:cNvPicPr preferRelativeResize="0"/>
          <p:nvPr/>
        </p:nvPicPr>
        <p:blipFill rotWithShape="1">
          <a:blip r:embed="rId3">
            <a:alphaModFix/>
          </a:blip>
          <a:srcRect b="0" l="36423" r="36423" t="0"/>
          <a:stretch/>
        </p:blipFill>
        <p:spPr>
          <a:xfrm>
            <a:off x="320050" y="0"/>
            <a:ext cx="3337549" cy="2532499"/>
          </a:xfrm>
          <a:prstGeom prst="rect">
            <a:avLst/>
          </a:prstGeom>
          <a:noFill/>
          <a:ln>
            <a:noFill/>
          </a:ln>
        </p:spPr>
      </p:pic>
      <p:sp>
        <p:nvSpPr>
          <p:cNvPr id="310" name="Google Shape;310;p9"/>
          <p:cNvSpPr/>
          <p:nvPr/>
        </p:nvSpPr>
        <p:spPr>
          <a:xfrm>
            <a:off x="0" y="0"/>
            <a:ext cx="32004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9"/>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9"/>
          <p:cNvSpPr/>
          <p:nvPr/>
        </p:nvSpPr>
        <p:spPr>
          <a:xfrm>
            <a:off x="4114800"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19</a:t>
            </a:r>
            <a:endParaRPr b="0" i="0" sz="1800" u="none" cap="none" strike="noStrike">
              <a:solidFill>
                <a:schemeClr val="dk1"/>
              </a:solidFill>
              <a:latin typeface="Calibri"/>
              <a:ea typeface="Calibri"/>
              <a:cs typeface="Calibri"/>
              <a:sym typeface="Calibri"/>
            </a:endParaRPr>
          </a:p>
        </p:txBody>
      </p:sp>
      <p:sp>
        <p:nvSpPr>
          <p:cNvPr id="313" name="Google Shape;313;p9"/>
          <p:cNvSpPr/>
          <p:nvPr/>
        </p:nvSpPr>
        <p:spPr>
          <a:xfrm>
            <a:off x="4015800" y="695917"/>
            <a:ext cx="43890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Chat</a:t>
            </a:r>
            <a:endParaRPr b="0" i="0" sz="2800" u="none" cap="none" strike="noStrike">
              <a:solidFill>
                <a:schemeClr val="dk1"/>
              </a:solidFill>
              <a:latin typeface="Calibri"/>
              <a:ea typeface="Calibri"/>
              <a:cs typeface="Calibri"/>
              <a:sym typeface="Calibri"/>
            </a:endParaRPr>
          </a:p>
        </p:txBody>
      </p:sp>
      <p:sp>
        <p:nvSpPr>
          <p:cNvPr id="314" name="Google Shape;314;p9"/>
          <p:cNvSpPr/>
          <p:nvPr/>
        </p:nvSpPr>
        <p:spPr>
          <a:xfrm>
            <a:off x="4572000" y="1623180"/>
            <a:ext cx="3749100" cy="514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315" name="Google Shape;315;p9"/>
          <p:cNvSpPr/>
          <p:nvPr/>
        </p:nvSpPr>
        <p:spPr>
          <a:xfrm>
            <a:off x="3898350" y="1615763"/>
            <a:ext cx="4623900" cy="2319300"/>
          </a:xfrm>
          <a:prstGeom prst="rect">
            <a:avLst/>
          </a:prstGeom>
          <a:noFill/>
          <a:ln>
            <a:noFill/>
          </a:ln>
        </p:spPr>
        <p:txBody>
          <a:bodyPr anchorCtr="0" anchor="t" bIns="45700" lIns="91425" spcFirstLastPara="1" rIns="91425" wrap="square" tIns="45700">
            <a:noAutofit/>
          </a:bodyPr>
          <a:lstStyle/>
          <a:p>
            <a:pPr indent="0" lvl="0" marL="0" marR="0" rtl="0" algn="just">
              <a:lnSpc>
                <a:spcPct val="166666"/>
              </a:lnSpc>
              <a:spcBef>
                <a:spcPts val="0"/>
              </a:spcBef>
              <a:spcAft>
                <a:spcPts val="0"/>
              </a:spcAft>
              <a:buClr>
                <a:srgbClr val="000000"/>
              </a:buClr>
              <a:buSzPts val="1200"/>
              <a:buFont typeface="Outfit"/>
              <a:buNone/>
            </a:pPr>
            <a:r>
              <a:rPr lang="en-US" sz="1200">
                <a:latin typeface="Outfit"/>
                <a:ea typeface="Outfit"/>
                <a:cs typeface="Outfit"/>
                <a:sym typeface="Outfit"/>
              </a:rPr>
              <a:t>To demonstrate the integration of the domain-specific models, we combined them into a chat system. While the primary evaluation focused on the individual models (e.g., KB retrieval, visitor prediction, and classification), the chat interface shows practical usage.</a:t>
            </a:r>
            <a:endParaRPr i="0" sz="1200" u="none" cap="none" strike="noStrike">
              <a:solidFill>
                <a:srgbClr val="000000"/>
              </a:solidFill>
              <a:latin typeface="Outfit"/>
              <a:ea typeface="Outfit"/>
              <a:cs typeface="Outfit"/>
              <a:sym typeface="Outfit"/>
            </a:endParaRPr>
          </a:p>
        </p:txBody>
      </p:sp>
      <p:pic>
        <p:nvPicPr>
          <p:cNvPr id="316" name="Google Shape;316;p9" title="Screenshot 2025-12-04 044540.png"/>
          <p:cNvPicPr preferRelativeResize="0"/>
          <p:nvPr/>
        </p:nvPicPr>
        <p:blipFill>
          <a:blip r:embed="rId4">
            <a:alphaModFix/>
          </a:blip>
          <a:stretch>
            <a:fillRect/>
          </a:stretch>
        </p:blipFill>
        <p:spPr>
          <a:xfrm>
            <a:off x="3855749" y="4340400"/>
            <a:ext cx="5181601" cy="341644"/>
          </a:xfrm>
          <a:prstGeom prst="rect">
            <a:avLst/>
          </a:prstGeom>
          <a:noFill/>
          <a:ln>
            <a:noFill/>
          </a:ln>
        </p:spPr>
      </p:pic>
      <p:pic>
        <p:nvPicPr>
          <p:cNvPr id="317" name="Google Shape;317;p9" title="Screenshot 2025-12-04 044501.png"/>
          <p:cNvPicPr preferRelativeResize="0"/>
          <p:nvPr/>
        </p:nvPicPr>
        <p:blipFill>
          <a:blip r:embed="rId5">
            <a:alphaModFix/>
          </a:blip>
          <a:stretch>
            <a:fillRect/>
          </a:stretch>
        </p:blipFill>
        <p:spPr>
          <a:xfrm>
            <a:off x="3855750" y="3368850"/>
            <a:ext cx="4495800" cy="971550"/>
          </a:xfrm>
          <a:prstGeom prst="rect">
            <a:avLst/>
          </a:prstGeom>
          <a:noFill/>
          <a:ln>
            <a:noFill/>
          </a:ln>
        </p:spPr>
      </p:pic>
      <p:pic>
        <p:nvPicPr>
          <p:cNvPr id="318" name="Google Shape;318;p9" title="temp.drawio.png"/>
          <p:cNvPicPr preferRelativeResize="0"/>
          <p:nvPr/>
        </p:nvPicPr>
        <p:blipFill>
          <a:blip r:embed="rId6">
            <a:alphaModFix/>
          </a:blip>
          <a:stretch>
            <a:fillRect/>
          </a:stretch>
        </p:blipFill>
        <p:spPr>
          <a:xfrm>
            <a:off x="5735300" y="119375"/>
            <a:ext cx="3138925" cy="1304300"/>
          </a:xfrm>
          <a:prstGeom prst="rect">
            <a:avLst/>
          </a:prstGeom>
          <a:noFill/>
          <a:ln>
            <a:noFill/>
          </a:ln>
        </p:spPr>
      </p:pic>
      <p:sp>
        <p:nvSpPr>
          <p:cNvPr id="319" name="Google Shape;319;p9"/>
          <p:cNvSpPr txBox="1"/>
          <p:nvPr/>
        </p:nvSpPr>
        <p:spPr>
          <a:xfrm>
            <a:off x="5525475" y="4730125"/>
            <a:ext cx="3411600" cy="282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9"/>
          <p:cNvSpPr txBox="1"/>
          <p:nvPr/>
        </p:nvSpPr>
        <p:spPr>
          <a:xfrm>
            <a:off x="556875" y="2949075"/>
            <a:ext cx="3000000" cy="1811100"/>
          </a:xfrm>
          <a:prstGeom prst="rect">
            <a:avLst/>
          </a:prstGeom>
          <a:noFill/>
          <a:ln>
            <a:noFill/>
          </a:ln>
        </p:spPr>
        <p:txBody>
          <a:bodyPr anchorCtr="0" anchor="t" bIns="91425" lIns="91425" spcFirstLastPara="1" rIns="91425" wrap="square" tIns="91425">
            <a:spAutoFit/>
          </a:bodyPr>
          <a:lstStyle/>
          <a:p>
            <a:pPr indent="0" lvl="0" marL="0" rtl="0" algn="just">
              <a:lnSpc>
                <a:spcPct val="166666"/>
              </a:lnSpc>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Total system RAM usage 4.46 GB After loading the full system (quantized LLM + FAISS retrieval + PySpark domain classifier)   </a:t>
            </a:r>
            <a:endParaRPr sz="1200">
              <a:solidFill>
                <a:schemeClr val="dk1"/>
              </a:solidFill>
              <a:latin typeface="Outfit"/>
              <a:ea typeface="Outfit"/>
              <a:cs typeface="Outfit"/>
              <a:sym typeface="Outfit"/>
            </a:endParaRPr>
          </a:p>
          <a:p>
            <a:pPr indent="0" lvl="0" marL="0" rtl="0" algn="l">
              <a:lnSpc>
                <a:spcPct val="115000"/>
              </a:lnSpc>
              <a:spcBef>
                <a:spcPts val="1400"/>
              </a:spcBef>
              <a:spcAft>
                <a:spcPts val="1400"/>
              </a:spcAft>
              <a:buNone/>
            </a:pPr>
            <a:r>
              <a:t/>
            </a:r>
            <a:endParaRPr>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10"/>
          <p:cNvSpPr/>
          <p:nvPr/>
        </p:nvSpPr>
        <p:spPr>
          <a:xfrm>
            <a:off x="3657600" y="0"/>
            <a:ext cx="91440" cy="1543050"/>
          </a:xfrm>
          <a:prstGeom prst="rect">
            <a:avLst/>
          </a:prstGeom>
          <a:solidFill>
            <a:srgbClr val="FFD600"/>
          </a:solidFill>
          <a:ln cap="flat" cmpd="sng" w="12700">
            <a:solidFill>
              <a:srgbClr val="FFD6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ttps://images.pexels.com/photos/6153343/pexels-photo-6153343.jpeg?auto=compress&amp;cs=tinysrgb&amp;fit=crop&amp;h=1200&amp;w=800" id="327" name="Google Shape;327;p10"/>
          <p:cNvPicPr preferRelativeResize="0"/>
          <p:nvPr/>
        </p:nvPicPr>
        <p:blipFill rotWithShape="1">
          <a:blip r:embed="rId3">
            <a:alphaModFix/>
          </a:blip>
          <a:srcRect b="0" l="0" r="0" t="0"/>
          <a:stretch/>
        </p:blipFill>
        <p:spPr>
          <a:xfrm>
            <a:off x="320040" y="0"/>
            <a:ext cx="3337560" cy="5143500"/>
          </a:xfrm>
          <a:prstGeom prst="rect">
            <a:avLst/>
          </a:prstGeom>
          <a:noFill/>
          <a:ln>
            <a:noFill/>
          </a:ln>
        </p:spPr>
      </p:pic>
      <p:pic>
        <p:nvPicPr>
          <p:cNvPr descr="https://djgurnpwsdoqjscwqbsj.supabase.co/storage/v1/object/public/users_file_magicslides_io/grayscale_image.png" id="328" name="Google Shape;328;p10"/>
          <p:cNvPicPr preferRelativeResize="0"/>
          <p:nvPr/>
        </p:nvPicPr>
        <p:blipFill rotWithShape="1">
          <a:blip r:embed="rId4">
            <a:alphaModFix/>
          </a:blip>
          <a:srcRect b="0" l="0" r="0" t="0"/>
          <a:stretch/>
        </p:blipFill>
        <p:spPr>
          <a:xfrm>
            <a:off x="4206240" y="1800225"/>
            <a:ext cx="365760" cy="365760"/>
          </a:xfrm>
          <a:prstGeom prst="rect">
            <a:avLst/>
          </a:prstGeom>
          <a:noFill/>
          <a:ln>
            <a:noFill/>
          </a:ln>
        </p:spPr>
      </p:pic>
      <p:sp>
        <p:nvSpPr>
          <p:cNvPr id="329" name="Google Shape;329;p10"/>
          <p:cNvSpPr/>
          <p:nvPr/>
        </p:nvSpPr>
        <p:spPr>
          <a:xfrm>
            <a:off x="0" y="0"/>
            <a:ext cx="320040" cy="51435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10"/>
          <p:cNvSpPr/>
          <p:nvPr/>
        </p:nvSpPr>
        <p:spPr>
          <a:xfrm>
            <a:off x="4114800"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10"/>
          <p:cNvSpPr/>
          <p:nvPr/>
        </p:nvSpPr>
        <p:spPr>
          <a:xfrm>
            <a:off x="4114800" y="0"/>
            <a:ext cx="5718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lang="en-US" sz="1800">
                <a:solidFill>
                  <a:srgbClr val="FFD600"/>
                </a:solidFill>
                <a:latin typeface="Outfit"/>
                <a:ea typeface="Outfit"/>
                <a:cs typeface="Outfit"/>
                <a:sym typeface="Outfit"/>
              </a:rPr>
              <a:t>20</a:t>
            </a:r>
            <a:endParaRPr b="0" i="0" sz="1800" u="none" cap="none" strike="noStrike">
              <a:solidFill>
                <a:schemeClr val="dk1"/>
              </a:solidFill>
              <a:latin typeface="Calibri"/>
              <a:ea typeface="Calibri"/>
              <a:cs typeface="Calibri"/>
              <a:sym typeface="Calibri"/>
            </a:endParaRPr>
          </a:p>
        </p:txBody>
      </p:sp>
      <p:sp>
        <p:nvSpPr>
          <p:cNvPr id="332" name="Google Shape;332;p10"/>
          <p:cNvSpPr/>
          <p:nvPr/>
        </p:nvSpPr>
        <p:spPr>
          <a:xfrm>
            <a:off x="4114800" y="925825"/>
            <a:ext cx="5189400" cy="5145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A6847"/>
              </a:buClr>
              <a:buSzPts val="2800"/>
              <a:buFont typeface="Outfit"/>
              <a:buNone/>
            </a:pPr>
            <a:r>
              <a:rPr b="1" lang="en-US" sz="2800">
                <a:solidFill>
                  <a:srgbClr val="1A6847"/>
                </a:solidFill>
                <a:latin typeface="Outfit"/>
                <a:ea typeface="Outfit"/>
                <a:cs typeface="Outfit"/>
                <a:sym typeface="Outfit"/>
              </a:rPr>
              <a:t>Future Work</a:t>
            </a:r>
            <a:endParaRPr b="0" i="0" sz="2800" u="none" cap="none" strike="noStrike">
              <a:solidFill>
                <a:schemeClr val="dk1"/>
              </a:solidFill>
              <a:latin typeface="Calibri"/>
              <a:ea typeface="Calibri"/>
              <a:cs typeface="Calibri"/>
              <a:sym typeface="Calibri"/>
            </a:endParaRPr>
          </a:p>
        </p:txBody>
      </p:sp>
      <p:sp>
        <p:nvSpPr>
          <p:cNvPr id="333" name="Google Shape;333;p10"/>
          <p:cNvSpPr/>
          <p:nvPr/>
        </p:nvSpPr>
        <p:spPr>
          <a:xfrm>
            <a:off x="4572000" y="1697355"/>
            <a:ext cx="3749040" cy="5143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
        <p:nvSpPr>
          <p:cNvPr id="334" name="Google Shape;334;p10"/>
          <p:cNvSpPr/>
          <p:nvPr/>
        </p:nvSpPr>
        <p:spPr>
          <a:xfrm>
            <a:off x="4114800" y="2160270"/>
            <a:ext cx="4389120" cy="2314575"/>
          </a:xfrm>
          <a:prstGeom prst="rect">
            <a:avLst/>
          </a:prstGeom>
          <a:noFill/>
          <a:ln>
            <a:noFill/>
          </a:ln>
        </p:spPr>
        <p:txBody>
          <a:bodyPr anchorCtr="0" anchor="t" bIns="45700" lIns="91425" spcFirstLastPara="1" rIns="91425" wrap="square" tIns="45700">
            <a:noAutofit/>
          </a:bodyPr>
          <a:lstStyle/>
          <a:p>
            <a:pPr indent="-298450" lvl="0" marL="457200" rtl="0" algn="just">
              <a:lnSpc>
                <a:spcPct val="166666"/>
              </a:lnSpc>
              <a:spcBef>
                <a:spcPts val="0"/>
              </a:spcBef>
              <a:spcAft>
                <a:spcPts val="0"/>
              </a:spcAft>
              <a:buClr>
                <a:schemeClr val="dk1"/>
              </a:buClr>
              <a:buSzPts val="1100"/>
              <a:buChar char="●"/>
            </a:pPr>
            <a:r>
              <a:rPr b="1" lang="en-US" sz="1200">
                <a:solidFill>
                  <a:schemeClr val="dk1"/>
                </a:solidFill>
                <a:latin typeface="Outfit"/>
                <a:ea typeface="Outfit"/>
                <a:cs typeface="Outfit"/>
                <a:sym typeface="Outfit"/>
              </a:rPr>
              <a:t>A formal evaluation of the full chat system .</a:t>
            </a:r>
            <a:endParaRPr b="1" sz="1200">
              <a:latin typeface="Outfit"/>
              <a:ea typeface="Outfit"/>
              <a:cs typeface="Outfit"/>
              <a:sym typeface="Outfit"/>
            </a:endParaRPr>
          </a:p>
          <a:p>
            <a:pPr indent="-298450" lvl="0" marL="457200" rtl="0" algn="l">
              <a:lnSpc>
                <a:spcPct val="115000"/>
              </a:lnSpc>
              <a:spcBef>
                <a:spcPts val="0"/>
              </a:spcBef>
              <a:spcAft>
                <a:spcPts val="0"/>
              </a:spcAft>
              <a:buClr>
                <a:schemeClr val="dk1"/>
              </a:buClr>
              <a:buSzPts val="1100"/>
              <a:buChar char="●"/>
            </a:pPr>
            <a:r>
              <a:rPr b="1" lang="en-US" sz="1200">
                <a:latin typeface="Outfit"/>
                <a:ea typeface="Outfit"/>
                <a:cs typeface="Outfit"/>
                <a:sym typeface="Outfit"/>
              </a:rPr>
              <a:t>Expand knowledge base across multiple hospital domains.</a:t>
            </a:r>
            <a:endParaRPr b="1" sz="1200">
              <a:latin typeface="Outfit"/>
              <a:ea typeface="Outfit"/>
              <a:cs typeface="Outfit"/>
              <a:sym typeface="Outfit"/>
            </a:endParaRPr>
          </a:p>
          <a:p>
            <a:pPr indent="-298450" lvl="0" marL="457200" rtl="0" algn="l">
              <a:lnSpc>
                <a:spcPct val="115000"/>
              </a:lnSpc>
              <a:spcBef>
                <a:spcPts val="0"/>
              </a:spcBef>
              <a:spcAft>
                <a:spcPts val="0"/>
              </a:spcAft>
              <a:buClr>
                <a:schemeClr val="dk1"/>
              </a:buClr>
              <a:buSzPts val="1100"/>
              <a:buChar char="●"/>
            </a:pPr>
            <a:r>
              <a:rPr b="1" lang="en-US" sz="1200">
                <a:latin typeface="Outfit"/>
                <a:ea typeface="Outfit"/>
                <a:cs typeface="Outfit"/>
                <a:sym typeface="Outfit"/>
              </a:rPr>
              <a:t>Improve LLM interpretability and prediction accuracy.</a:t>
            </a:r>
            <a:endParaRPr b="1" sz="1200">
              <a:latin typeface="Outfit"/>
              <a:ea typeface="Outfit"/>
              <a:cs typeface="Outfit"/>
              <a:sym typeface="Outfit"/>
            </a:endParaRPr>
          </a:p>
          <a:p>
            <a:pPr indent="-298450" lvl="0" marL="457200" rtl="0" algn="l">
              <a:lnSpc>
                <a:spcPct val="115000"/>
              </a:lnSpc>
              <a:spcBef>
                <a:spcPts val="0"/>
              </a:spcBef>
              <a:spcAft>
                <a:spcPts val="0"/>
              </a:spcAft>
              <a:buClr>
                <a:schemeClr val="dk1"/>
              </a:buClr>
              <a:buSzPts val="1100"/>
              <a:buChar char="●"/>
            </a:pPr>
            <a:r>
              <a:rPr b="1" lang="en-US" sz="1200">
                <a:latin typeface="Outfit"/>
                <a:ea typeface="Outfit"/>
                <a:cs typeface="Outfit"/>
                <a:sym typeface="Outfit"/>
              </a:rPr>
              <a:t>Utilize a catalog to enhance multimodal data organization by leveraging Neuralink’s data repository, which provides a unified and scalable way to structure, access, and manage diverse data types efficiently.</a:t>
            </a:r>
            <a:endParaRPr b="1" sz="1200">
              <a:latin typeface="Outfit"/>
              <a:ea typeface="Outfit"/>
              <a:cs typeface="Outfit"/>
              <a:sym typeface="Outfit"/>
            </a:endParaRPr>
          </a:p>
          <a:p>
            <a:pPr indent="0" lvl="0" marL="0" marR="0" rtl="0" algn="just">
              <a:lnSpc>
                <a:spcPct val="166666"/>
              </a:lnSpc>
              <a:spcBef>
                <a:spcPts val="1200"/>
              </a:spcBef>
              <a:spcAft>
                <a:spcPts val="0"/>
              </a:spcAft>
              <a:buClr>
                <a:srgbClr val="000000"/>
              </a:buClr>
              <a:buSzPts val="1200"/>
              <a:buFont typeface="Outfit"/>
              <a:buNone/>
            </a:pPr>
            <a:r>
              <a:t/>
            </a:r>
            <a:endParaRPr b="1" sz="1200">
              <a:latin typeface="Outfit"/>
              <a:ea typeface="Outfit"/>
              <a:cs typeface="Outfit"/>
              <a:sym typeface="Outfi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pic>
        <p:nvPicPr>
          <p:cNvPr descr="File:Neuralink logo.svg - Wikimedia Commons" id="340" name="Google Shape;340;g39ad14173ec_0_24"/>
          <p:cNvPicPr preferRelativeResize="0"/>
          <p:nvPr/>
        </p:nvPicPr>
        <p:blipFill rotWithShape="1">
          <a:blip r:embed="rId4">
            <a:alphaModFix/>
          </a:blip>
          <a:srcRect b="0" l="0" r="0" t="0"/>
          <a:stretch/>
        </p:blipFill>
        <p:spPr>
          <a:xfrm>
            <a:off x="94500" y="155675"/>
            <a:ext cx="1950700" cy="764825"/>
          </a:xfrm>
          <a:prstGeom prst="rect">
            <a:avLst/>
          </a:prstGeom>
          <a:noFill/>
          <a:ln>
            <a:noFill/>
          </a:ln>
        </p:spPr>
      </p:pic>
      <p:pic>
        <p:nvPicPr>
          <p:cNvPr descr="a man in a suit and tie is pointing at something in the dark (provided by Tenor)" id="341" name="Google Shape;341;g39ad14173ec_0_24"/>
          <p:cNvPicPr preferRelativeResize="0"/>
          <p:nvPr/>
        </p:nvPicPr>
        <p:blipFill rotWithShape="1">
          <a:blip r:embed="rId5">
            <a:alphaModFix/>
          </a:blip>
          <a:srcRect b="0" l="0" r="0" t="0"/>
          <a:stretch/>
        </p:blipFill>
        <p:spPr>
          <a:xfrm>
            <a:off x="94500" y="1070812"/>
            <a:ext cx="3054075" cy="1551425"/>
          </a:xfrm>
          <a:prstGeom prst="rect">
            <a:avLst/>
          </a:prstGeom>
          <a:noFill/>
          <a:ln>
            <a:noFill/>
          </a:ln>
        </p:spPr>
      </p:pic>
      <p:sp>
        <p:nvSpPr>
          <p:cNvPr id="342" name="Google Shape;342;g39ad14173ec_0_24"/>
          <p:cNvSpPr txBox="1"/>
          <p:nvPr/>
        </p:nvSpPr>
        <p:spPr>
          <a:xfrm>
            <a:off x="4300725" y="518150"/>
            <a:ext cx="3950100" cy="859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lang="en-US"/>
              <a:t>The question asked: </a:t>
            </a:r>
            <a:r>
              <a:rPr lang="en-US"/>
              <a:t>How can we reduce data access time through different storage types? Because we have multimodal data</a:t>
            </a:r>
            <a:r>
              <a:rPr b="1" lang="en-US"/>
              <a:t>.</a:t>
            </a:r>
            <a:endParaRPr b="0" i="0" sz="1400" u="none" cap="none" strike="noStrike">
              <a:solidFill>
                <a:srgbClr val="000000"/>
              </a:solidFill>
              <a:latin typeface="Arial"/>
              <a:ea typeface="Arial"/>
              <a:cs typeface="Arial"/>
              <a:sym typeface="Arial"/>
            </a:endParaRPr>
          </a:p>
        </p:txBody>
      </p:sp>
      <p:sp>
        <p:nvSpPr>
          <p:cNvPr id="343" name="Google Shape;343;g39ad14173ec_0_24"/>
          <p:cNvSpPr/>
          <p:nvPr/>
        </p:nvSpPr>
        <p:spPr>
          <a:xfrm>
            <a:off x="4484043" y="2350500"/>
            <a:ext cx="1538100" cy="442500"/>
          </a:xfrm>
          <a:prstGeom prst="roundRect">
            <a:avLst>
              <a:gd fmla="val 50000" name="adj"/>
            </a:avLst>
          </a:prstGeom>
          <a:solidFill>
            <a:srgbClr val="840D3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System</a:t>
            </a:r>
            <a:endParaRPr b="0" i="0" sz="1400" u="none" cap="none" strike="noStrike">
              <a:solidFill>
                <a:srgbClr val="FFFFFF"/>
              </a:solidFill>
              <a:latin typeface="Arial"/>
              <a:ea typeface="Arial"/>
              <a:cs typeface="Arial"/>
              <a:sym typeface="Arial"/>
            </a:endParaRPr>
          </a:p>
        </p:txBody>
      </p:sp>
      <p:sp>
        <p:nvSpPr>
          <p:cNvPr id="344" name="Google Shape;344;g39ad14173ec_0_24"/>
          <p:cNvSpPr/>
          <p:nvPr/>
        </p:nvSpPr>
        <p:spPr>
          <a:xfrm>
            <a:off x="7287140" y="3229751"/>
            <a:ext cx="1538100" cy="442500"/>
          </a:xfrm>
          <a:prstGeom prst="roundRect">
            <a:avLst>
              <a:gd fmla="val 50000" name="adj"/>
            </a:avLst>
          </a:prstGeom>
          <a:solidFill>
            <a:srgbClr val="B6124A"/>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signal</a:t>
            </a:r>
            <a:endParaRPr b="0" i="0" sz="1400" u="none" cap="none" strike="noStrike">
              <a:solidFill>
                <a:srgbClr val="FFFFFF"/>
              </a:solidFill>
              <a:latin typeface="Arial"/>
              <a:ea typeface="Arial"/>
              <a:cs typeface="Arial"/>
              <a:sym typeface="Arial"/>
            </a:endParaRPr>
          </a:p>
        </p:txBody>
      </p:sp>
      <p:sp>
        <p:nvSpPr>
          <p:cNvPr id="345" name="Google Shape;345;g39ad14173ec_0_24"/>
          <p:cNvSpPr/>
          <p:nvPr/>
        </p:nvSpPr>
        <p:spPr>
          <a:xfrm>
            <a:off x="1253072" y="3229751"/>
            <a:ext cx="1538100" cy="442500"/>
          </a:xfrm>
          <a:prstGeom prst="roundRect">
            <a:avLst>
              <a:gd fmla="val 50000" name="adj"/>
            </a:avLst>
          </a:prstGeom>
          <a:solidFill>
            <a:srgbClr val="B6124A"/>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FFFFFF"/>
                </a:solidFill>
                <a:latin typeface="Roboto"/>
                <a:ea typeface="Roboto"/>
                <a:cs typeface="Roboto"/>
                <a:sym typeface="Roboto"/>
              </a:rPr>
              <a:t>Video</a:t>
            </a:r>
            <a:endParaRPr b="0" i="0" sz="1400" u="none" cap="none" strike="noStrike">
              <a:solidFill>
                <a:srgbClr val="FFFFFF"/>
              </a:solidFill>
              <a:latin typeface="Arial"/>
              <a:ea typeface="Arial"/>
              <a:cs typeface="Arial"/>
              <a:sym typeface="Arial"/>
            </a:endParaRPr>
          </a:p>
        </p:txBody>
      </p:sp>
      <p:cxnSp>
        <p:nvCxnSpPr>
          <p:cNvPr id="346" name="Google Shape;346;g39ad14173ec_0_24"/>
          <p:cNvCxnSpPr>
            <a:stCxn id="343" idx="2"/>
            <a:endCxn id="344" idx="0"/>
          </p:cNvCxnSpPr>
          <p:nvPr/>
        </p:nvCxnSpPr>
        <p:spPr>
          <a:xfrm flipH="1" rot="-5400000">
            <a:off x="6436293" y="1609800"/>
            <a:ext cx="436800" cy="2803200"/>
          </a:xfrm>
          <a:prstGeom prst="bentConnector3">
            <a:avLst>
              <a:gd fmla="val 49994" name="adj1"/>
            </a:avLst>
          </a:prstGeom>
          <a:noFill/>
          <a:ln cap="flat" cmpd="sng" w="9525">
            <a:solidFill>
              <a:srgbClr val="C2C2C2"/>
            </a:solidFill>
            <a:prstDash val="solid"/>
            <a:round/>
            <a:headEnd len="sm" w="sm" type="none"/>
            <a:tailEnd len="sm" w="sm" type="none"/>
          </a:ln>
        </p:spPr>
      </p:cxnSp>
      <p:cxnSp>
        <p:nvCxnSpPr>
          <p:cNvPr id="347" name="Google Shape;347;g39ad14173ec_0_24"/>
          <p:cNvCxnSpPr>
            <a:stCxn id="345" idx="0"/>
            <a:endCxn id="343" idx="2"/>
          </p:cNvCxnSpPr>
          <p:nvPr/>
        </p:nvCxnSpPr>
        <p:spPr>
          <a:xfrm rot="-5400000">
            <a:off x="3419222" y="1395851"/>
            <a:ext cx="436800" cy="3231000"/>
          </a:xfrm>
          <a:prstGeom prst="bentConnector3">
            <a:avLst>
              <a:gd fmla="val 49994" name="adj1"/>
            </a:avLst>
          </a:prstGeom>
          <a:noFill/>
          <a:ln cap="flat" cmpd="sng" w="9525">
            <a:solidFill>
              <a:srgbClr val="C2C2C2"/>
            </a:solidFill>
            <a:prstDash val="solid"/>
            <a:round/>
            <a:headEnd len="sm" w="sm" type="none"/>
            <a:tailEnd len="sm" w="sm" type="none"/>
          </a:ln>
        </p:spPr>
      </p:cxnSp>
      <p:sp>
        <p:nvSpPr>
          <p:cNvPr id="348" name="Google Shape;348;g39ad14173ec_0_24"/>
          <p:cNvSpPr/>
          <p:nvPr/>
        </p:nvSpPr>
        <p:spPr>
          <a:xfrm>
            <a:off x="5569415" y="3229751"/>
            <a:ext cx="1538100" cy="442500"/>
          </a:xfrm>
          <a:prstGeom prst="roundRect">
            <a:avLst>
              <a:gd fmla="val 50000" name="adj"/>
            </a:avLst>
          </a:prstGeom>
          <a:solidFill>
            <a:srgbClr val="B6124A"/>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Text</a:t>
            </a:r>
            <a:endParaRPr b="0" i="0" sz="1400" u="none" cap="none" strike="noStrike">
              <a:solidFill>
                <a:srgbClr val="FFFFFF"/>
              </a:solidFill>
              <a:latin typeface="Arial"/>
              <a:ea typeface="Arial"/>
              <a:cs typeface="Arial"/>
              <a:sym typeface="Arial"/>
            </a:endParaRPr>
          </a:p>
        </p:txBody>
      </p:sp>
      <p:cxnSp>
        <p:nvCxnSpPr>
          <p:cNvPr id="349" name="Google Shape;349;g39ad14173ec_0_24"/>
          <p:cNvCxnSpPr>
            <a:stCxn id="343" idx="2"/>
            <a:endCxn id="348" idx="0"/>
          </p:cNvCxnSpPr>
          <p:nvPr/>
        </p:nvCxnSpPr>
        <p:spPr>
          <a:xfrm flipH="1" rot="-5400000">
            <a:off x="5577393" y="2468700"/>
            <a:ext cx="436800" cy="1085400"/>
          </a:xfrm>
          <a:prstGeom prst="bentConnector3">
            <a:avLst>
              <a:gd fmla="val 49994" name="adj1"/>
            </a:avLst>
          </a:prstGeom>
          <a:noFill/>
          <a:ln cap="flat" cmpd="sng" w="9525">
            <a:solidFill>
              <a:srgbClr val="C2C2C2"/>
            </a:solidFill>
            <a:prstDash val="solid"/>
            <a:round/>
            <a:headEnd len="sm" w="sm" type="none"/>
            <a:tailEnd len="sm" w="sm" type="none"/>
          </a:ln>
        </p:spPr>
      </p:cxnSp>
      <p:sp>
        <p:nvSpPr>
          <p:cNvPr id="350" name="Google Shape;350;g39ad14173ec_0_24"/>
          <p:cNvSpPr/>
          <p:nvPr/>
        </p:nvSpPr>
        <p:spPr>
          <a:xfrm>
            <a:off x="3411247" y="3229751"/>
            <a:ext cx="1538100" cy="442500"/>
          </a:xfrm>
          <a:prstGeom prst="roundRect">
            <a:avLst>
              <a:gd fmla="val 50000" name="adj"/>
            </a:avLst>
          </a:prstGeom>
          <a:solidFill>
            <a:srgbClr val="B6124A"/>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Audio</a:t>
            </a:r>
            <a:endParaRPr b="0" i="0" sz="1400" u="none" cap="none" strike="noStrike">
              <a:solidFill>
                <a:srgbClr val="FFFFFF"/>
              </a:solidFill>
              <a:latin typeface="Arial"/>
              <a:ea typeface="Arial"/>
              <a:cs typeface="Arial"/>
              <a:sym typeface="Arial"/>
            </a:endParaRPr>
          </a:p>
        </p:txBody>
      </p:sp>
      <p:cxnSp>
        <p:nvCxnSpPr>
          <p:cNvPr id="351" name="Google Shape;351;g39ad14173ec_0_24"/>
          <p:cNvCxnSpPr>
            <a:stCxn id="350" idx="0"/>
            <a:endCxn id="343" idx="2"/>
          </p:cNvCxnSpPr>
          <p:nvPr/>
        </p:nvCxnSpPr>
        <p:spPr>
          <a:xfrm rot="-5400000">
            <a:off x="4498297" y="2474951"/>
            <a:ext cx="436800" cy="1072800"/>
          </a:xfrm>
          <a:prstGeom prst="bentConnector3">
            <a:avLst>
              <a:gd fmla="val 49994" name="adj1"/>
            </a:avLst>
          </a:prstGeom>
          <a:noFill/>
          <a:ln cap="flat" cmpd="sng" w="9525">
            <a:solidFill>
              <a:srgbClr val="C2C2C2"/>
            </a:solidFill>
            <a:prstDash val="solid"/>
            <a:round/>
            <a:headEnd len="sm" w="sm" type="none"/>
            <a:tailEnd len="sm" w="sm" type="none"/>
          </a:ln>
        </p:spPr>
      </p:cxnSp>
      <p:sp>
        <p:nvSpPr>
          <p:cNvPr id="352" name="Google Shape;352;g39ad14173ec_0_24"/>
          <p:cNvSpPr txBox="1"/>
          <p:nvPr/>
        </p:nvSpPr>
        <p:spPr>
          <a:xfrm>
            <a:off x="753525" y="4051350"/>
            <a:ext cx="1958700" cy="1006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lang="en-US"/>
              <a:t>Answer</a:t>
            </a:r>
            <a:r>
              <a:rPr b="1" i="0" lang="en-US" sz="1400" u="none" cap="none" strike="noStrike">
                <a:solidFill>
                  <a:srgbClr val="000000"/>
                </a:solidFill>
                <a:latin typeface="Arial"/>
                <a:ea typeface="Arial"/>
                <a:cs typeface="Arial"/>
                <a:sym typeface="Arial"/>
              </a:rPr>
              <a:t>:</a:t>
            </a:r>
            <a:endParaRPr b="1"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53" name="Google Shape;353;g39ad14173ec_0_24" title="datarepo.png"/>
          <p:cNvPicPr preferRelativeResize="0"/>
          <p:nvPr/>
        </p:nvPicPr>
        <p:blipFill rotWithShape="1">
          <a:blip r:embed="rId6">
            <a:alphaModFix/>
          </a:blip>
          <a:srcRect b="0" l="0" r="0" t="0"/>
          <a:stretch/>
        </p:blipFill>
        <p:spPr>
          <a:xfrm>
            <a:off x="1664438" y="3891701"/>
            <a:ext cx="2515870" cy="1166449"/>
          </a:xfrm>
          <a:prstGeom prst="rect">
            <a:avLst/>
          </a:prstGeom>
          <a:noFill/>
          <a:ln>
            <a:noFill/>
          </a:ln>
        </p:spPr>
      </p:pic>
      <p:sp>
        <p:nvSpPr>
          <p:cNvPr id="354" name="Google Shape;354;g39ad14173ec_0_24"/>
          <p:cNvSpPr/>
          <p:nvPr/>
        </p:nvSpPr>
        <p:spPr>
          <a:xfrm>
            <a:off x="4103446" y="0"/>
            <a:ext cx="457200" cy="457200"/>
          </a:xfrm>
          <a:prstGeom prst="rect">
            <a:avLst/>
          </a:prstGeom>
          <a:solidFill>
            <a:srgbClr val="1A6847"/>
          </a:solidFill>
          <a:ln cap="flat" cmpd="sng" w="12700">
            <a:solidFill>
              <a:srgbClr val="1A68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g39ad14173ec_0_24"/>
          <p:cNvSpPr/>
          <p:nvPr/>
        </p:nvSpPr>
        <p:spPr>
          <a:xfrm>
            <a:off x="4103446" y="0"/>
            <a:ext cx="457200" cy="4572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D600"/>
              </a:buClr>
              <a:buSzPts val="1800"/>
              <a:buFont typeface="Outfit"/>
              <a:buNone/>
            </a:pPr>
            <a:r>
              <a:rPr b="1" i="0" lang="en-US" sz="1800" u="none" cap="none" strike="noStrike">
                <a:solidFill>
                  <a:srgbClr val="FFD600"/>
                </a:solidFill>
                <a:latin typeface="Outfit"/>
                <a:ea typeface="Outfit"/>
                <a:cs typeface="Outfit"/>
                <a:sym typeface="Outfit"/>
              </a:rPr>
              <a:t>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0" name="Shape 360"/>
        <p:cNvGrpSpPr/>
        <p:nvPr/>
      </p:nvGrpSpPr>
      <p:grpSpPr>
        <a:xfrm>
          <a:off x="0" y="0"/>
          <a:ext cx="0" cy="0"/>
          <a:chOff x="0" y="0"/>
          <a:chExt cx="0" cy="0"/>
        </a:xfrm>
      </p:grpSpPr>
      <p:sp>
        <p:nvSpPr>
          <p:cNvPr id="361" name="Google Shape;361;g3ad381497b3_0_182"/>
          <p:cNvSpPr/>
          <p:nvPr/>
        </p:nvSpPr>
        <p:spPr>
          <a:xfrm>
            <a:off x="1950575" y="1585600"/>
            <a:ext cx="5752500" cy="101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6847"/>
              </a:buClr>
              <a:buSzPts val="2800"/>
              <a:buFont typeface="Outfit"/>
              <a:buNone/>
            </a:pPr>
            <a:r>
              <a:rPr b="1" lang="en-US" sz="3400">
                <a:solidFill>
                  <a:srgbClr val="1A6847"/>
                </a:solidFill>
                <a:latin typeface="Outfit"/>
                <a:ea typeface="Outfit"/>
                <a:cs typeface="Outfit"/>
                <a:sym typeface="Outfit"/>
              </a:rPr>
              <a:t>Thank you for listening </a:t>
            </a:r>
            <a:endParaRPr b="0" i="0" sz="3400" u="none" cap="none" strike="noStrike">
              <a:solidFill>
                <a:schemeClr val="dk1"/>
              </a:solidFill>
              <a:latin typeface="Calibri"/>
              <a:ea typeface="Calibri"/>
              <a:cs typeface="Calibri"/>
              <a:sym typeface="Calibri"/>
            </a:endParaRPr>
          </a:p>
        </p:txBody>
      </p:sp>
      <p:pic>
        <p:nvPicPr>
          <p:cNvPr descr="a cartoon girl says thank you with a bow on her head (provided by Tenor)" id="362" name="Google Shape;362;g3ad381497b3_0_182"/>
          <p:cNvPicPr preferRelativeResize="0"/>
          <p:nvPr/>
        </p:nvPicPr>
        <p:blipFill>
          <a:blip r:embed="rId3">
            <a:alphaModFix/>
          </a:blip>
          <a:stretch>
            <a:fillRect/>
          </a:stretch>
        </p:blipFill>
        <p:spPr>
          <a:xfrm>
            <a:off x="3161710" y="2798850"/>
            <a:ext cx="2291210" cy="22406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2025-10-18T12:06:15Z</dcterms:created>
  <dc:creator>PptxGenJS</dc:creator>
</cp:coreProperties>
</file>